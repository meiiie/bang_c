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9144000"/>
  <p:embeddedFontLst>
    <p:embeddedFont>
      <p:font typeface="Be Vietnam Pro" pitchFamily="2" charset="0"/>
      <p:regular r:id="rId17"/>
      <p:bold r:id="rId18"/>
    </p:embeddedFont>
    <p:embeddedFont>
      <p:font typeface="Consolas" panose="020B0609020204030204" pitchFamily="49" charset="0"/>
      <p:regular r:id="rId19"/>
      <p:bold r:id="rId20"/>
      <p:italic r:id="rId21"/>
      <p:boldItalic r:id="rId22"/>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2.fntdata"/><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font" Target="fonts/font5.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1.fntdata"/><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font" Target="fonts/font4.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font" Target="fonts/font3.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6.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6544325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Chào ban giám khảo. Chúng em là đội Neko Core, Đại học Hàng hải Việt Nam. Bài dự thi Bảng C của chúng em là một Docker image offline, tự chứa, chạy mô hình Qwen3-4B — đạt 83.59 trên leaderboard public. Nhưng điều chúng em muốn trình bày hôm nay không phải con số, mà là CÁCH chúng em ra quyết định để đạt nó.</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Đề bài: một container offline đọc đề ở /data, ghi đáp án ra /output. Chấm trên 2000 câu private. Accuracy chiếm 80 điểm, nhưng để ý hai cột còn lại — Time và Idea, mỗi cái 10 điểm — định hình toàn bộ thiết kế. Và có một ràng buộc cứng: tối đa 5 tỉ tham số, một mô hình, không công cụ ngoài.</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Đây là giải pháp ở mức tổng quan. Neko Core là một Docker image offline, tự chứa, đã nướng sẵn mô hình Qwen3-4B bên trong. Nó đọc đề trắc nghiệm ở /data, cho mô hình lập luận bằng chain-of-thought rồi trích đáp án, và ghi ra /output/pred.csv. Bao quanh lõi đó là các lớp kỹ thuật chống-0-điểm: chạy đúng trên mọi GPU, hợp đồng pred.csv không thể hỏng, và checkpoint để không làm lại từ đầu. Kết quả: đúng luật ≤5B, đạt 83.59, khoảng 3 giây mỗi câu, và không bao giờ về 0 điểm.</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Đây là ý tưởng cốt lõi, nói thẳng. Đa số đội tối ưu accuracy trên máy dev của họ. Neko Core tối ưu điểm kỳ vọng dưới bất định phần cứng, và để phép đo chọn giải pháp chứ không phải linh cảm. Hai hệ quả: một, chúng em xây cả một xưởng chiến lược rồi đo từng cái trên held-out, ship cái thắng và loại thẳng cái hại — fine-tune, TIR, RAG đều bị loại bằng số đo. Hai, chúng em engineer để container không bao giờ về 0 điểm trên mọi GPU. Cái mới không ở mô hình mà ở cách chọn và cách đảm bảo.</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Đây là kiến trúc. Provider giấu sau một hợp đồng complete() duy nhất; các strategy là processor gõ-kiểu, hoán đổi được qua một policy gate. Điểm mấu chốt: chúng em không đoán nên dùng chiến lược nào — chúng em xây tất cả, đo từng cái, rồi mới chọn.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Giữa cuộc thi, ban tổ chức đổi luật từ mở-rộng sang tối đa 5 tỉ tham số. Mô hình cũ của chúng em, Gemma 26B, lập tức bị loại. Phần lớn đội sẽ phải sửa code. Chúng em chỉ sửa DỮ LIỆU config — allowlist mô hình là config-driven — và pivot sang Qwen3-4B mà không đụng một dòng code giải. Đó chính là 'ý tưởng &amp; tối ưu sáng tạo': harness thích nghi luật bằng config.</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Mô hình thi đấu là Qwen3-4B-Instruct-2507, dense 4 tỉ tham số — dưới 5B rõ ràng. Chạy local qua llama.cpp, hoàn toàn offline, đúng một mô hình, không có công cụ phụ. Lúc chạy chỉ dùng khoảng 5GB trên 16GB — thừa sức. Engine cốt lõi là chain-of-thought ở k=1: cho mô hình lập luận rồi trích đáp án. Biến thể self-consistency voting k=5 đã đo nhưng không cải thiện nên giữ k=1.</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Robustness lớp một: chúng em không biết ban tổ chức dùng GPU nào, nên nướng native SASS cho mọi kiến trúc NVIDIA từ 2016 tới 2025, kèm một PTX floor để mọi card mới hơn tự JIT lúc load. Build llama.cpp với GGML_NATIVE tắt để chạy được cả CPU đời cũ. Và chúng em đã verify thật: kéo nguyên image, kiểm tra đủ kiến trúc, chạy end-to-end ra pred.csv hợp lệ.</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Robustness lớp hai: hợp đồng file đầu ra. pred.csv được ghi TRƯỚC bất cứ bước nào có thể lỗi, và một bước contract-repair đảm bảo nó luôn phủ đúng mọi qid với một chữ cái hợp lệ. Cộng checkpoint mỗi câu và auto-resume nếu bị ngắt. Kết quả: một câu lỗi không bao giờ làm hỏng cả lần chạy 2000 câu.</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Về accuracy: ép mô hình trả một token thì điểm thấp vì lập luận bị nén. Cho nó lập luận đầy đủ rồi trích chữ cái (CoT) — nhảy lên 83.59 trên leaderboard. Phân rã theo cụm cho một phát hiện then chốt: lỗi của một mô hình 4B chủ yếu là sai suy luận, chứ không phải thiếu kiến thức tra-cứu-được. Phát hiện này quyết định chúng em chọn — và loại — lever nào.</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Đây là phần chúng em tự hào nhất. Mỗi đòn bẩy hào nhoáng về mặt kỹ thuật — fine-tune, RAG, mô hình tự viết code Python — chúng em đều XÂY thật rồi LOẠI BỎ bằng một phép đo held-out. Fine-tune làm tệ đi 4.44 điểm vì catastrophic forgetting. RAG chỉ là ảo giác của variance, và nay còn phạm luật. TIR phá 16 điểm vì 4B chưa đủ sức viết code đúng. Bài học: trên một base ≤5B đã mạnh, thêm phức tạp sai cách làm TỆ ĐI. Việc KHÔNG thêm thứ gây hại, bản thân nó, là một dạng tối ưu.</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Điều đẹp nhất: đường chạy tối giản của chúng em cũng là đường nhanh nhất. Mọi lever phức tạp vừa không giúp accuracy vừa chậm hơn. Minimalism thắng cả hai mặt trận. Đo thật: ba giây một câu, 2000 câu khoảng 100 phút, 5GB VRAM — không bao giờ OOM hay timeout trên server 16GB.</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Chúng em định vị trung thực: Qwen3-4B đã gần trần của lớp dưới-5B trên phân phối đề này — và chúng em chứng minh điều đó bằng dữ liệu, chứ không phải bỏ cuộc. Đường tăng điểm tiếp theo là thêm dữ liệu, một bài toán thu thập, không phải kỹ thuật runtime. Mọi con số trong bài này là số đo thật.</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6/27/2026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6/27/2026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6/27/2026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6/27/2026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1220"/>
        </a:solidFill>
        <a:effectLst/>
      </p:bgPr>
    </p:bg>
    <p:spTree>
      <p:nvGrpSpPr>
        <p:cNvPr id="1" name=""/>
        <p:cNvGrpSpPr/>
        <p:nvPr/>
      </p:nvGrpSpPr>
      <p:grpSpPr>
        <a:xfrm>
          <a:off x="0" y="0"/>
          <a:ext cx="0" cy="0"/>
          <a:chOff x="0" y="0"/>
          <a:chExt cx="0" cy="0"/>
        </a:xfrm>
      </p:grpSpPr>
      <p:sp>
        <p:nvSpPr>
          <p:cNvPr id="2" name="Rectangle 1"/>
          <p:cNvSpPr/>
          <p:nvPr/>
        </p:nvSpPr>
        <p:spPr>
          <a:xfrm>
            <a:off x="0" y="0"/>
            <a:ext cx="146304" cy="68580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endParaRPr/>
          </a:p>
        </p:txBody>
      </p:sp>
      <p:pic>
        <p:nvPicPr>
          <p:cNvPr id="3" name="Picture 2" descr="neko-core-banner.png"/>
          <p:cNvPicPr>
            <a:picLocks noChangeAspect="1"/>
          </p:cNvPicPr>
          <p:nvPr/>
        </p:nvPicPr>
        <p:blipFill>
          <a:blip r:embed="rId3"/>
          <a:stretch>
            <a:fillRect/>
          </a:stretch>
        </p:blipFill>
        <p:spPr>
          <a:xfrm>
            <a:off x="822960" y="777240"/>
            <a:ext cx="4937760" cy="1013837"/>
          </a:xfrm>
          <a:prstGeom prst="rect">
            <a:avLst/>
          </a:prstGeom>
        </p:spPr>
      </p:pic>
      <p:sp>
        <p:nvSpPr>
          <p:cNvPr id="4" name="TextBox 3"/>
          <p:cNvSpPr txBox="1"/>
          <p:nvPr/>
        </p:nvSpPr>
        <p:spPr>
          <a:xfrm>
            <a:off x="822960" y="1828800"/>
            <a:ext cx="8686800" cy="1097280"/>
          </a:xfrm>
          <a:prstGeom prst="rect">
            <a:avLst/>
          </a:prstGeom>
          <a:noFill/>
        </p:spPr>
        <p:txBody>
          <a:bodyPr wrap="square" lIns="36576" tIns="18288" rIns="36576" bIns="18288" anchor="t">
            <a:spAutoFit/>
          </a:bodyPr>
          <a:lstStyle/>
          <a:p>
            <a:pPr algn="l"/>
            <a:r>
              <a:rPr sz="5800" b="1" i="0">
                <a:solidFill>
                  <a:srgbClr val="FFFFFF"/>
                </a:solidFill>
                <a:latin typeface="Be Vietnam Pro"/>
              </a:rPr>
              <a:t>Neko Core</a:t>
            </a:r>
          </a:p>
        </p:txBody>
      </p:sp>
      <p:sp>
        <p:nvSpPr>
          <p:cNvPr id="5" name="TextBox 4"/>
          <p:cNvSpPr txBox="1"/>
          <p:nvPr/>
        </p:nvSpPr>
        <p:spPr>
          <a:xfrm>
            <a:off x="841248" y="2880360"/>
            <a:ext cx="9601200" cy="548640"/>
          </a:xfrm>
          <a:prstGeom prst="rect">
            <a:avLst/>
          </a:prstGeom>
          <a:noFill/>
        </p:spPr>
        <p:txBody>
          <a:bodyPr wrap="square" lIns="36576" tIns="18288" rIns="36576" bIns="18288" anchor="t">
            <a:spAutoFit/>
          </a:bodyPr>
          <a:lstStyle/>
          <a:p>
            <a:pPr algn="l"/>
            <a:r>
              <a:rPr sz="2400" b="1" i="0">
                <a:solidFill>
                  <a:srgbClr val="14B8A6"/>
                </a:solidFill>
                <a:latin typeface="Be Vietnam Pro"/>
              </a:rPr>
              <a:t>Thuyết minh phương pháp</a:t>
            </a:r>
          </a:p>
        </p:txBody>
      </p:sp>
      <p:sp>
        <p:nvSpPr>
          <p:cNvPr id="6" name="TextBox 5"/>
          <p:cNvSpPr txBox="1"/>
          <p:nvPr/>
        </p:nvSpPr>
        <p:spPr>
          <a:xfrm>
            <a:off x="841248" y="3383280"/>
            <a:ext cx="9601200" cy="457200"/>
          </a:xfrm>
          <a:prstGeom prst="rect">
            <a:avLst/>
          </a:prstGeom>
          <a:noFill/>
        </p:spPr>
        <p:txBody>
          <a:bodyPr wrap="square" lIns="36576" tIns="18288" rIns="36576" bIns="18288" anchor="t">
            <a:spAutoFit/>
          </a:bodyPr>
          <a:lstStyle/>
          <a:p>
            <a:pPr algn="l"/>
            <a:r>
              <a:rPr sz="1600" b="0" i="0">
                <a:solidFill>
                  <a:srgbClr val="E5EAF2"/>
                </a:solidFill>
                <a:latin typeface="Be Vietnam Pro"/>
              </a:rPr>
              <a:t>HackAIthon 2026 — Bảng C (Innovator)</a:t>
            </a:r>
          </a:p>
        </p:txBody>
      </p:sp>
      <p:sp>
        <p:nvSpPr>
          <p:cNvPr id="7" name="Rounded Rectangle 6"/>
          <p:cNvSpPr/>
          <p:nvPr/>
        </p:nvSpPr>
        <p:spPr>
          <a:xfrm>
            <a:off x="8549640" y="1783080"/>
            <a:ext cx="3108960" cy="1554480"/>
          </a:xfrm>
          <a:prstGeom prst="roundRect">
            <a:avLst>
              <a:gd name="adj" fmla="val 6000"/>
            </a:avLst>
          </a:prstGeom>
          <a:solidFill>
            <a:srgbClr val="121B2E"/>
          </a:solidFill>
          <a:ln w="15875">
            <a:solidFill>
              <a:srgbClr val="14B8A6"/>
            </a:solid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spcAft>
                <a:spcPts val="200"/>
              </a:spcAft>
            </a:pPr>
            <a:r>
              <a:rPr sz="4600" b="1" i="0">
                <a:solidFill>
                  <a:srgbClr val="14B8A6"/>
                </a:solidFill>
                <a:latin typeface="Be Vietnam Pro"/>
              </a:rPr>
              <a:t>83.59</a:t>
            </a:r>
          </a:p>
          <a:p>
            <a:pPr algn="ctr">
              <a:spcAft>
                <a:spcPts val="400"/>
              </a:spcAft>
            </a:pPr>
            <a:r>
              <a:rPr sz="1200" b="0" i="0">
                <a:solidFill>
                  <a:srgbClr val="E5EAF2"/>
                </a:solidFill>
                <a:latin typeface="Be Vietnam Pro"/>
              </a:rPr>
              <a:t>public-463 leaderboard</a:t>
            </a:r>
          </a:p>
          <a:p>
            <a:pPr algn="ctr"/>
            <a:r>
              <a:rPr sz="1050" b="0" i="0">
                <a:solidFill>
                  <a:srgbClr val="9FB0C7"/>
                </a:solidFill>
                <a:latin typeface="Be Vietnam Pro"/>
              </a:rPr>
              <a:t>Qwen3-4B · offline · một mô hình ≤5B</a:t>
            </a:r>
          </a:p>
        </p:txBody>
      </p:sp>
      <p:sp>
        <p:nvSpPr>
          <p:cNvPr id="8" name="TextBox 7"/>
          <p:cNvSpPr txBox="1"/>
          <p:nvPr/>
        </p:nvSpPr>
        <p:spPr>
          <a:xfrm>
            <a:off x="841248" y="5074920"/>
            <a:ext cx="10607040" cy="822960"/>
          </a:xfrm>
          <a:prstGeom prst="rect">
            <a:avLst/>
          </a:prstGeom>
          <a:noFill/>
        </p:spPr>
        <p:txBody>
          <a:bodyPr wrap="square" lIns="36576" tIns="18288" rIns="36576" bIns="18288" anchor="t">
            <a:spAutoFit/>
          </a:bodyPr>
          <a:lstStyle/>
          <a:p>
            <a:pPr algn="l">
              <a:spcAft>
                <a:spcPts val="400"/>
              </a:spcAft>
            </a:pPr>
            <a:r>
              <a:rPr sz="1400" b="1" i="0">
                <a:solidFill>
                  <a:srgbClr val="FFFFFF"/>
                </a:solidFill>
                <a:latin typeface="Be Vietnam Pro"/>
              </a:rPr>
              <a:t>Đội Neko Core — Đại học Hàng hải Việt Nam (VMU)</a:t>
            </a:r>
          </a:p>
          <a:p>
            <a:pPr algn="l"/>
            <a:r>
              <a:rPr sz="1100" b="0" i="0">
                <a:solidFill>
                  <a:srgbClr val="9FB0C7"/>
                </a:solidFill>
                <a:latin typeface="Be Vietnam Pro"/>
              </a:rPr>
              <a:t>Nguyễn Mạnh Hùng (CNT63ĐH, trưởng nhóm) · Bùi Việt Hoàng (CLC63ĐH) · Phạm Thị Minh Hồng (CNT63ĐH) · Phạm Thị Thu Thảo (KTN63ĐH) · Nghiêm Thị Mỹ Linh (KPM63ĐH)</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TextBox 1"/>
          <p:cNvSpPr txBox="1"/>
          <p:nvPr/>
        </p:nvSpPr>
        <p:spPr>
          <a:xfrm>
            <a:off x="502920" y="274320"/>
            <a:ext cx="11185855" cy="292608"/>
          </a:xfrm>
          <a:prstGeom prst="rect">
            <a:avLst/>
          </a:prstGeom>
          <a:noFill/>
        </p:spPr>
        <p:txBody>
          <a:bodyPr wrap="square" lIns="36576" tIns="18288" rIns="36576" bIns="18288" anchor="t">
            <a:spAutoFit/>
          </a:bodyPr>
          <a:lstStyle/>
          <a:p>
            <a:pPr algn="l"/>
            <a:r>
              <a:rPr sz="1250" b="1" i="0">
                <a:solidFill>
                  <a:srgbClr val="14B8A6"/>
                </a:solidFill>
                <a:latin typeface="Be Vietnam Pro"/>
              </a:rPr>
              <a:t>01 · ĐỀ BÀI</a:t>
            </a:r>
          </a:p>
        </p:txBody>
      </p:sp>
      <p:sp>
        <p:nvSpPr>
          <p:cNvPr id="3" name="TextBox 2"/>
          <p:cNvSpPr txBox="1"/>
          <p:nvPr/>
        </p:nvSpPr>
        <p:spPr>
          <a:xfrm>
            <a:off x="502920" y="548640"/>
            <a:ext cx="11185855" cy="640080"/>
          </a:xfrm>
          <a:prstGeom prst="rect">
            <a:avLst/>
          </a:prstGeom>
          <a:noFill/>
        </p:spPr>
        <p:txBody>
          <a:bodyPr wrap="square" lIns="36576" tIns="18288" rIns="36576" bIns="18288" anchor="t">
            <a:spAutoFit/>
          </a:bodyPr>
          <a:lstStyle/>
          <a:p>
            <a:pPr algn="l"/>
            <a:r>
              <a:rPr sz="2700" b="1" i="0">
                <a:solidFill>
                  <a:srgbClr val="0F172A"/>
                </a:solidFill>
                <a:latin typeface="Be Vietnam Pro"/>
              </a:rPr>
              <a:t>Bài toán &amp; hợp đồng chấm điểm</a:t>
            </a:r>
          </a:p>
        </p:txBody>
      </p:sp>
      <p:sp>
        <p:nvSpPr>
          <p:cNvPr id="4" name="Rounded Rectangle 3"/>
          <p:cNvSpPr/>
          <p:nvPr/>
        </p:nvSpPr>
        <p:spPr>
          <a:xfrm>
            <a:off x="502920" y="1188720"/>
            <a:ext cx="1920240" cy="50292"/>
          </a:xfrm>
          <a:prstGeom prst="roundRect">
            <a:avLst>
              <a:gd name="adj" fmla="val 50000"/>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endParaRPr/>
          </a:p>
        </p:txBody>
      </p:sp>
      <p:sp>
        <p:nvSpPr>
          <p:cNvPr id="5" name="TextBox 4"/>
          <p:cNvSpPr txBox="1"/>
          <p:nvPr/>
        </p:nvSpPr>
        <p:spPr>
          <a:xfrm>
            <a:off x="502920" y="1463040"/>
            <a:ext cx="5486400" cy="365760"/>
          </a:xfrm>
          <a:prstGeom prst="rect">
            <a:avLst/>
          </a:prstGeom>
          <a:noFill/>
        </p:spPr>
        <p:txBody>
          <a:bodyPr wrap="square" lIns="36576" tIns="18288" rIns="36576" bIns="18288" anchor="t">
            <a:spAutoFit/>
          </a:bodyPr>
          <a:lstStyle/>
          <a:p>
            <a:pPr algn="l"/>
            <a:r>
              <a:rPr sz="1400" b="1" i="0">
                <a:solidFill>
                  <a:srgbClr val="0F172A"/>
                </a:solidFill>
                <a:latin typeface="Be Vietnam Pro"/>
              </a:rPr>
              <a:t>Hợp đồng I/O — Docker offline, tự chứa</a:t>
            </a:r>
          </a:p>
        </p:txBody>
      </p:sp>
      <p:sp>
        <p:nvSpPr>
          <p:cNvPr id="6" name="Rounded Rectangle 5"/>
          <p:cNvSpPr/>
          <p:nvPr/>
        </p:nvSpPr>
        <p:spPr>
          <a:xfrm>
            <a:off x="502920" y="1920240"/>
            <a:ext cx="1783080" cy="640080"/>
          </a:xfrm>
          <a:prstGeom prst="roundRect">
            <a:avLst>
              <a:gd name="adj" fmla="val 6000"/>
            </a:avLst>
          </a:prstGeom>
          <a:solidFill>
            <a:srgbClr val="EEF2F6"/>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r>
              <a:rPr sz="1150" b="1" i="0">
                <a:solidFill>
                  <a:srgbClr val="0F172A"/>
                </a:solidFill>
                <a:latin typeface="Consolas"/>
              </a:rPr>
              <a:t>/code/private_test.json</a:t>
            </a:r>
          </a:p>
        </p:txBody>
      </p:sp>
      <p:sp>
        <p:nvSpPr>
          <p:cNvPr id="7" name="TextBox 6"/>
          <p:cNvSpPr txBox="1"/>
          <p:nvPr/>
        </p:nvSpPr>
        <p:spPr>
          <a:xfrm>
            <a:off x="2267712" y="1920240"/>
            <a:ext cx="310896" cy="640080"/>
          </a:xfrm>
          <a:prstGeom prst="rect">
            <a:avLst/>
          </a:prstGeom>
          <a:noFill/>
        </p:spPr>
        <p:txBody>
          <a:bodyPr wrap="square" lIns="36576" tIns="18288" rIns="36576" bIns="18288" anchor="ctr">
            <a:spAutoFit/>
          </a:bodyPr>
          <a:lstStyle/>
          <a:p>
            <a:pPr algn="ctr"/>
            <a:r>
              <a:rPr sz="2000" b="1" i="0">
                <a:solidFill>
                  <a:srgbClr val="14B8A6"/>
                </a:solidFill>
                <a:latin typeface="Be Vietnam Pro"/>
              </a:rPr>
              <a:t>→</a:t>
            </a:r>
          </a:p>
        </p:txBody>
      </p:sp>
      <p:sp>
        <p:nvSpPr>
          <p:cNvPr id="8" name="Rounded Rectangle 7"/>
          <p:cNvSpPr/>
          <p:nvPr/>
        </p:nvSpPr>
        <p:spPr>
          <a:xfrm>
            <a:off x="2578608" y="1920240"/>
            <a:ext cx="1783080" cy="640080"/>
          </a:xfrm>
          <a:prstGeom prst="roundRect">
            <a:avLst>
              <a:gd name="adj" fmla="val 6000"/>
            </a:avLst>
          </a:prstGeom>
          <a:solidFill>
            <a:srgbClr val="0B1220"/>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r>
              <a:rPr sz="1150" b="1" i="0">
                <a:solidFill>
                  <a:srgbClr val="FFFFFF"/>
                </a:solidFill>
                <a:latin typeface="Consolas"/>
              </a:rPr>
              <a:t>container offline</a:t>
            </a:r>
          </a:p>
        </p:txBody>
      </p:sp>
      <p:sp>
        <p:nvSpPr>
          <p:cNvPr id="9" name="TextBox 8"/>
          <p:cNvSpPr txBox="1"/>
          <p:nvPr/>
        </p:nvSpPr>
        <p:spPr>
          <a:xfrm>
            <a:off x="4343400" y="1920240"/>
            <a:ext cx="310896" cy="640080"/>
          </a:xfrm>
          <a:prstGeom prst="rect">
            <a:avLst/>
          </a:prstGeom>
          <a:noFill/>
        </p:spPr>
        <p:txBody>
          <a:bodyPr wrap="square" lIns="36576" tIns="18288" rIns="36576" bIns="18288" anchor="ctr">
            <a:spAutoFit/>
          </a:bodyPr>
          <a:lstStyle/>
          <a:p>
            <a:pPr algn="ctr"/>
            <a:r>
              <a:rPr sz="2000" b="1" i="0">
                <a:solidFill>
                  <a:srgbClr val="14B8A6"/>
                </a:solidFill>
                <a:latin typeface="Be Vietnam Pro"/>
              </a:rPr>
              <a:t>→</a:t>
            </a:r>
          </a:p>
        </p:txBody>
      </p:sp>
      <p:sp>
        <p:nvSpPr>
          <p:cNvPr id="10" name="Rounded Rectangle 9"/>
          <p:cNvSpPr/>
          <p:nvPr/>
        </p:nvSpPr>
        <p:spPr>
          <a:xfrm>
            <a:off x="4654296" y="1920240"/>
            <a:ext cx="1783080" cy="640080"/>
          </a:xfrm>
          <a:prstGeom prst="roundRect">
            <a:avLst>
              <a:gd name="adj" fmla="val 6000"/>
            </a:avLst>
          </a:prstGeom>
          <a:solidFill>
            <a:srgbClr val="E6FAF7"/>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r>
              <a:rPr sz="1150" b="1" i="0">
                <a:solidFill>
                  <a:srgbClr val="0F172A"/>
                </a:solidFill>
                <a:latin typeface="Consolas"/>
              </a:rPr>
              <a:t>/code/submission.csv</a:t>
            </a:r>
          </a:p>
        </p:txBody>
      </p:sp>
      <p:sp>
        <p:nvSpPr>
          <p:cNvPr id="11" name="TextBox 10"/>
          <p:cNvSpPr txBox="1"/>
          <p:nvPr/>
        </p:nvSpPr>
        <p:spPr>
          <a:xfrm>
            <a:off x="502920" y="2743200"/>
            <a:ext cx="5577840" cy="914400"/>
          </a:xfrm>
          <a:prstGeom prst="rect">
            <a:avLst/>
          </a:prstGeom>
          <a:noFill/>
        </p:spPr>
        <p:txBody>
          <a:bodyPr wrap="square" lIns="36576" tIns="18288" rIns="36576" bIns="18288" anchor="t">
            <a:spAutoFit/>
          </a:bodyPr>
          <a:lstStyle/>
          <a:p>
            <a:pPr algn="l">
              <a:spcAft>
                <a:spcPts val="300"/>
              </a:spcAft>
            </a:pPr>
            <a:r>
              <a:rPr sz="1300" b="1" i="0">
                <a:solidFill>
                  <a:srgbClr val="0F172A"/>
                </a:solidFill>
                <a:latin typeface="Be Vietnam Pro"/>
              </a:rPr>
              <a:t>Chấm trên 2000 câu private đa lĩnh vực</a:t>
            </a:r>
          </a:p>
          <a:p>
            <a:pPr algn="l">
              <a:spcAft>
                <a:spcPts val="600"/>
              </a:spcAft>
            </a:pPr>
            <a:r>
              <a:rPr sz="1200" b="0" i="0">
                <a:solidFill>
                  <a:srgbClr val="475569"/>
                </a:solidFill>
                <a:latin typeface="Be Vietnam Pro"/>
              </a:rPr>
              <a:t>Kiểu THPT Quốc gia: Toán / Lý / Hoá / Sinh + Giáo dục công dân + đọc hiểu.</a:t>
            </a:r>
          </a:p>
        </p:txBody>
      </p:sp>
      <p:sp>
        <p:nvSpPr>
          <p:cNvPr id="12" name="Rounded Rectangle 11"/>
          <p:cNvSpPr/>
          <p:nvPr/>
        </p:nvSpPr>
        <p:spPr>
          <a:xfrm>
            <a:off x="502920" y="3749039"/>
            <a:ext cx="5577840" cy="1417320"/>
          </a:xfrm>
          <a:prstGeom prst="roundRect">
            <a:avLst>
              <a:gd name="adj" fmla="val 6000"/>
            </a:avLst>
          </a:prstGeom>
          <a:solidFill>
            <a:srgbClr val="FEF6EC"/>
          </a:solidFill>
          <a:ln w="12700">
            <a:solidFill>
              <a:srgbClr val="F3D9B0"/>
            </a:solid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t"/>
          <a:lstStyle/>
          <a:p>
            <a:pPr algn="l">
              <a:spcAft>
                <a:spcPts val="400"/>
              </a:spcAft>
            </a:pPr>
            <a:r>
              <a:rPr sz="1250" b="1" i="0">
                <a:solidFill>
                  <a:srgbClr val="D97706"/>
                </a:solidFill>
                <a:latin typeface="Be Vietnam Pro"/>
              </a:rPr>
              <a:t>Ràng buộc BTC (chính thức 2026-06-18)</a:t>
            </a:r>
          </a:p>
          <a:p>
            <a:pPr algn="l">
              <a:spcAft>
                <a:spcPts val="200"/>
              </a:spcAft>
            </a:pPr>
            <a:r>
              <a:rPr sz="1200" b="0" i="0">
                <a:solidFill>
                  <a:srgbClr val="0F172A"/>
                </a:solidFill>
                <a:latin typeface="Be Vietnam Pro"/>
              </a:rPr>
              <a:t>• GPU chấm: RTX 5060 Ti (Blackwell, 16GB) · CUDA ≥ 12.8</a:t>
            </a:r>
          </a:p>
          <a:p>
            <a:pPr algn="l">
              <a:spcAft>
                <a:spcPts val="200"/>
              </a:spcAft>
            </a:pPr>
            <a:r>
              <a:rPr sz="1200" b="0" i="0">
                <a:solidFill>
                  <a:srgbClr val="0F172A"/>
                </a:solidFill>
                <a:latin typeface="Be Vietnam Pro"/>
              </a:rPr>
              <a:t>• ≤ 5B TỔNG tham số · đúng 1 LLM · KHÔNG embedding/rerank</a:t>
            </a:r>
          </a:p>
          <a:p>
            <a:pPr algn="l"/>
            <a:r>
              <a:rPr sz="1200" b="0" i="0">
                <a:solidFill>
                  <a:srgbClr val="0F172A"/>
                </a:solidFill>
                <a:latin typeface="Be Vietnam Pro"/>
              </a:rPr>
              <a:t>• Không API/mô hình ngoài · hoàn toàn offline</a:t>
            </a:r>
          </a:p>
        </p:txBody>
      </p:sp>
      <p:sp>
        <p:nvSpPr>
          <p:cNvPr id="13" name="TextBox 12"/>
          <p:cNvSpPr txBox="1"/>
          <p:nvPr/>
        </p:nvSpPr>
        <p:spPr>
          <a:xfrm>
            <a:off x="6446520" y="1463040"/>
            <a:ext cx="5212080" cy="365760"/>
          </a:xfrm>
          <a:prstGeom prst="rect">
            <a:avLst/>
          </a:prstGeom>
          <a:noFill/>
        </p:spPr>
        <p:txBody>
          <a:bodyPr wrap="square" lIns="36576" tIns="18288" rIns="36576" bIns="18288" anchor="t">
            <a:spAutoFit/>
          </a:bodyPr>
          <a:lstStyle/>
          <a:p>
            <a:pPr algn="l"/>
            <a:r>
              <a:rPr sz="1400" b="1" i="0">
                <a:solidFill>
                  <a:srgbClr val="0F172A"/>
                </a:solidFill>
                <a:latin typeface="Be Vietnam Pro"/>
              </a:rPr>
              <a:t>Trọng số chấm điểm</a:t>
            </a:r>
          </a:p>
        </p:txBody>
      </p:sp>
      <p:graphicFrame>
        <p:nvGraphicFramePr>
          <p:cNvPr id="14" name="Table 13"/>
          <p:cNvGraphicFramePr>
            <a:graphicFrameLocks noGrp="1"/>
          </p:cNvGraphicFramePr>
          <p:nvPr/>
        </p:nvGraphicFramePr>
        <p:xfrm>
          <a:off x="6446520" y="1874519"/>
          <a:ext cx="5212080" cy="2468880"/>
        </p:xfrm>
        <a:graphic>
          <a:graphicData uri="http://schemas.openxmlformats.org/drawingml/2006/table">
            <a:tbl>
              <a:tblPr firstRow="1" bandRow="1">
                <a:tableStyleId>{5C22544A-7EE6-4342-B048-85BDC9FD1C3A}</a:tableStyleId>
              </a:tblPr>
              <a:tblGrid>
                <a:gridCol w="182880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2560320">
                  <a:extLst>
                    <a:ext uri="{9D8B030D-6E8A-4147-A177-3AD203B41FA5}">
                      <a16:colId xmlns:a16="http://schemas.microsoft.com/office/drawing/2014/main" val="20002"/>
                    </a:ext>
                  </a:extLst>
                </a:gridCol>
              </a:tblGrid>
              <a:tr h="617220">
                <a:tc>
                  <a:txBody>
                    <a:bodyPr/>
                    <a:lstStyle/>
                    <a:p>
                      <a:pPr algn="l"/>
                      <a:r>
                        <a:rPr sz="1150" b="1">
                          <a:solidFill>
                            <a:srgbClr val="FFFFFF"/>
                          </a:solidFill>
                          <a:latin typeface="Be Vietnam Pro"/>
                        </a:rPr>
                        <a:t>Tiêu chí</a:t>
                      </a:r>
                    </a:p>
                  </a:txBody>
                  <a:tcPr marL="73152" marR="54864" marT="36576" marB="36576" anchor="ctr">
                    <a:solidFill>
                      <a:srgbClr val="0B1220"/>
                    </a:solidFill>
                  </a:tcPr>
                </a:tc>
                <a:tc>
                  <a:txBody>
                    <a:bodyPr/>
                    <a:lstStyle/>
                    <a:p>
                      <a:pPr algn="ctr"/>
                      <a:r>
                        <a:rPr sz="1300" b="1">
                          <a:solidFill>
                            <a:srgbClr val="FFFFFF"/>
                          </a:solidFill>
                          <a:latin typeface="Be Vietnam Pro"/>
                        </a:rPr>
                        <a:t>Điểm</a:t>
                      </a:r>
                    </a:p>
                  </a:txBody>
                  <a:tcPr marL="73152" marR="54864" marT="36576" marB="36576" anchor="ctr">
                    <a:solidFill>
                      <a:srgbClr val="0B1220"/>
                    </a:solidFill>
                  </a:tcPr>
                </a:tc>
                <a:tc>
                  <a:txBody>
                    <a:bodyPr/>
                    <a:lstStyle/>
                    <a:p>
                      <a:pPr algn="l"/>
                      <a:r>
                        <a:rPr sz="1150" b="1">
                          <a:solidFill>
                            <a:srgbClr val="FFFFFF"/>
                          </a:solidFill>
                          <a:latin typeface="Be Vietnam Pro"/>
                        </a:rPr>
                        <a:t>Hệ quả thiết kế</a:t>
                      </a:r>
                    </a:p>
                  </a:txBody>
                  <a:tcPr marL="73152" marR="54864" marT="36576" marB="36576" anchor="ctr">
                    <a:solidFill>
                      <a:srgbClr val="0B1220"/>
                    </a:solidFill>
                  </a:tcPr>
                </a:tc>
                <a:extLst>
                  <a:ext uri="{0D108BD9-81ED-4DB2-BD59-A6C34878D82A}">
                    <a16:rowId xmlns:a16="http://schemas.microsoft.com/office/drawing/2014/main" val="10000"/>
                  </a:ext>
                </a:extLst>
              </a:tr>
              <a:tr h="617220">
                <a:tc>
                  <a:txBody>
                    <a:bodyPr/>
                    <a:lstStyle/>
                    <a:p>
                      <a:pPr algn="l"/>
                      <a:r>
                        <a:rPr sz="1150" b="0">
                          <a:solidFill>
                            <a:srgbClr val="0F172A"/>
                          </a:solidFill>
                          <a:latin typeface="Be Vietnam Pro"/>
                        </a:rPr>
                        <a:t>Accuracy</a:t>
                      </a:r>
                    </a:p>
                  </a:txBody>
                  <a:tcPr marL="73152" marR="54864" marT="36576" marB="36576" anchor="ctr">
                    <a:solidFill>
                      <a:srgbClr val="FFFFFF"/>
                    </a:solidFill>
                  </a:tcPr>
                </a:tc>
                <a:tc>
                  <a:txBody>
                    <a:bodyPr/>
                    <a:lstStyle/>
                    <a:p>
                      <a:pPr algn="ctr"/>
                      <a:r>
                        <a:rPr sz="1300" b="1">
                          <a:solidFill>
                            <a:srgbClr val="14B8A6"/>
                          </a:solidFill>
                          <a:latin typeface="Be Vietnam Pro"/>
                        </a:rPr>
                        <a:t>80</a:t>
                      </a:r>
                    </a:p>
                  </a:txBody>
                  <a:tcPr marL="73152" marR="54864" marT="36576" marB="36576" anchor="ctr">
                    <a:solidFill>
                      <a:srgbClr val="FFFFFF"/>
                    </a:solidFill>
                  </a:tcPr>
                </a:tc>
                <a:tc>
                  <a:txBody>
                    <a:bodyPr/>
                    <a:lstStyle/>
                    <a:p>
                      <a:pPr algn="l"/>
                      <a:r>
                        <a:rPr sz="1150" b="0">
                          <a:solidFill>
                            <a:srgbClr val="0F172A"/>
                          </a:solidFill>
                          <a:latin typeface="Be Vietnam Pro"/>
                        </a:rPr>
                        <a:t>mục tiêu chính — lever phải tổng quát hoá</a:t>
                      </a:r>
                    </a:p>
                  </a:txBody>
                  <a:tcPr marL="73152" marR="54864" marT="36576" marB="36576" anchor="ctr">
                    <a:solidFill>
                      <a:srgbClr val="FFFFFF"/>
                    </a:solidFill>
                  </a:tcPr>
                </a:tc>
                <a:extLst>
                  <a:ext uri="{0D108BD9-81ED-4DB2-BD59-A6C34878D82A}">
                    <a16:rowId xmlns:a16="http://schemas.microsoft.com/office/drawing/2014/main" val="10001"/>
                  </a:ext>
                </a:extLst>
              </a:tr>
              <a:tr h="617220">
                <a:tc>
                  <a:txBody>
                    <a:bodyPr/>
                    <a:lstStyle/>
                    <a:p>
                      <a:pPr algn="l"/>
                      <a:r>
                        <a:rPr sz="1150" b="0">
                          <a:solidFill>
                            <a:srgbClr val="0F172A"/>
                          </a:solidFill>
                          <a:latin typeface="Be Vietnam Pro"/>
                        </a:rPr>
                        <a:t>Thời gian inference</a:t>
                      </a:r>
                    </a:p>
                  </a:txBody>
                  <a:tcPr marL="73152" marR="54864" marT="36576" marB="36576" anchor="ctr">
                    <a:solidFill>
                      <a:srgbClr val="FFFFFF"/>
                    </a:solidFill>
                  </a:tcPr>
                </a:tc>
                <a:tc>
                  <a:txBody>
                    <a:bodyPr/>
                    <a:lstStyle/>
                    <a:p>
                      <a:pPr algn="ctr"/>
                      <a:r>
                        <a:rPr sz="1300" b="1">
                          <a:solidFill>
                            <a:srgbClr val="14B8A6"/>
                          </a:solidFill>
                          <a:latin typeface="Be Vietnam Pro"/>
                        </a:rPr>
                        <a:t>10</a:t>
                      </a:r>
                    </a:p>
                  </a:txBody>
                  <a:tcPr marL="73152" marR="54864" marT="36576" marB="36576" anchor="ctr">
                    <a:solidFill>
                      <a:srgbClr val="FFFFFF"/>
                    </a:solidFill>
                  </a:tcPr>
                </a:tc>
                <a:tc>
                  <a:txBody>
                    <a:bodyPr/>
                    <a:lstStyle/>
                    <a:p>
                      <a:pPr algn="l"/>
                      <a:r>
                        <a:rPr sz="1150" b="0">
                          <a:solidFill>
                            <a:srgbClr val="0F172A"/>
                          </a:solidFill>
                          <a:latin typeface="Be Vietnam Pro"/>
                        </a:rPr>
                        <a:t>tốc độ là mục tiêu hạng nhất</a:t>
                      </a:r>
                    </a:p>
                  </a:txBody>
                  <a:tcPr marL="73152" marR="54864" marT="36576" marB="36576" anchor="ctr">
                    <a:solidFill>
                      <a:srgbClr val="FFFFFF"/>
                    </a:solidFill>
                  </a:tcPr>
                </a:tc>
                <a:extLst>
                  <a:ext uri="{0D108BD9-81ED-4DB2-BD59-A6C34878D82A}">
                    <a16:rowId xmlns:a16="http://schemas.microsoft.com/office/drawing/2014/main" val="10002"/>
                  </a:ext>
                </a:extLst>
              </a:tr>
              <a:tr h="617220">
                <a:tc>
                  <a:txBody>
                    <a:bodyPr/>
                    <a:lstStyle/>
                    <a:p>
                      <a:pPr algn="l"/>
                      <a:r>
                        <a:rPr sz="1150" b="0">
                          <a:solidFill>
                            <a:srgbClr val="0F172A"/>
                          </a:solidFill>
                          <a:latin typeface="Be Vietnam Pro"/>
                        </a:rPr>
                        <a:t>Ý tưởng / sáng tạo</a:t>
                      </a:r>
                    </a:p>
                  </a:txBody>
                  <a:tcPr marL="73152" marR="54864" marT="36576" marB="36576" anchor="ctr">
                    <a:solidFill>
                      <a:srgbClr val="E6FAF7"/>
                    </a:solidFill>
                  </a:tcPr>
                </a:tc>
                <a:tc>
                  <a:txBody>
                    <a:bodyPr/>
                    <a:lstStyle/>
                    <a:p>
                      <a:pPr algn="ctr"/>
                      <a:r>
                        <a:rPr sz="1300" b="1">
                          <a:solidFill>
                            <a:srgbClr val="14B8A6"/>
                          </a:solidFill>
                          <a:latin typeface="Be Vietnam Pro"/>
                        </a:rPr>
                        <a:t>10</a:t>
                      </a:r>
                    </a:p>
                  </a:txBody>
                  <a:tcPr marL="73152" marR="54864" marT="36576" marB="36576" anchor="ctr">
                    <a:solidFill>
                      <a:srgbClr val="E6FAF7"/>
                    </a:solidFill>
                  </a:tcPr>
                </a:tc>
                <a:tc>
                  <a:txBody>
                    <a:bodyPr/>
                    <a:lstStyle/>
                    <a:p>
                      <a:pPr algn="l"/>
                      <a:r>
                        <a:rPr sz="1150" b="0">
                          <a:solidFill>
                            <a:srgbClr val="0F172A"/>
                          </a:solidFill>
                          <a:latin typeface="Be Vietnam Pro"/>
                        </a:rPr>
                        <a:t>← tài liệu này</a:t>
                      </a:r>
                    </a:p>
                  </a:txBody>
                  <a:tcPr marL="73152" marR="54864" marT="36576" marB="36576" anchor="ctr">
                    <a:solidFill>
                      <a:srgbClr val="E6FAF7"/>
                    </a:solidFill>
                  </a:tcPr>
                </a:tc>
                <a:extLst>
                  <a:ext uri="{0D108BD9-81ED-4DB2-BD59-A6C34878D82A}">
                    <a16:rowId xmlns:a16="http://schemas.microsoft.com/office/drawing/2014/main" val="10003"/>
                  </a:ext>
                </a:extLst>
              </a:tr>
            </a:tbl>
          </a:graphicData>
        </a:graphic>
      </p:graphicFrame>
      <p:sp>
        <p:nvSpPr>
          <p:cNvPr id="15" name="Rectangle 14"/>
          <p:cNvSpPr/>
          <p:nvPr/>
        </p:nvSpPr>
        <p:spPr>
          <a:xfrm>
            <a:off x="502920" y="6419088"/>
            <a:ext cx="11185855"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endParaRPr/>
          </a:p>
        </p:txBody>
      </p:sp>
      <p:sp>
        <p:nvSpPr>
          <p:cNvPr id="16" name="TextBox 15"/>
          <p:cNvSpPr txBox="1"/>
          <p:nvPr/>
        </p:nvSpPr>
        <p:spPr>
          <a:xfrm>
            <a:off x="502920" y="6455664"/>
            <a:ext cx="6711513" cy="292608"/>
          </a:xfrm>
          <a:prstGeom prst="rect">
            <a:avLst/>
          </a:prstGeom>
          <a:noFill/>
        </p:spPr>
        <p:txBody>
          <a:bodyPr wrap="square" lIns="36576" tIns="18288" rIns="36576" bIns="18288" anchor="t">
            <a:spAutoFit/>
          </a:bodyPr>
          <a:lstStyle/>
          <a:p>
            <a:pPr algn="l"/>
            <a:r>
              <a:rPr sz="950" b="0" i="0">
                <a:solidFill>
                  <a:srgbClr val="475569"/>
                </a:solidFill>
                <a:latin typeface="Be Vietnam Pro"/>
              </a:rPr>
              <a:t>Neko Core  ·  Đại học Hàng hải Việt Nam (VMU)</a:t>
            </a:r>
          </a:p>
        </p:txBody>
      </p:sp>
      <p:sp>
        <p:nvSpPr>
          <p:cNvPr id="17" name="TextBox 16"/>
          <p:cNvSpPr txBox="1"/>
          <p:nvPr/>
        </p:nvSpPr>
        <p:spPr>
          <a:xfrm>
            <a:off x="5536554" y="6455664"/>
            <a:ext cx="6152220" cy="292608"/>
          </a:xfrm>
          <a:prstGeom prst="rect">
            <a:avLst/>
          </a:prstGeom>
          <a:noFill/>
        </p:spPr>
        <p:txBody>
          <a:bodyPr wrap="square" lIns="36576" tIns="18288" rIns="36576" bIns="18288" anchor="t">
            <a:spAutoFit/>
          </a:bodyPr>
          <a:lstStyle/>
          <a:p>
            <a:pPr algn="r"/>
            <a:r>
              <a:rPr sz="950" b="0" i="0">
                <a:solidFill>
                  <a:srgbClr val="475569"/>
                </a:solidFill>
                <a:latin typeface="Be Vietnam Pro"/>
              </a:rPr>
              <a:t>neko-core:qwen3-4b-r2-cuda128-20260627   ·   2/14</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TextBox 1"/>
          <p:cNvSpPr txBox="1"/>
          <p:nvPr/>
        </p:nvSpPr>
        <p:spPr>
          <a:xfrm>
            <a:off x="502920" y="274320"/>
            <a:ext cx="11185855" cy="292608"/>
          </a:xfrm>
          <a:prstGeom prst="rect">
            <a:avLst/>
          </a:prstGeom>
          <a:noFill/>
        </p:spPr>
        <p:txBody>
          <a:bodyPr wrap="square" lIns="36576" tIns="18288" rIns="36576" bIns="18288" anchor="t">
            <a:spAutoFit/>
          </a:bodyPr>
          <a:lstStyle/>
          <a:p>
            <a:pPr algn="l"/>
            <a:r>
              <a:rPr sz="1250" b="1" i="0">
                <a:solidFill>
                  <a:srgbClr val="14B8A6"/>
                </a:solidFill>
                <a:latin typeface="Be Vietnam Pro"/>
              </a:rPr>
              <a:t>02 · GIẢI PHÁP</a:t>
            </a:r>
          </a:p>
        </p:txBody>
      </p:sp>
      <p:sp>
        <p:nvSpPr>
          <p:cNvPr id="3" name="TextBox 2"/>
          <p:cNvSpPr txBox="1"/>
          <p:nvPr/>
        </p:nvSpPr>
        <p:spPr>
          <a:xfrm>
            <a:off x="502920" y="548640"/>
            <a:ext cx="11185855" cy="640080"/>
          </a:xfrm>
          <a:prstGeom prst="rect">
            <a:avLst/>
          </a:prstGeom>
          <a:noFill/>
        </p:spPr>
        <p:txBody>
          <a:bodyPr wrap="square" lIns="36576" tIns="18288" rIns="36576" bIns="18288" anchor="t">
            <a:spAutoFit/>
          </a:bodyPr>
          <a:lstStyle/>
          <a:p>
            <a:pPr algn="l"/>
            <a:r>
              <a:rPr sz="2700" b="1" i="0">
                <a:solidFill>
                  <a:srgbClr val="0F172A"/>
                </a:solidFill>
                <a:latin typeface="Be Vietnam Pro"/>
              </a:rPr>
              <a:t>Giải pháp: một Docker offline tự-chứa</a:t>
            </a:r>
          </a:p>
        </p:txBody>
      </p:sp>
      <p:sp>
        <p:nvSpPr>
          <p:cNvPr id="4" name="Rounded Rectangle 3"/>
          <p:cNvSpPr/>
          <p:nvPr/>
        </p:nvSpPr>
        <p:spPr>
          <a:xfrm>
            <a:off x="502920" y="1188720"/>
            <a:ext cx="1920240" cy="50292"/>
          </a:xfrm>
          <a:prstGeom prst="roundRect">
            <a:avLst>
              <a:gd name="adj" fmla="val 50000"/>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endParaRPr/>
          </a:p>
        </p:txBody>
      </p:sp>
      <p:sp>
        <p:nvSpPr>
          <p:cNvPr id="5" name="TextBox 4"/>
          <p:cNvSpPr txBox="1"/>
          <p:nvPr/>
        </p:nvSpPr>
        <p:spPr>
          <a:xfrm>
            <a:off x="502920" y="1417320"/>
            <a:ext cx="11185855" cy="777240"/>
          </a:xfrm>
          <a:prstGeom prst="rect">
            <a:avLst/>
          </a:prstGeom>
          <a:noFill/>
        </p:spPr>
        <p:txBody>
          <a:bodyPr wrap="square" lIns="36576" tIns="18288" rIns="36576" bIns="18288" anchor="t">
            <a:spAutoFit/>
          </a:bodyPr>
          <a:lstStyle/>
          <a:p>
            <a:pPr algn="l"/>
            <a:r>
              <a:rPr sz="1450" b="0" i="0">
                <a:solidFill>
                  <a:srgbClr val="0F172A"/>
                </a:solidFill>
                <a:latin typeface="Be Vietnam Pro"/>
              </a:rPr>
              <a:t>Neko Core đóng gói sẵn </a:t>
            </a:r>
            <a:r>
              <a:rPr sz="1450" b="1" i="0">
                <a:solidFill>
                  <a:srgbClr val="14B8A6"/>
                </a:solidFill>
                <a:latin typeface="Be Vietnam Pro"/>
              </a:rPr>
              <a:t>Qwen3-4B (≤5B)</a:t>
            </a:r>
            <a:r>
              <a:rPr sz="1450" b="0" i="0">
                <a:solidFill>
                  <a:srgbClr val="0F172A"/>
                </a:solidFill>
                <a:latin typeface="Be Vietnam Pro"/>
              </a:rPr>
              <a:t> trong một container offline: đọc /code/private_test.json → cho mô hình </a:t>
            </a:r>
            <a:r>
              <a:rPr sz="1450" b="1" i="0">
                <a:solidFill>
                  <a:srgbClr val="0F172A"/>
                </a:solidFill>
                <a:latin typeface="Be Vietnam Pro"/>
              </a:rPr>
              <a:t>LẬP LUẬN (CoT)</a:t>
            </a:r>
            <a:r>
              <a:rPr sz="1450" b="0" i="0">
                <a:solidFill>
                  <a:srgbClr val="0F172A"/>
                </a:solidFill>
                <a:latin typeface="Be Vietnam Pro"/>
              </a:rPr>
              <a:t> → ghi /code/submission.csv — bọc trong các lớp </a:t>
            </a:r>
            <a:r>
              <a:rPr sz="1450" b="1" i="0">
                <a:solidFill>
                  <a:srgbClr val="16A34A"/>
                </a:solidFill>
                <a:latin typeface="Be Vietnam Pro"/>
              </a:rPr>
              <a:t>kỹ thuật chống-0-điểm</a:t>
            </a:r>
            <a:r>
              <a:rPr sz="1450" b="0" i="0">
                <a:solidFill>
                  <a:srgbClr val="0F172A"/>
                </a:solidFill>
                <a:latin typeface="Be Vietnam Pro"/>
              </a:rPr>
              <a:t>.</a:t>
            </a:r>
          </a:p>
        </p:txBody>
      </p:sp>
      <p:sp>
        <p:nvSpPr>
          <p:cNvPr id="6" name="Rounded Rectangle 5"/>
          <p:cNvSpPr/>
          <p:nvPr/>
        </p:nvSpPr>
        <p:spPr>
          <a:xfrm>
            <a:off x="502920" y="2560320"/>
            <a:ext cx="1828800" cy="1280160"/>
          </a:xfrm>
          <a:prstGeom prst="roundRect">
            <a:avLst>
              <a:gd name="adj" fmla="val 6000"/>
            </a:avLst>
          </a:prstGeom>
          <a:solidFill>
            <a:srgbClr val="EEF2F6"/>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spcAft>
                <a:spcPts val="200"/>
              </a:spcAft>
            </a:pPr>
            <a:r>
              <a:rPr sz="1250" b="1" i="0">
                <a:solidFill>
                  <a:srgbClr val="0F172A"/>
                </a:solidFill>
                <a:latin typeface="Be Vietnam Pro"/>
              </a:rPr>
              <a:t>Đề thi</a:t>
            </a:r>
          </a:p>
          <a:p>
            <a:pPr algn="ctr"/>
            <a:r>
              <a:rPr sz="1000" b="0" i="0">
                <a:solidFill>
                  <a:srgbClr val="475569"/>
                </a:solidFill>
                <a:latin typeface="Consolas"/>
              </a:rPr>
              <a:t>private_test.json</a:t>
            </a:r>
          </a:p>
          <a:p>
            <a:pPr algn="ctr"/>
            <a:r>
              <a:rPr sz="1000" b="0" i="0">
                <a:solidFill>
                  <a:srgbClr val="475569"/>
                </a:solidFill>
                <a:latin typeface="Be Vietnam Pro"/>
              </a:rPr>
              <a:t>/code</a:t>
            </a:r>
          </a:p>
        </p:txBody>
      </p:sp>
      <p:sp>
        <p:nvSpPr>
          <p:cNvPr id="7" name="TextBox 6"/>
          <p:cNvSpPr txBox="1"/>
          <p:nvPr/>
        </p:nvSpPr>
        <p:spPr>
          <a:xfrm>
            <a:off x="2331720" y="2560320"/>
            <a:ext cx="292608" cy="1280160"/>
          </a:xfrm>
          <a:prstGeom prst="rect">
            <a:avLst/>
          </a:prstGeom>
          <a:noFill/>
        </p:spPr>
        <p:txBody>
          <a:bodyPr wrap="square" lIns="36576" tIns="18288" rIns="36576" bIns="18288" anchor="ctr">
            <a:spAutoFit/>
          </a:bodyPr>
          <a:lstStyle/>
          <a:p>
            <a:pPr algn="ctr"/>
            <a:r>
              <a:rPr sz="2000" b="1" i="0">
                <a:solidFill>
                  <a:srgbClr val="14B8A6"/>
                </a:solidFill>
                <a:latin typeface="Be Vietnam Pro"/>
              </a:rPr>
              <a:t>→</a:t>
            </a:r>
          </a:p>
        </p:txBody>
      </p:sp>
      <p:sp>
        <p:nvSpPr>
          <p:cNvPr id="8" name="Rounded Rectangle 7"/>
          <p:cNvSpPr/>
          <p:nvPr/>
        </p:nvSpPr>
        <p:spPr>
          <a:xfrm>
            <a:off x="2651760" y="2331720"/>
            <a:ext cx="6400800" cy="1737360"/>
          </a:xfrm>
          <a:prstGeom prst="roundRect">
            <a:avLst>
              <a:gd name="adj" fmla="val 6000"/>
            </a:avLst>
          </a:prstGeom>
          <a:solidFill>
            <a:srgbClr val="0B1220"/>
          </a:solidFill>
          <a:ln w="19050">
            <a:solidFill>
              <a:srgbClr val="14B8A6"/>
            </a:solid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spcAft>
                <a:spcPts val="500"/>
              </a:spcAft>
            </a:pPr>
            <a:r>
              <a:rPr sz="1200" b="1" i="0">
                <a:solidFill>
                  <a:srgbClr val="9FB0C7"/>
                </a:solidFill>
                <a:latin typeface="Be Vietnam Pro"/>
              </a:rPr>
              <a:t>CONTAINER  (offline · ≤5B · 1 model)</a:t>
            </a:r>
          </a:p>
          <a:p>
            <a:pPr algn="ctr">
              <a:spcAft>
                <a:spcPts val="700"/>
              </a:spcAft>
            </a:pPr>
            <a:r>
              <a:rPr sz="1400" b="1" i="0">
                <a:solidFill>
                  <a:srgbClr val="FFFFFF"/>
                </a:solidFill>
                <a:latin typeface="Be Vietnam Pro"/>
              </a:rPr>
              <a:t>Qwen3-4B  +  chain-of-thought  (lập luận → trích đáp án)</a:t>
            </a:r>
          </a:p>
          <a:p>
            <a:pPr algn="ctr"/>
            <a:r>
              <a:rPr sz="1100" b="0" i="0">
                <a:solidFill>
                  <a:srgbClr val="14B8A6"/>
                </a:solidFill>
                <a:latin typeface="Be Vietnam Pro"/>
              </a:rPr>
              <a:t>lớp chống-0-điểm:  arch-portable mọi GPU · contract submission.csv · checkpoint/resume</a:t>
            </a:r>
          </a:p>
        </p:txBody>
      </p:sp>
      <p:sp>
        <p:nvSpPr>
          <p:cNvPr id="9" name="TextBox 8"/>
          <p:cNvSpPr txBox="1"/>
          <p:nvPr/>
        </p:nvSpPr>
        <p:spPr>
          <a:xfrm>
            <a:off x="9052560" y="2560320"/>
            <a:ext cx="292608" cy="1280160"/>
          </a:xfrm>
          <a:prstGeom prst="rect">
            <a:avLst/>
          </a:prstGeom>
          <a:noFill/>
        </p:spPr>
        <p:txBody>
          <a:bodyPr wrap="square" lIns="36576" tIns="18288" rIns="36576" bIns="18288" anchor="ctr">
            <a:spAutoFit/>
          </a:bodyPr>
          <a:lstStyle/>
          <a:p>
            <a:pPr algn="ctr"/>
            <a:r>
              <a:rPr sz="2000" b="1" i="0">
                <a:solidFill>
                  <a:srgbClr val="14B8A6"/>
                </a:solidFill>
                <a:latin typeface="Be Vietnam Pro"/>
              </a:rPr>
              <a:t>→</a:t>
            </a:r>
          </a:p>
        </p:txBody>
      </p:sp>
      <p:sp>
        <p:nvSpPr>
          <p:cNvPr id="10" name="Rounded Rectangle 9"/>
          <p:cNvSpPr/>
          <p:nvPr/>
        </p:nvSpPr>
        <p:spPr>
          <a:xfrm>
            <a:off x="9372600" y="2560320"/>
            <a:ext cx="2313432" cy="1280160"/>
          </a:xfrm>
          <a:prstGeom prst="roundRect">
            <a:avLst>
              <a:gd name="adj" fmla="val 6000"/>
            </a:avLst>
          </a:prstGeom>
          <a:solidFill>
            <a:srgbClr val="E6FAF7"/>
          </a:solidFill>
          <a:ln w="12700">
            <a:solidFill>
              <a:srgbClr val="14B8A6"/>
            </a:solid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spcAft>
                <a:spcPts val="200"/>
              </a:spcAft>
            </a:pPr>
            <a:r>
              <a:rPr sz="1200" b="1" i="0">
                <a:solidFill>
                  <a:srgbClr val="0F172A"/>
                </a:solidFill>
                <a:latin typeface="Consolas"/>
              </a:rPr>
              <a:t>submission.csv</a:t>
            </a:r>
          </a:p>
          <a:p>
            <a:pPr algn="ctr"/>
            <a:r>
              <a:rPr sz="950" b="0" i="0">
                <a:solidFill>
                  <a:srgbClr val="475569"/>
                </a:solidFill>
                <a:latin typeface="Consolas"/>
              </a:rPr>
              <a:t>+ submission_time.csv</a:t>
            </a:r>
          </a:p>
          <a:p>
            <a:pPr algn="ctr"/>
            <a:r>
              <a:rPr sz="1000" b="0" i="0">
                <a:solidFill>
                  <a:srgbClr val="475569"/>
                </a:solidFill>
                <a:latin typeface="Be Vietnam Pro"/>
              </a:rPr>
              <a:t>trong /code</a:t>
            </a:r>
          </a:p>
        </p:txBody>
      </p:sp>
      <p:sp>
        <p:nvSpPr>
          <p:cNvPr id="11" name="Rounded Rectangle 10"/>
          <p:cNvSpPr/>
          <p:nvPr/>
        </p:nvSpPr>
        <p:spPr>
          <a:xfrm>
            <a:off x="502920" y="4389120"/>
            <a:ext cx="2625013" cy="914400"/>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spcAft>
                <a:spcPts val="200"/>
              </a:spcAft>
            </a:pPr>
            <a:r>
              <a:rPr sz="1700" b="1" i="0">
                <a:solidFill>
                  <a:srgbClr val="14B8A6"/>
                </a:solidFill>
                <a:latin typeface="Be Vietnam Pro"/>
              </a:rPr>
              <a:t>≤5B · 1 model</a:t>
            </a:r>
          </a:p>
          <a:p>
            <a:pPr algn="ctr"/>
            <a:r>
              <a:rPr sz="1050" b="0" i="0">
                <a:solidFill>
                  <a:srgbClr val="475569"/>
                </a:solidFill>
                <a:latin typeface="Be Vietnam Pro"/>
              </a:rPr>
              <a:t>đúng luật BTC</a:t>
            </a:r>
          </a:p>
        </p:txBody>
      </p:sp>
      <p:sp>
        <p:nvSpPr>
          <p:cNvPr id="12" name="Rounded Rectangle 11"/>
          <p:cNvSpPr/>
          <p:nvPr/>
        </p:nvSpPr>
        <p:spPr>
          <a:xfrm>
            <a:off x="3356533" y="4389120"/>
            <a:ext cx="2625013" cy="914400"/>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spcAft>
                <a:spcPts val="200"/>
              </a:spcAft>
            </a:pPr>
            <a:r>
              <a:rPr sz="1700" b="1" i="0">
                <a:solidFill>
                  <a:srgbClr val="14B8A6"/>
                </a:solidFill>
                <a:latin typeface="Be Vietnam Pro"/>
              </a:rPr>
              <a:t>83.59</a:t>
            </a:r>
          </a:p>
          <a:p>
            <a:pPr algn="ctr"/>
            <a:r>
              <a:rPr sz="1050" b="0" i="0">
                <a:solidFill>
                  <a:srgbClr val="475569"/>
                </a:solidFill>
                <a:latin typeface="Be Vietnam Pro"/>
              </a:rPr>
              <a:t>public leaderboard</a:t>
            </a:r>
          </a:p>
        </p:txBody>
      </p:sp>
      <p:sp>
        <p:nvSpPr>
          <p:cNvPr id="13" name="Rounded Rectangle 12"/>
          <p:cNvSpPr/>
          <p:nvPr/>
        </p:nvSpPr>
        <p:spPr>
          <a:xfrm>
            <a:off x="6210147" y="4389120"/>
            <a:ext cx="2625013" cy="914400"/>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spcAft>
                <a:spcPts val="200"/>
              </a:spcAft>
            </a:pPr>
            <a:r>
              <a:rPr sz="1700" b="1" i="0">
                <a:solidFill>
                  <a:srgbClr val="14B8A6"/>
                </a:solidFill>
                <a:latin typeface="Be Vietnam Pro"/>
              </a:rPr>
              <a:t>~3 giây/câu</a:t>
            </a:r>
          </a:p>
          <a:p>
            <a:pPr algn="ctr"/>
            <a:r>
              <a:rPr sz="1050" b="0" i="0">
                <a:solidFill>
                  <a:srgbClr val="475569"/>
                </a:solidFill>
                <a:latin typeface="Be Vietnam Pro"/>
              </a:rPr>
              <a:t>đo thật trên GPU</a:t>
            </a:r>
          </a:p>
        </p:txBody>
      </p:sp>
      <p:sp>
        <p:nvSpPr>
          <p:cNvPr id="14" name="Rounded Rectangle 13"/>
          <p:cNvSpPr/>
          <p:nvPr/>
        </p:nvSpPr>
        <p:spPr>
          <a:xfrm>
            <a:off x="9063761" y="4389120"/>
            <a:ext cx="2625013" cy="914400"/>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spcAft>
                <a:spcPts val="200"/>
              </a:spcAft>
            </a:pPr>
            <a:r>
              <a:rPr sz="1700" b="1" i="0">
                <a:solidFill>
                  <a:srgbClr val="14B8A6"/>
                </a:solidFill>
                <a:latin typeface="Be Vietnam Pro"/>
              </a:rPr>
              <a:t>never-0</a:t>
            </a:r>
          </a:p>
          <a:p>
            <a:pPr algn="ctr"/>
            <a:r>
              <a:rPr sz="1050" b="0" i="0">
                <a:solidFill>
                  <a:srgbClr val="475569"/>
                </a:solidFill>
                <a:latin typeface="Be Vietnam Pro"/>
              </a:rPr>
              <a:t>chạy đúng mọi GPU</a:t>
            </a:r>
          </a:p>
        </p:txBody>
      </p:sp>
      <p:sp>
        <p:nvSpPr>
          <p:cNvPr id="15" name="Rectangle 14"/>
          <p:cNvSpPr/>
          <p:nvPr/>
        </p:nvSpPr>
        <p:spPr>
          <a:xfrm>
            <a:off x="502920" y="6419088"/>
            <a:ext cx="11185855"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endParaRPr/>
          </a:p>
        </p:txBody>
      </p:sp>
      <p:sp>
        <p:nvSpPr>
          <p:cNvPr id="16" name="TextBox 15"/>
          <p:cNvSpPr txBox="1"/>
          <p:nvPr/>
        </p:nvSpPr>
        <p:spPr>
          <a:xfrm>
            <a:off x="502920" y="6455664"/>
            <a:ext cx="6711513" cy="292608"/>
          </a:xfrm>
          <a:prstGeom prst="rect">
            <a:avLst/>
          </a:prstGeom>
          <a:noFill/>
        </p:spPr>
        <p:txBody>
          <a:bodyPr wrap="square" lIns="36576" tIns="18288" rIns="36576" bIns="18288" anchor="t">
            <a:spAutoFit/>
          </a:bodyPr>
          <a:lstStyle/>
          <a:p>
            <a:pPr algn="l"/>
            <a:r>
              <a:rPr sz="950" b="0" i="0">
                <a:solidFill>
                  <a:srgbClr val="475569"/>
                </a:solidFill>
                <a:latin typeface="Be Vietnam Pro"/>
              </a:rPr>
              <a:t>Neko Core  ·  Đại học Hàng hải Việt Nam (VMU)</a:t>
            </a:r>
          </a:p>
        </p:txBody>
      </p:sp>
      <p:sp>
        <p:nvSpPr>
          <p:cNvPr id="17" name="TextBox 16"/>
          <p:cNvSpPr txBox="1"/>
          <p:nvPr/>
        </p:nvSpPr>
        <p:spPr>
          <a:xfrm>
            <a:off x="5536554" y="6455664"/>
            <a:ext cx="6152220" cy="292608"/>
          </a:xfrm>
          <a:prstGeom prst="rect">
            <a:avLst/>
          </a:prstGeom>
          <a:noFill/>
        </p:spPr>
        <p:txBody>
          <a:bodyPr wrap="square" lIns="36576" tIns="18288" rIns="36576" bIns="18288" anchor="t">
            <a:spAutoFit/>
          </a:bodyPr>
          <a:lstStyle/>
          <a:p>
            <a:pPr algn="r"/>
            <a:r>
              <a:rPr sz="950" b="0" i="0">
                <a:solidFill>
                  <a:srgbClr val="475569"/>
                </a:solidFill>
                <a:latin typeface="Be Vietnam Pro"/>
              </a:rPr>
              <a:t>neko-core:qwen3-4b-r2-cuda128-20260627   ·   3/14</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TextBox 1"/>
          <p:cNvSpPr txBox="1"/>
          <p:nvPr/>
        </p:nvSpPr>
        <p:spPr>
          <a:xfrm>
            <a:off x="502920" y="274320"/>
            <a:ext cx="11185855" cy="292608"/>
          </a:xfrm>
          <a:prstGeom prst="rect">
            <a:avLst/>
          </a:prstGeom>
          <a:noFill/>
        </p:spPr>
        <p:txBody>
          <a:bodyPr wrap="square" lIns="36576" tIns="18288" rIns="36576" bIns="18288" anchor="t">
            <a:spAutoFit/>
          </a:bodyPr>
          <a:lstStyle/>
          <a:p>
            <a:pPr algn="l"/>
            <a:r>
              <a:rPr sz="1250" b="1" i="0">
                <a:solidFill>
                  <a:srgbClr val="14B8A6"/>
                </a:solidFill>
                <a:latin typeface="Be Vietnam Pro"/>
              </a:rPr>
              <a:t>03 · Ý TƯỞNG</a:t>
            </a:r>
          </a:p>
        </p:txBody>
      </p:sp>
      <p:sp>
        <p:nvSpPr>
          <p:cNvPr id="3" name="TextBox 2"/>
          <p:cNvSpPr txBox="1"/>
          <p:nvPr/>
        </p:nvSpPr>
        <p:spPr>
          <a:xfrm>
            <a:off x="502920" y="548640"/>
            <a:ext cx="11185855" cy="640080"/>
          </a:xfrm>
          <a:prstGeom prst="rect">
            <a:avLst/>
          </a:prstGeom>
          <a:noFill/>
        </p:spPr>
        <p:txBody>
          <a:bodyPr wrap="square" lIns="36576" tIns="18288" rIns="36576" bIns="18288" anchor="t">
            <a:spAutoFit/>
          </a:bodyPr>
          <a:lstStyle/>
          <a:p>
            <a:pPr algn="l"/>
            <a:r>
              <a:rPr sz="2700" b="1" i="0">
                <a:solidFill>
                  <a:srgbClr val="0F172A"/>
                </a:solidFill>
                <a:latin typeface="Be Vietnam Pro"/>
              </a:rPr>
              <a:t>Ý tưởng cốt lõi</a:t>
            </a:r>
          </a:p>
        </p:txBody>
      </p:sp>
      <p:sp>
        <p:nvSpPr>
          <p:cNvPr id="4" name="Rounded Rectangle 3"/>
          <p:cNvSpPr/>
          <p:nvPr/>
        </p:nvSpPr>
        <p:spPr>
          <a:xfrm>
            <a:off x="502920" y="1188720"/>
            <a:ext cx="1920240" cy="50292"/>
          </a:xfrm>
          <a:prstGeom prst="roundRect">
            <a:avLst>
              <a:gd name="adj" fmla="val 50000"/>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endParaRPr/>
          </a:p>
        </p:txBody>
      </p:sp>
      <p:sp>
        <p:nvSpPr>
          <p:cNvPr id="5" name="TextBox 4"/>
          <p:cNvSpPr txBox="1"/>
          <p:nvPr/>
        </p:nvSpPr>
        <p:spPr>
          <a:xfrm>
            <a:off x="502920" y="1417320"/>
            <a:ext cx="11185855" cy="1051560"/>
          </a:xfrm>
          <a:prstGeom prst="rect">
            <a:avLst/>
          </a:prstGeom>
          <a:noFill/>
        </p:spPr>
        <p:txBody>
          <a:bodyPr wrap="square" lIns="36576" tIns="18288" rIns="36576" bIns="18288" anchor="ctr">
            <a:spAutoFit/>
          </a:bodyPr>
          <a:lstStyle/>
          <a:p>
            <a:pPr algn="ctr"/>
            <a:r>
              <a:rPr sz="1700" b="1" i="0">
                <a:solidFill>
                  <a:srgbClr val="0F172A"/>
                </a:solidFill>
                <a:latin typeface="Be Vietnam Pro"/>
              </a:rPr>
              <a:t>Đa số đội tối ưu accuracy </a:t>
            </a:r>
            <a:r>
              <a:rPr sz="1700" b="1" i="0">
                <a:solidFill>
                  <a:srgbClr val="475569"/>
                </a:solidFill>
                <a:latin typeface="Be Vietnam Pro"/>
              </a:rPr>
              <a:t>trên máy dev</a:t>
            </a:r>
            <a:r>
              <a:rPr sz="1700" b="1" i="0">
                <a:solidFill>
                  <a:srgbClr val="0F172A"/>
                </a:solidFill>
                <a:latin typeface="Be Vietnam Pro"/>
              </a:rPr>
              <a:t>. Neko Core tối ưu </a:t>
            </a:r>
            <a:r>
              <a:rPr sz="1700" b="1" i="0">
                <a:solidFill>
                  <a:srgbClr val="14B8A6"/>
                </a:solidFill>
                <a:latin typeface="Be Vietnam Pro"/>
              </a:rPr>
              <a:t>ĐIỂM KỲ VỌNG dưới bất định phần cứng</a:t>
            </a:r>
            <a:r>
              <a:rPr sz="1700" b="1" i="0">
                <a:solidFill>
                  <a:srgbClr val="0F172A"/>
                </a:solidFill>
                <a:latin typeface="Be Vietnam Pro"/>
              </a:rPr>
              <a:t> — và để </a:t>
            </a:r>
            <a:r>
              <a:rPr sz="1700" b="1" i="0">
                <a:solidFill>
                  <a:srgbClr val="14B8A6"/>
                </a:solidFill>
                <a:latin typeface="Be Vietnam Pro"/>
              </a:rPr>
              <a:t>PHÉP ĐO chọn giải pháp</a:t>
            </a:r>
            <a:r>
              <a:rPr sz="1700" b="1" i="0">
                <a:solidFill>
                  <a:srgbClr val="0F172A"/>
                </a:solidFill>
                <a:latin typeface="Be Vietnam Pro"/>
              </a:rPr>
              <a:t>, không phải linh cảm.</a:t>
            </a:r>
          </a:p>
        </p:txBody>
      </p:sp>
      <p:sp>
        <p:nvSpPr>
          <p:cNvPr id="6" name="Rounded Rectangle 5"/>
          <p:cNvSpPr/>
          <p:nvPr/>
        </p:nvSpPr>
        <p:spPr>
          <a:xfrm>
            <a:off x="502920" y="2651760"/>
            <a:ext cx="5410047" cy="2057400"/>
          </a:xfrm>
          <a:prstGeom prst="roundRect">
            <a:avLst>
              <a:gd name="adj" fmla="val 6000"/>
            </a:avLst>
          </a:prstGeom>
          <a:solidFill>
            <a:srgbClr val="FFFFFF"/>
          </a:solidFill>
          <a:ln w="15875">
            <a:solidFill>
              <a:srgbClr val="14B8A6"/>
            </a:solid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t"/>
          <a:lstStyle/>
          <a:p>
            <a:pPr algn="l">
              <a:spcAft>
                <a:spcPts val="600"/>
              </a:spcAft>
            </a:pPr>
            <a:r>
              <a:rPr sz="1400" b="1" i="0">
                <a:solidFill>
                  <a:srgbClr val="14B8A6"/>
                </a:solidFill>
                <a:latin typeface="Be Vietnam Pro"/>
              </a:rPr>
              <a:t>① Chọn-bằng-ĐO, không bằng linh cảm</a:t>
            </a:r>
          </a:p>
          <a:p>
            <a:pPr algn="l">
              <a:spcAft>
                <a:spcPts val="600"/>
              </a:spcAft>
            </a:pPr>
            <a:r>
              <a:rPr sz="1200" b="0" i="0">
                <a:solidFill>
                  <a:srgbClr val="0F172A"/>
                </a:solidFill>
                <a:latin typeface="Be Vietnam Pro"/>
              </a:rPr>
              <a:t>Xây cả một 'xưởng' chiến lược → đo từng cái trên held-out → ship cái THẮNG (hoá ra là CoT đơn).</a:t>
            </a:r>
          </a:p>
          <a:p>
            <a:pPr algn="l">
              <a:spcAft>
                <a:spcPts val="300"/>
              </a:spcAft>
            </a:pPr>
            <a:r>
              <a:rPr sz="1200" b="0" i="0">
                <a:solidFill>
                  <a:srgbClr val="0F172A"/>
                </a:solidFill>
                <a:latin typeface="Be Vietnam Pro"/>
              </a:rPr>
              <a:t>Loại thẳng tay cái hại — có bằng chứng đo:</a:t>
            </a:r>
          </a:p>
          <a:p>
            <a:pPr algn="l"/>
            <a:r>
              <a:rPr sz="1250" b="1" i="0">
                <a:solidFill>
                  <a:srgbClr val="DC2626"/>
                </a:solidFill>
                <a:latin typeface="Be Vietnam Pro"/>
              </a:rPr>
              <a:t>FT −4.44 · TIR −16.52 · RAG ảo / phạm luật</a:t>
            </a:r>
          </a:p>
        </p:txBody>
      </p:sp>
      <p:sp>
        <p:nvSpPr>
          <p:cNvPr id="7" name="Rounded Rectangle 6"/>
          <p:cNvSpPr/>
          <p:nvPr/>
        </p:nvSpPr>
        <p:spPr>
          <a:xfrm>
            <a:off x="6278727" y="2651760"/>
            <a:ext cx="5410047" cy="2057400"/>
          </a:xfrm>
          <a:prstGeom prst="roundRect">
            <a:avLst>
              <a:gd name="adj" fmla="val 6000"/>
            </a:avLst>
          </a:prstGeom>
          <a:solidFill>
            <a:srgbClr val="FFFFFF"/>
          </a:solidFill>
          <a:ln w="15875">
            <a:solidFill>
              <a:srgbClr val="16A34A"/>
            </a:solid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t"/>
          <a:lstStyle/>
          <a:p>
            <a:pPr algn="l">
              <a:spcAft>
                <a:spcPts val="600"/>
              </a:spcAft>
            </a:pPr>
            <a:r>
              <a:rPr sz="1400" b="1" i="0">
                <a:solidFill>
                  <a:srgbClr val="16A34A"/>
                </a:solidFill>
                <a:latin typeface="Be Vietnam Pro"/>
              </a:rPr>
              <a:t>② Kỹ thuật KHÔNG-BAO-GIỜ-0-điểm</a:t>
            </a:r>
          </a:p>
          <a:p>
            <a:pPr algn="l">
              <a:spcAft>
                <a:spcPts val="600"/>
              </a:spcAft>
            </a:pPr>
            <a:r>
              <a:rPr sz="1200" b="0" i="0">
                <a:solidFill>
                  <a:srgbClr val="0F172A"/>
                </a:solidFill>
                <a:latin typeface="Be Vietnam Pro"/>
              </a:rPr>
              <a:t>Thảm hoạ contest chấm-Docker = container 0 điểm (OOM / timeout / crash / sai GPU).</a:t>
            </a:r>
          </a:p>
          <a:p>
            <a:pPr algn="l">
              <a:spcAft>
                <a:spcPts val="400"/>
              </a:spcAft>
            </a:pPr>
            <a:r>
              <a:rPr sz="1200" b="0" i="0">
                <a:solidFill>
                  <a:srgbClr val="0F172A"/>
                </a:solidFill>
                <a:latin typeface="Be Vietnam Pro"/>
              </a:rPr>
              <a:t>→ engineer: arch-portable mọi GPU + hợp đồng submission.csv bất khả xâm phạm + checkpoint/resume.</a:t>
            </a:r>
          </a:p>
          <a:p>
            <a:pPr algn="l"/>
            <a:r>
              <a:rPr sz="1200" b="1" i="0">
                <a:solidFill>
                  <a:srgbClr val="0F172A"/>
                </a:solidFill>
                <a:latin typeface="Be Vietnam Pro"/>
              </a:rPr>
              <a:t>Robust trên MỌI phần cứng của BTC.</a:t>
            </a:r>
          </a:p>
        </p:txBody>
      </p:sp>
      <p:sp>
        <p:nvSpPr>
          <p:cNvPr id="8" name="Rounded Rectangle 7"/>
          <p:cNvSpPr/>
          <p:nvPr/>
        </p:nvSpPr>
        <p:spPr>
          <a:xfrm>
            <a:off x="502920" y="4892040"/>
            <a:ext cx="11185855" cy="658368"/>
          </a:xfrm>
          <a:prstGeom prst="roundRect">
            <a:avLst>
              <a:gd name="adj" fmla="val 6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r>
              <a:rPr sz="1500" b="1" i="0">
                <a:solidFill>
                  <a:srgbClr val="FFFFFF"/>
                </a:solidFill>
                <a:latin typeface="Be Vietnam Pro"/>
              </a:rPr>
              <a:t>Cái MỚI không nằm ở mô hình — mà ở </a:t>
            </a:r>
            <a:r>
              <a:rPr sz="1500" b="1" i="0">
                <a:solidFill>
                  <a:srgbClr val="14B8A6"/>
                </a:solidFill>
                <a:latin typeface="Be Vietnam Pro"/>
              </a:rPr>
              <a:t>CÁCH chọn (đo lường)</a:t>
            </a:r>
            <a:r>
              <a:rPr sz="1500" b="1" i="0">
                <a:solidFill>
                  <a:srgbClr val="FFFFFF"/>
                </a:solidFill>
                <a:latin typeface="Be Vietnam Pro"/>
              </a:rPr>
              <a:t> và </a:t>
            </a:r>
            <a:r>
              <a:rPr sz="1500" b="1" i="0">
                <a:solidFill>
                  <a:srgbClr val="14B8A6"/>
                </a:solidFill>
                <a:latin typeface="Be Vietnam Pro"/>
              </a:rPr>
              <a:t>CÁCH đảm bảo (không-0-điểm)</a:t>
            </a:r>
            <a:r>
              <a:rPr sz="1500" b="1" i="0">
                <a:solidFill>
                  <a:srgbClr val="FFFFFF"/>
                </a:solidFill>
                <a:latin typeface="Be Vietnam Pro"/>
              </a:rPr>
              <a:t>.</a:t>
            </a:r>
          </a:p>
        </p:txBody>
      </p:sp>
      <p:sp>
        <p:nvSpPr>
          <p:cNvPr id="9" name="Rectangle 8"/>
          <p:cNvSpPr/>
          <p:nvPr/>
        </p:nvSpPr>
        <p:spPr>
          <a:xfrm>
            <a:off x="502920" y="6419088"/>
            <a:ext cx="11185855"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endParaRPr/>
          </a:p>
        </p:txBody>
      </p:sp>
      <p:sp>
        <p:nvSpPr>
          <p:cNvPr id="10" name="TextBox 9"/>
          <p:cNvSpPr txBox="1"/>
          <p:nvPr/>
        </p:nvSpPr>
        <p:spPr>
          <a:xfrm>
            <a:off x="502920" y="6455664"/>
            <a:ext cx="6711513" cy="292608"/>
          </a:xfrm>
          <a:prstGeom prst="rect">
            <a:avLst/>
          </a:prstGeom>
          <a:noFill/>
        </p:spPr>
        <p:txBody>
          <a:bodyPr wrap="square" lIns="36576" tIns="18288" rIns="36576" bIns="18288" anchor="t">
            <a:spAutoFit/>
          </a:bodyPr>
          <a:lstStyle/>
          <a:p>
            <a:pPr algn="l"/>
            <a:r>
              <a:rPr sz="950" b="0" i="0">
                <a:solidFill>
                  <a:srgbClr val="475569"/>
                </a:solidFill>
                <a:latin typeface="Be Vietnam Pro"/>
              </a:rPr>
              <a:t>Neko Core  ·  Đại học Hàng hải Việt Nam (VMU)</a:t>
            </a:r>
          </a:p>
        </p:txBody>
      </p:sp>
      <p:sp>
        <p:nvSpPr>
          <p:cNvPr id="11" name="TextBox 10"/>
          <p:cNvSpPr txBox="1"/>
          <p:nvPr/>
        </p:nvSpPr>
        <p:spPr>
          <a:xfrm>
            <a:off x="5536554" y="6455664"/>
            <a:ext cx="6152220" cy="292608"/>
          </a:xfrm>
          <a:prstGeom prst="rect">
            <a:avLst/>
          </a:prstGeom>
          <a:noFill/>
        </p:spPr>
        <p:txBody>
          <a:bodyPr wrap="square" lIns="36576" tIns="18288" rIns="36576" bIns="18288" anchor="t">
            <a:spAutoFit/>
          </a:bodyPr>
          <a:lstStyle/>
          <a:p>
            <a:pPr algn="r"/>
            <a:r>
              <a:rPr sz="950" b="0" i="0">
                <a:solidFill>
                  <a:srgbClr val="475569"/>
                </a:solidFill>
                <a:latin typeface="Be Vietnam Pro"/>
              </a:rPr>
              <a:t>neko-core:qwen3-4b-r2-cuda128-20260627   ·   4/14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TextBox 1"/>
          <p:cNvSpPr txBox="1"/>
          <p:nvPr/>
        </p:nvSpPr>
        <p:spPr>
          <a:xfrm>
            <a:off x="502920" y="274320"/>
            <a:ext cx="11185855" cy="292608"/>
          </a:xfrm>
          <a:prstGeom prst="rect">
            <a:avLst/>
          </a:prstGeom>
          <a:noFill/>
        </p:spPr>
        <p:txBody>
          <a:bodyPr wrap="square" lIns="36576" tIns="18288" rIns="36576" bIns="18288" anchor="t">
            <a:spAutoFit/>
          </a:bodyPr>
          <a:lstStyle/>
          <a:p>
            <a:pPr algn="l"/>
            <a:r>
              <a:rPr sz="1250" b="1" i="0">
                <a:solidFill>
                  <a:srgbClr val="14B8A6"/>
                </a:solidFill>
                <a:latin typeface="Be Vietnam Pro"/>
              </a:rPr>
              <a:t>04 · HARNESS</a:t>
            </a:r>
          </a:p>
        </p:txBody>
      </p:sp>
      <p:sp>
        <p:nvSpPr>
          <p:cNvPr id="3" name="TextBox 2"/>
          <p:cNvSpPr txBox="1"/>
          <p:nvPr/>
        </p:nvSpPr>
        <p:spPr>
          <a:xfrm>
            <a:off x="502920" y="548640"/>
            <a:ext cx="11185855" cy="640080"/>
          </a:xfrm>
          <a:prstGeom prst="rect">
            <a:avLst/>
          </a:prstGeom>
          <a:noFill/>
        </p:spPr>
        <p:txBody>
          <a:bodyPr wrap="square" lIns="36576" tIns="18288" rIns="36576" bIns="18288" anchor="t">
            <a:spAutoFit/>
          </a:bodyPr>
          <a:lstStyle/>
          <a:p>
            <a:pPr algn="l"/>
            <a:r>
              <a:rPr sz="2700" b="1" i="0">
                <a:solidFill>
                  <a:srgbClr val="0F172A"/>
                </a:solidFill>
                <a:latin typeface="Be Vietnam Pro"/>
              </a:rPr>
              <a:t>Kiến trúc: một 'foundry chiến lược' composable</a:t>
            </a:r>
          </a:p>
        </p:txBody>
      </p:sp>
      <p:sp>
        <p:nvSpPr>
          <p:cNvPr id="4" name="Rounded Rectangle 3"/>
          <p:cNvSpPr/>
          <p:nvPr/>
        </p:nvSpPr>
        <p:spPr>
          <a:xfrm>
            <a:off x="502920" y="1188720"/>
            <a:ext cx="1920240" cy="50292"/>
          </a:xfrm>
          <a:prstGeom prst="roundRect">
            <a:avLst>
              <a:gd name="adj" fmla="val 50000"/>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endParaRPr/>
          </a:p>
        </p:txBody>
      </p:sp>
      <p:sp>
        <p:nvSpPr>
          <p:cNvPr id="5" name="Rounded Rectangle 4"/>
          <p:cNvSpPr/>
          <p:nvPr/>
        </p:nvSpPr>
        <p:spPr>
          <a:xfrm>
            <a:off x="847191" y="1600200"/>
            <a:ext cx="1627632" cy="777240"/>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r>
              <a:rPr sz="1100" b="0" i="0">
                <a:solidFill>
                  <a:srgbClr val="0F172A"/>
                </a:solidFill>
                <a:latin typeface="Consolas"/>
              </a:rPr>
              <a:t>loader</a:t>
            </a:r>
          </a:p>
        </p:txBody>
      </p:sp>
      <p:sp>
        <p:nvSpPr>
          <p:cNvPr id="6" name="TextBox 5"/>
          <p:cNvSpPr txBox="1"/>
          <p:nvPr/>
        </p:nvSpPr>
        <p:spPr>
          <a:xfrm>
            <a:off x="2429103" y="1600200"/>
            <a:ext cx="237744" cy="777240"/>
          </a:xfrm>
          <a:prstGeom prst="rect">
            <a:avLst/>
          </a:prstGeom>
          <a:noFill/>
        </p:spPr>
        <p:txBody>
          <a:bodyPr wrap="square" lIns="36576" tIns="18288" rIns="36576" bIns="18288" anchor="ctr">
            <a:spAutoFit/>
          </a:bodyPr>
          <a:lstStyle/>
          <a:p>
            <a:pPr algn="ctr"/>
            <a:r>
              <a:rPr sz="1600" b="1" i="0">
                <a:solidFill>
                  <a:srgbClr val="14B8A6"/>
                </a:solidFill>
                <a:latin typeface="Be Vietnam Pro"/>
              </a:rPr>
              <a:t>→</a:t>
            </a:r>
          </a:p>
        </p:txBody>
      </p:sp>
      <p:sp>
        <p:nvSpPr>
          <p:cNvPr id="7" name="Rounded Rectangle 6"/>
          <p:cNvSpPr/>
          <p:nvPr/>
        </p:nvSpPr>
        <p:spPr>
          <a:xfrm>
            <a:off x="2621127" y="1600200"/>
            <a:ext cx="1627632" cy="777240"/>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r>
              <a:rPr sz="1100" b="0" i="0">
                <a:solidFill>
                  <a:srgbClr val="0F172A"/>
                </a:solidFill>
                <a:latin typeface="Consolas"/>
              </a:rPr>
              <a:t>router /
classifier</a:t>
            </a:r>
          </a:p>
        </p:txBody>
      </p:sp>
      <p:sp>
        <p:nvSpPr>
          <p:cNvPr id="8" name="TextBox 7"/>
          <p:cNvSpPr txBox="1"/>
          <p:nvPr/>
        </p:nvSpPr>
        <p:spPr>
          <a:xfrm>
            <a:off x="4203039" y="1600200"/>
            <a:ext cx="237744" cy="777240"/>
          </a:xfrm>
          <a:prstGeom prst="rect">
            <a:avLst/>
          </a:prstGeom>
          <a:noFill/>
        </p:spPr>
        <p:txBody>
          <a:bodyPr wrap="square" lIns="36576" tIns="18288" rIns="36576" bIns="18288" anchor="ctr">
            <a:spAutoFit/>
          </a:bodyPr>
          <a:lstStyle/>
          <a:p>
            <a:pPr algn="ctr"/>
            <a:r>
              <a:rPr sz="1600" b="1" i="0">
                <a:solidFill>
                  <a:srgbClr val="14B8A6"/>
                </a:solidFill>
                <a:latin typeface="Be Vietnam Pro"/>
              </a:rPr>
              <a:t>→</a:t>
            </a:r>
          </a:p>
        </p:txBody>
      </p:sp>
      <p:sp>
        <p:nvSpPr>
          <p:cNvPr id="9" name="Rounded Rectangle 8"/>
          <p:cNvSpPr/>
          <p:nvPr/>
        </p:nvSpPr>
        <p:spPr>
          <a:xfrm>
            <a:off x="4395063" y="1600200"/>
            <a:ext cx="1627632" cy="777240"/>
          </a:xfrm>
          <a:prstGeom prst="roundRect">
            <a:avLst>
              <a:gd name="adj" fmla="val 6000"/>
            </a:avLst>
          </a:prstGeom>
          <a:solidFill>
            <a:srgbClr val="E6FAF7"/>
          </a:solidFill>
          <a:ln w="15875">
            <a:solidFill>
              <a:srgbClr val="14B8A6"/>
            </a:solid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r>
              <a:rPr sz="1100" b="1" i="0">
                <a:solidFill>
                  <a:srgbClr val="0F172A"/>
                </a:solidFill>
                <a:latin typeface="Consolas"/>
              </a:rPr>
              <a:t>solver
(CoT · k=1)</a:t>
            </a:r>
          </a:p>
        </p:txBody>
      </p:sp>
      <p:sp>
        <p:nvSpPr>
          <p:cNvPr id="10" name="TextBox 9"/>
          <p:cNvSpPr txBox="1"/>
          <p:nvPr/>
        </p:nvSpPr>
        <p:spPr>
          <a:xfrm>
            <a:off x="5976975" y="1600200"/>
            <a:ext cx="237744" cy="777240"/>
          </a:xfrm>
          <a:prstGeom prst="rect">
            <a:avLst/>
          </a:prstGeom>
          <a:noFill/>
        </p:spPr>
        <p:txBody>
          <a:bodyPr wrap="square" lIns="36576" tIns="18288" rIns="36576" bIns="18288" anchor="ctr">
            <a:spAutoFit/>
          </a:bodyPr>
          <a:lstStyle/>
          <a:p>
            <a:pPr algn="ctr"/>
            <a:r>
              <a:rPr sz="1600" b="1" i="0">
                <a:solidFill>
                  <a:srgbClr val="14B8A6"/>
                </a:solidFill>
                <a:latin typeface="Be Vietnam Pro"/>
              </a:rPr>
              <a:t>→</a:t>
            </a:r>
          </a:p>
        </p:txBody>
      </p:sp>
      <p:sp>
        <p:nvSpPr>
          <p:cNvPr id="11" name="Rounded Rectangle 10"/>
          <p:cNvSpPr/>
          <p:nvPr/>
        </p:nvSpPr>
        <p:spPr>
          <a:xfrm>
            <a:off x="6168999" y="1600200"/>
            <a:ext cx="1627632" cy="777240"/>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r>
              <a:rPr sz="1100" b="0" i="0">
                <a:solidFill>
                  <a:srgbClr val="0F172A"/>
                </a:solidFill>
                <a:latin typeface="Consolas"/>
              </a:rPr>
              <a:t>normalizer</a:t>
            </a:r>
          </a:p>
        </p:txBody>
      </p:sp>
      <p:sp>
        <p:nvSpPr>
          <p:cNvPr id="12" name="TextBox 11"/>
          <p:cNvSpPr txBox="1"/>
          <p:nvPr/>
        </p:nvSpPr>
        <p:spPr>
          <a:xfrm>
            <a:off x="7750911" y="1600200"/>
            <a:ext cx="237744" cy="777240"/>
          </a:xfrm>
          <a:prstGeom prst="rect">
            <a:avLst/>
          </a:prstGeom>
          <a:noFill/>
        </p:spPr>
        <p:txBody>
          <a:bodyPr wrap="square" lIns="36576" tIns="18288" rIns="36576" bIns="18288" anchor="ctr">
            <a:spAutoFit/>
          </a:bodyPr>
          <a:lstStyle/>
          <a:p>
            <a:pPr algn="ctr"/>
            <a:r>
              <a:rPr sz="1600" b="1" i="0">
                <a:solidFill>
                  <a:srgbClr val="14B8A6"/>
                </a:solidFill>
                <a:latin typeface="Be Vietnam Pro"/>
              </a:rPr>
              <a:t>→</a:t>
            </a:r>
          </a:p>
        </p:txBody>
      </p:sp>
      <p:sp>
        <p:nvSpPr>
          <p:cNvPr id="13" name="Rounded Rectangle 12"/>
          <p:cNvSpPr/>
          <p:nvPr/>
        </p:nvSpPr>
        <p:spPr>
          <a:xfrm>
            <a:off x="7942935" y="1600200"/>
            <a:ext cx="1627632" cy="777240"/>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r>
              <a:rPr sz="1100" b="0" i="0">
                <a:solidFill>
                  <a:srgbClr val="0F172A"/>
                </a:solidFill>
                <a:latin typeface="Consolas"/>
              </a:rPr>
              <a:t>constrained
repair (GBNF)</a:t>
            </a:r>
          </a:p>
        </p:txBody>
      </p:sp>
      <p:sp>
        <p:nvSpPr>
          <p:cNvPr id="14" name="TextBox 13"/>
          <p:cNvSpPr txBox="1"/>
          <p:nvPr/>
        </p:nvSpPr>
        <p:spPr>
          <a:xfrm>
            <a:off x="9524847" y="1600200"/>
            <a:ext cx="237744" cy="777240"/>
          </a:xfrm>
          <a:prstGeom prst="rect">
            <a:avLst/>
          </a:prstGeom>
          <a:noFill/>
        </p:spPr>
        <p:txBody>
          <a:bodyPr wrap="square" lIns="36576" tIns="18288" rIns="36576" bIns="18288" anchor="ctr">
            <a:spAutoFit/>
          </a:bodyPr>
          <a:lstStyle/>
          <a:p>
            <a:pPr algn="ctr"/>
            <a:r>
              <a:rPr sz="1600" b="1" i="0">
                <a:solidFill>
                  <a:srgbClr val="14B8A6"/>
                </a:solidFill>
                <a:latin typeface="Be Vietnam Pro"/>
              </a:rPr>
              <a:t>→</a:t>
            </a:r>
          </a:p>
        </p:txBody>
      </p:sp>
      <p:sp>
        <p:nvSpPr>
          <p:cNvPr id="15" name="Rounded Rectangle 14"/>
          <p:cNvSpPr/>
          <p:nvPr/>
        </p:nvSpPr>
        <p:spPr>
          <a:xfrm>
            <a:off x="9716871" y="1600200"/>
            <a:ext cx="1627632" cy="777240"/>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r>
              <a:rPr sz="1100" b="0" i="0">
                <a:solidFill>
                  <a:srgbClr val="0F172A"/>
                </a:solidFill>
                <a:latin typeface="Consolas"/>
              </a:rPr>
              <a:t>contract
repair</a:t>
            </a:r>
          </a:p>
        </p:txBody>
      </p:sp>
      <p:sp>
        <p:nvSpPr>
          <p:cNvPr id="16" name="TextBox 15"/>
          <p:cNvSpPr txBox="1"/>
          <p:nvPr/>
        </p:nvSpPr>
        <p:spPr>
          <a:xfrm>
            <a:off x="847191" y="2468880"/>
            <a:ext cx="10497312" cy="320040"/>
          </a:xfrm>
          <a:prstGeom prst="rect">
            <a:avLst/>
          </a:prstGeom>
          <a:noFill/>
        </p:spPr>
        <p:txBody>
          <a:bodyPr wrap="square" lIns="36576" tIns="18288" rIns="36576" bIns="18288" anchor="t">
            <a:spAutoFit/>
          </a:bodyPr>
          <a:lstStyle/>
          <a:p>
            <a:pPr algn="ctr"/>
            <a:r>
              <a:rPr sz="1150" b="0" i="0">
                <a:solidFill>
                  <a:srgbClr val="475569"/>
                </a:solidFill>
                <a:latin typeface="Consolas"/>
              </a:rPr>
              <a:t>/code/private_test.json   →   …   →   /code/submission.csv + submission_time.csv</a:t>
            </a:r>
          </a:p>
        </p:txBody>
      </p:sp>
      <p:sp>
        <p:nvSpPr>
          <p:cNvPr id="17" name="TextBox 16"/>
          <p:cNvSpPr txBox="1"/>
          <p:nvPr/>
        </p:nvSpPr>
        <p:spPr>
          <a:xfrm>
            <a:off x="502920" y="2971800"/>
            <a:ext cx="11185855" cy="320040"/>
          </a:xfrm>
          <a:prstGeom prst="rect">
            <a:avLst/>
          </a:prstGeom>
          <a:noFill/>
        </p:spPr>
        <p:txBody>
          <a:bodyPr wrap="square" lIns="36576" tIns="18288" rIns="36576" bIns="18288" anchor="t">
            <a:spAutoFit/>
          </a:bodyPr>
          <a:lstStyle/>
          <a:p>
            <a:pPr algn="l"/>
            <a:r>
              <a:rPr sz="1250" b="1" i="0">
                <a:solidFill>
                  <a:srgbClr val="0F172A"/>
                </a:solidFill>
                <a:latin typeface="Be Vietnam Pro"/>
              </a:rPr>
              <a:t>Strategy hoán đổi được (typed processor, sau policy gate):</a:t>
            </a:r>
          </a:p>
        </p:txBody>
      </p:sp>
      <p:sp>
        <p:nvSpPr>
          <p:cNvPr id="18" name="Rounded Rectangle 17"/>
          <p:cNvSpPr/>
          <p:nvPr/>
        </p:nvSpPr>
        <p:spPr>
          <a:xfrm>
            <a:off x="502920" y="3337560"/>
            <a:ext cx="1874519" cy="502920"/>
          </a:xfrm>
          <a:prstGeom prst="roundRect">
            <a:avLst>
              <a:gd name="adj" fmla="val 6000"/>
            </a:avLst>
          </a:prstGeom>
          <a:solidFill>
            <a:srgbClr val="E6FAF7"/>
          </a:solidFill>
          <a:ln w="15875">
            <a:solidFill>
              <a:srgbClr val="14B8A6"/>
            </a:solid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r>
              <a:rPr sz="1150" b="1" i="0">
                <a:solidFill>
                  <a:srgbClr val="16A34A"/>
                </a:solidFill>
                <a:latin typeface="Consolas"/>
              </a:rPr>
              <a:t>✓ self-consistency  (ship)</a:t>
            </a:r>
          </a:p>
        </p:txBody>
      </p:sp>
      <p:sp>
        <p:nvSpPr>
          <p:cNvPr id="19" name="Rounded Rectangle 18"/>
          <p:cNvSpPr/>
          <p:nvPr/>
        </p:nvSpPr>
        <p:spPr>
          <a:xfrm>
            <a:off x="2560320" y="3337560"/>
            <a:ext cx="1874519" cy="502920"/>
          </a:xfrm>
          <a:prstGeom prst="roundRect">
            <a:avLst>
              <a:gd name="adj" fmla="val 6000"/>
            </a:avLst>
          </a:prstGeom>
          <a:solidFill>
            <a:srgbClr val="EEF2F6"/>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r>
              <a:rPr sz="1150" b="0" i="0">
                <a:solidFill>
                  <a:srgbClr val="475569"/>
                </a:solidFill>
                <a:latin typeface="Consolas"/>
              </a:rPr>
              <a:t>tiered</a:t>
            </a:r>
          </a:p>
        </p:txBody>
      </p:sp>
      <p:sp>
        <p:nvSpPr>
          <p:cNvPr id="20" name="Rounded Rectangle 19"/>
          <p:cNvSpPr/>
          <p:nvPr/>
        </p:nvSpPr>
        <p:spPr>
          <a:xfrm>
            <a:off x="4617720" y="3337560"/>
            <a:ext cx="1874519" cy="502920"/>
          </a:xfrm>
          <a:prstGeom prst="roundRect">
            <a:avLst>
              <a:gd name="adj" fmla="val 6000"/>
            </a:avLst>
          </a:prstGeom>
          <a:solidFill>
            <a:srgbClr val="EEF2F6"/>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r>
              <a:rPr sz="1150" b="0" i="0">
                <a:solidFill>
                  <a:srgbClr val="475569"/>
                </a:solidFill>
                <a:latin typeface="Consolas"/>
              </a:rPr>
              <a:t>TIR</a:t>
            </a:r>
          </a:p>
        </p:txBody>
      </p:sp>
      <p:sp>
        <p:nvSpPr>
          <p:cNvPr id="21" name="Rounded Rectangle 20"/>
          <p:cNvSpPr/>
          <p:nvPr/>
        </p:nvSpPr>
        <p:spPr>
          <a:xfrm>
            <a:off x="6675120" y="3337560"/>
            <a:ext cx="1874519" cy="502920"/>
          </a:xfrm>
          <a:prstGeom prst="roundRect">
            <a:avLst>
              <a:gd name="adj" fmla="val 6000"/>
            </a:avLst>
          </a:prstGeom>
          <a:solidFill>
            <a:srgbClr val="EEF2F6"/>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r>
              <a:rPr sz="1150" b="0" i="0">
                <a:solidFill>
                  <a:srgbClr val="475569"/>
                </a:solidFill>
                <a:latin typeface="Consolas"/>
              </a:rPr>
              <a:t>reading</a:t>
            </a:r>
          </a:p>
        </p:txBody>
      </p:sp>
      <p:sp>
        <p:nvSpPr>
          <p:cNvPr id="22" name="Rounded Rectangle 21"/>
          <p:cNvSpPr/>
          <p:nvPr/>
        </p:nvSpPr>
        <p:spPr>
          <a:xfrm>
            <a:off x="8732520" y="3337560"/>
            <a:ext cx="1874519" cy="502920"/>
          </a:xfrm>
          <a:prstGeom prst="roundRect">
            <a:avLst>
              <a:gd name="adj" fmla="val 6000"/>
            </a:avLst>
          </a:prstGeom>
          <a:solidFill>
            <a:srgbClr val="EEF2F6"/>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r>
              <a:rPr sz="1150" b="0" i="0">
                <a:solidFill>
                  <a:srgbClr val="475569"/>
                </a:solidFill>
                <a:latin typeface="Consolas"/>
              </a:rPr>
              <a:t>rag</a:t>
            </a:r>
          </a:p>
        </p:txBody>
      </p:sp>
      <p:sp>
        <p:nvSpPr>
          <p:cNvPr id="23" name="Rounded Rectangle 22"/>
          <p:cNvSpPr/>
          <p:nvPr/>
        </p:nvSpPr>
        <p:spPr>
          <a:xfrm>
            <a:off x="502920" y="4114800"/>
            <a:ext cx="11185855" cy="868680"/>
          </a:xfrm>
          <a:prstGeom prst="roundRect">
            <a:avLst>
              <a:gd name="adj" fmla="val 6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r>
              <a:rPr sz="1500" b="1" i="0">
                <a:solidFill>
                  <a:srgbClr val="FFFFFF"/>
                </a:solidFill>
                <a:latin typeface="Be Vietnam Pro"/>
              </a:rPr>
              <a:t>Chúng em xây cả một FOUNDRY chiến lược — rồi chọn cấu hình ship </a:t>
            </a:r>
            <a:r>
              <a:rPr sz="1500" b="1" i="0">
                <a:solidFill>
                  <a:srgbClr val="14B8A6"/>
                </a:solidFill>
                <a:latin typeface="Be Vietnam Pro"/>
              </a:rPr>
              <a:t>BẰNG ĐO held-out</a:t>
            </a:r>
            <a:r>
              <a:rPr sz="1500" b="1" i="0">
                <a:solidFill>
                  <a:srgbClr val="FFFFFF"/>
                </a:solidFill>
                <a:latin typeface="Be Vietnam Pro"/>
              </a:rPr>
              <a:t>, không bằng linh cảm. Cái gì ship là kẻ thắng của một phép đo.</a:t>
            </a:r>
          </a:p>
        </p:txBody>
      </p:sp>
      <p:sp>
        <p:nvSpPr>
          <p:cNvPr id="24" name="Rectangle 23"/>
          <p:cNvSpPr/>
          <p:nvPr/>
        </p:nvSpPr>
        <p:spPr>
          <a:xfrm>
            <a:off x="502920" y="6419088"/>
            <a:ext cx="11185855"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endParaRPr/>
          </a:p>
        </p:txBody>
      </p:sp>
      <p:sp>
        <p:nvSpPr>
          <p:cNvPr id="25" name="TextBox 24"/>
          <p:cNvSpPr txBox="1"/>
          <p:nvPr/>
        </p:nvSpPr>
        <p:spPr>
          <a:xfrm>
            <a:off x="502920" y="6455664"/>
            <a:ext cx="6711513" cy="292608"/>
          </a:xfrm>
          <a:prstGeom prst="rect">
            <a:avLst/>
          </a:prstGeom>
          <a:noFill/>
        </p:spPr>
        <p:txBody>
          <a:bodyPr wrap="square" lIns="36576" tIns="18288" rIns="36576" bIns="18288" anchor="t">
            <a:spAutoFit/>
          </a:bodyPr>
          <a:lstStyle/>
          <a:p>
            <a:pPr algn="l"/>
            <a:r>
              <a:rPr sz="950" b="0" i="0">
                <a:solidFill>
                  <a:srgbClr val="475569"/>
                </a:solidFill>
                <a:latin typeface="Be Vietnam Pro"/>
              </a:rPr>
              <a:t>Neko Core  ·  Đại học Hàng hải Việt Nam (VMU)</a:t>
            </a:r>
          </a:p>
        </p:txBody>
      </p:sp>
      <p:sp>
        <p:nvSpPr>
          <p:cNvPr id="26" name="TextBox 25"/>
          <p:cNvSpPr txBox="1"/>
          <p:nvPr/>
        </p:nvSpPr>
        <p:spPr>
          <a:xfrm>
            <a:off x="5536554" y="6455664"/>
            <a:ext cx="6152220" cy="292608"/>
          </a:xfrm>
          <a:prstGeom prst="rect">
            <a:avLst/>
          </a:prstGeom>
          <a:noFill/>
        </p:spPr>
        <p:txBody>
          <a:bodyPr wrap="square" lIns="36576" tIns="18288" rIns="36576" bIns="18288" anchor="t">
            <a:spAutoFit/>
          </a:bodyPr>
          <a:lstStyle/>
          <a:p>
            <a:pPr algn="r"/>
            <a:r>
              <a:rPr sz="950" b="0" i="0">
                <a:solidFill>
                  <a:srgbClr val="475569"/>
                </a:solidFill>
                <a:latin typeface="Be Vietnam Pro"/>
              </a:rPr>
              <a:t>neko-core:qwen3-4b-r2-cuda128-20260627   ·   5/14</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TextBox 1"/>
          <p:cNvSpPr txBox="1"/>
          <p:nvPr/>
        </p:nvSpPr>
        <p:spPr>
          <a:xfrm>
            <a:off x="502920" y="274320"/>
            <a:ext cx="11185855" cy="292608"/>
          </a:xfrm>
          <a:prstGeom prst="rect">
            <a:avLst/>
          </a:prstGeom>
          <a:noFill/>
        </p:spPr>
        <p:txBody>
          <a:bodyPr wrap="square" lIns="36576" tIns="18288" rIns="36576" bIns="18288" anchor="t">
            <a:spAutoFit/>
          </a:bodyPr>
          <a:lstStyle/>
          <a:p>
            <a:pPr algn="l"/>
            <a:r>
              <a:rPr sz="1250" b="1" i="0">
                <a:solidFill>
                  <a:srgbClr val="14B8A6"/>
                </a:solidFill>
                <a:latin typeface="Be Vietnam Pro"/>
              </a:rPr>
              <a:t>05 · BẢN LĨNH THÍCH NGHI</a:t>
            </a:r>
          </a:p>
        </p:txBody>
      </p:sp>
      <p:sp>
        <p:nvSpPr>
          <p:cNvPr id="3" name="TextBox 2"/>
          <p:cNvSpPr txBox="1"/>
          <p:nvPr/>
        </p:nvSpPr>
        <p:spPr>
          <a:xfrm>
            <a:off x="502920" y="548640"/>
            <a:ext cx="11185855" cy="640080"/>
          </a:xfrm>
          <a:prstGeom prst="rect">
            <a:avLst/>
          </a:prstGeom>
          <a:noFill/>
        </p:spPr>
        <p:txBody>
          <a:bodyPr wrap="square" lIns="36576" tIns="18288" rIns="36576" bIns="18288" anchor="t">
            <a:spAutoFit/>
          </a:bodyPr>
          <a:lstStyle/>
          <a:p>
            <a:pPr algn="l"/>
            <a:r>
              <a:rPr sz="2700" b="1" i="0">
                <a:solidFill>
                  <a:srgbClr val="0F172A"/>
                </a:solidFill>
                <a:latin typeface="Be Vietnam Pro"/>
              </a:rPr>
              <a:t>Bước chuyển luật ≤5B: thích nghi bằng CONFIG</a:t>
            </a:r>
          </a:p>
        </p:txBody>
      </p:sp>
      <p:sp>
        <p:nvSpPr>
          <p:cNvPr id="4" name="Rounded Rectangle 3"/>
          <p:cNvSpPr/>
          <p:nvPr/>
        </p:nvSpPr>
        <p:spPr>
          <a:xfrm>
            <a:off x="502920" y="1188720"/>
            <a:ext cx="1920240" cy="50292"/>
          </a:xfrm>
          <a:prstGeom prst="roundRect">
            <a:avLst>
              <a:gd name="adj" fmla="val 50000"/>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endParaRPr/>
          </a:p>
        </p:txBody>
      </p:sp>
      <p:sp>
        <p:nvSpPr>
          <p:cNvPr id="5" name="Rounded Rectangle 4"/>
          <p:cNvSpPr/>
          <p:nvPr/>
        </p:nvSpPr>
        <p:spPr>
          <a:xfrm>
            <a:off x="502920" y="1600200"/>
            <a:ext cx="5120640" cy="2926080"/>
          </a:xfrm>
          <a:prstGeom prst="roundRect">
            <a:avLst>
              <a:gd name="adj" fmla="val 6000"/>
            </a:avLst>
          </a:prstGeom>
          <a:solidFill>
            <a:srgbClr val="EEF2F6"/>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l">
              <a:spcAft>
                <a:spcPts val="600"/>
              </a:spcAft>
            </a:pPr>
            <a:r>
              <a:rPr sz="1200" b="1" i="0">
                <a:solidFill>
                  <a:srgbClr val="475569"/>
                </a:solidFill>
                <a:latin typeface="Be Vietnam Pro"/>
              </a:rPr>
              <a:t>TRƯỚC</a:t>
            </a:r>
          </a:p>
          <a:p>
            <a:pPr algn="l">
              <a:spcAft>
                <a:spcPts val="200"/>
              </a:spcAft>
            </a:pPr>
            <a:r>
              <a:rPr sz="1900" b="1" i="1">
                <a:solidFill>
                  <a:srgbClr val="475569"/>
                </a:solidFill>
                <a:latin typeface="Be Vietnam Pro"/>
              </a:rPr>
              <a:t>Gemma-4-26B-A4B</a:t>
            </a:r>
          </a:p>
          <a:p>
            <a:pPr algn="l">
              <a:spcAft>
                <a:spcPts val="800"/>
              </a:spcAft>
            </a:pPr>
            <a:r>
              <a:rPr sz="1300" b="0" i="0">
                <a:solidFill>
                  <a:srgbClr val="475569"/>
                </a:solidFill>
                <a:latin typeface="Be Vietnam Pro"/>
              </a:rPr>
              <a:t>88.55 public-463 — nhưng 26B &gt; 5B</a:t>
            </a:r>
          </a:p>
          <a:p>
            <a:pPr algn="l"/>
            <a:r>
              <a:rPr sz="1600" b="1" i="0">
                <a:solidFill>
                  <a:srgbClr val="DC2626"/>
                </a:solidFill>
                <a:latin typeface="Be Vietnam Pro"/>
              </a:rPr>
              <a:t>✗  BỊ LOẠI dưới luật mới</a:t>
            </a:r>
          </a:p>
        </p:txBody>
      </p:sp>
      <p:sp>
        <p:nvSpPr>
          <p:cNvPr id="6" name="TextBox 5"/>
          <p:cNvSpPr txBox="1"/>
          <p:nvPr/>
        </p:nvSpPr>
        <p:spPr>
          <a:xfrm>
            <a:off x="5715000" y="2651760"/>
            <a:ext cx="640080" cy="731520"/>
          </a:xfrm>
          <a:prstGeom prst="rect">
            <a:avLst/>
          </a:prstGeom>
          <a:noFill/>
        </p:spPr>
        <p:txBody>
          <a:bodyPr wrap="square" lIns="36576" tIns="18288" rIns="36576" bIns="18288" anchor="ctr">
            <a:spAutoFit/>
          </a:bodyPr>
          <a:lstStyle/>
          <a:p>
            <a:pPr algn="ctr"/>
            <a:r>
              <a:rPr sz="3400" b="1" i="0">
                <a:solidFill>
                  <a:srgbClr val="14B8A6"/>
                </a:solidFill>
                <a:latin typeface="Be Vietnam Pro"/>
              </a:rPr>
              <a:t>→</a:t>
            </a:r>
          </a:p>
        </p:txBody>
      </p:sp>
      <p:sp>
        <p:nvSpPr>
          <p:cNvPr id="7" name="Rounded Rectangle 6"/>
          <p:cNvSpPr/>
          <p:nvPr/>
        </p:nvSpPr>
        <p:spPr>
          <a:xfrm>
            <a:off x="6537960" y="1600200"/>
            <a:ext cx="5166360" cy="2926080"/>
          </a:xfrm>
          <a:prstGeom prst="roundRect">
            <a:avLst>
              <a:gd name="adj" fmla="val 6000"/>
            </a:avLst>
          </a:prstGeom>
          <a:solidFill>
            <a:srgbClr val="E6FAF7"/>
          </a:solidFill>
          <a:ln w="15875">
            <a:solidFill>
              <a:srgbClr val="14B8A6"/>
            </a:solid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l">
              <a:spcAft>
                <a:spcPts val="600"/>
              </a:spcAft>
            </a:pPr>
            <a:r>
              <a:rPr sz="1200" b="1" i="0">
                <a:solidFill>
                  <a:srgbClr val="14B8A6"/>
                </a:solidFill>
                <a:latin typeface="Be Vietnam Pro"/>
              </a:rPr>
              <a:t>SAU — pivot = sửa MỘT khối config</a:t>
            </a:r>
          </a:p>
          <a:p>
            <a:pPr algn="l">
              <a:spcAft>
                <a:spcPts val="200"/>
              </a:spcAft>
            </a:pPr>
            <a:r>
              <a:rPr sz="1400" b="1" i="0">
                <a:solidFill>
                  <a:srgbClr val="0F172A"/>
                </a:solidFill>
                <a:latin typeface="Consolas"/>
              </a:rPr>
              <a:t>runtime.model_policy</a:t>
            </a:r>
          </a:p>
          <a:p>
            <a:pPr algn="l">
              <a:spcAft>
                <a:spcPts val="800"/>
              </a:spcAft>
            </a:pPr>
            <a:r>
              <a:rPr sz="1300" b="0" i="0">
                <a:solidFill>
                  <a:srgbClr val="6366F1"/>
                </a:solidFill>
                <a:latin typeface="Consolas"/>
              </a:rPr>
              <a:t>{ "aliases": ["*"], "max_params_b": 5.0 }</a:t>
            </a:r>
          </a:p>
          <a:p>
            <a:pPr algn="l">
              <a:spcAft>
                <a:spcPts val="200"/>
              </a:spcAft>
            </a:pPr>
            <a:r>
              <a:rPr sz="1350" b="1" i="0">
                <a:solidFill>
                  <a:srgbClr val="0F172A"/>
                </a:solidFill>
                <a:latin typeface="Be Vietnam Pro"/>
              </a:rPr>
              <a:t>→ ép mọi mô hình ≤5B, KHÔNG sửa một dòng</a:t>
            </a:r>
          </a:p>
          <a:p>
            <a:pPr algn="l"/>
            <a:r>
              <a:rPr sz="1350" b="1" i="0">
                <a:solidFill>
                  <a:srgbClr val="0F172A"/>
                </a:solidFill>
                <a:latin typeface="Be Vietnam Pro"/>
              </a:rPr>
              <a:t>code solver nào. Pivot sang Qwen3-4B.</a:t>
            </a:r>
          </a:p>
        </p:txBody>
      </p:sp>
      <p:sp>
        <p:nvSpPr>
          <p:cNvPr id="8" name="TextBox 7"/>
          <p:cNvSpPr txBox="1"/>
          <p:nvPr/>
        </p:nvSpPr>
        <p:spPr>
          <a:xfrm>
            <a:off x="502920" y="4663440"/>
            <a:ext cx="11185855" cy="548640"/>
          </a:xfrm>
          <a:prstGeom prst="rect">
            <a:avLst/>
          </a:prstGeom>
          <a:noFill/>
        </p:spPr>
        <p:txBody>
          <a:bodyPr wrap="square" lIns="36576" tIns="18288" rIns="36576" bIns="18288" anchor="t">
            <a:spAutoFit/>
          </a:bodyPr>
          <a:lstStyle/>
          <a:p>
            <a:pPr algn="ctr"/>
            <a:r>
              <a:rPr sz="1400" b="0" i="0">
                <a:solidFill>
                  <a:srgbClr val="0F172A"/>
                </a:solidFill>
                <a:latin typeface="Be Vietnam Pro"/>
              </a:rPr>
              <a:t>Đây là một đòn bẩy 'Ý tưởng': </a:t>
            </a:r>
            <a:r>
              <a:rPr sz="1400" b="1" i="0">
                <a:solidFill>
                  <a:srgbClr val="14B8A6"/>
                </a:solidFill>
                <a:latin typeface="Be Vietnam Pro"/>
              </a:rPr>
              <a:t>harness thích nghi luật chơi bằng dữ liệu, không bằng code.</a:t>
            </a:r>
          </a:p>
        </p:txBody>
      </p:sp>
      <p:sp>
        <p:nvSpPr>
          <p:cNvPr id="9" name="Rectangle 8"/>
          <p:cNvSpPr/>
          <p:nvPr/>
        </p:nvSpPr>
        <p:spPr>
          <a:xfrm>
            <a:off x="502920" y="6419088"/>
            <a:ext cx="11185855"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endParaRPr/>
          </a:p>
        </p:txBody>
      </p:sp>
      <p:sp>
        <p:nvSpPr>
          <p:cNvPr id="10" name="TextBox 9"/>
          <p:cNvSpPr txBox="1"/>
          <p:nvPr/>
        </p:nvSpPr>
        <p:spPr>
          <a:xfrm>
            <a:off x="502920" y="6455664"/>
            <a:ext cx="6711513" cy="292608"/>
          </a:xfrm>
          <a:prstGeom prst="rect">
            <a:avLst/>
          </a:prstGeom>
          <a:noFill/>
        </p:spPr>
        <p:txBody>
          <a:bodyPr wrap="square" lIns="36576" tIns="18288" rIns="36576" bIns="18288" anchor="t">
            <a:spAutoFit/>
          </a:bodyPr>
          <a:lstStyle/>
          <a:p>
            <a:pPr algn="l"/>
            <a:r>
              <a:rPr sz="950" b="0" i="0">
                <a:solidFill>
                  <a:srgbClr val="475569"/>
                </a:solidFill>
                <a:latin typeface="Be Vietnam Pro"/>
              </a:rPr>
              <a:t>Neko Core  ·  Đại học Hàng hải Việt Nam (VMU)</a:t>
            </a:r>
          </a:p>
        </p:txBody>
      </p:sp>
      <p:sp>
        <p:nvSpPr>
          <p:cNvPr id="11" name="TextBox 10"/>
          <p:cNvSpPr txBox="1"/>
          <p:nvPr/>
        </p:nvSpPr>
        <p:spPr>
          <a:xfrm>
            <a:off x="5536554" y="6455664"/>
            <a:ext cx="6152220" cy="292608"/>
          </a:xfrm>
          <a:prstGeom prst="rect">
            <a:avLst/>
          </a:prstGeom>
          <a:noFill/>
        </p:spPr>
        <p:txBody>
          <a:bodyPr wrap="square" lIns="36576" tIns="18288" rIns="36576" bIns="18288" anchor="t">
            <a:spAutoFit/>
          </a:bodyPr>
          <a:lstStyle/>
          <a:p>
            <a:pPr algn="r"/>
            <a:r>
              <a:rPr sz="950" b="0" i="0">
                <a:solidFill>
                  <a:srgbClr val="475569"/>
                </a:solidFill>
                <a:latin typeface="Be Vietnam Pro"/>
              </a:rPr>
              <a:t>neko-core:qwen3-4b-r2-cuda128-20260627   ·   6/14</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TextBox 1"/>
          <p:cNvSpPr txBox="1"/>
          <p:nvPr/>
        </p:nvSpPr>
        <p:spPr>
          <a:xfrm>
            <a:off x="502920" y="274320"/>
            <a:ext cx="11185855" cy="292608"/>
          </a:xfrm>
          <a:prstGeom prst="rect">
            <a:avLst/>
          </a:prstGeom>
          <a:noFill/>
        </p:spPr>
        <p:txBody>
          <a:bodyPr wrap="square" lIns="36576" tIns="18288" rIns="36576" bIns="18288" anchor="t">
            <a:spAutoFit/>
          </a:bodyPr>
          <a:lstStyle/>
          <a:p>
            <a:pPr algn="l"/>
            <a:r>
              <a:rPr sz="1250" b="1" i="0">
                <a:solidFill>
                  <a:srgbClr val="14B8A6"/>
                </a:solidFill>
                <a:latin typeface="Be Vietnam Pro"/>
              </a:rPr>
              <a:t>06 · MÔ HÌNH ≤5B</a:t>
            </a:r>
          </a:p>
        </p:txBody>
      </p:sp>
      <p:sp>
        <p:nvSpPr>
          <p:cNvPr id="3" name="TextBox 2"/>
          <p:cNvSpPr txBox="1"/>
          <p:nvPr/>
        </p:nvSpPr>
        <p:spPr>
          <a:xfrm>
            <a:off x="502920" y="548640"/>
            <a:ext cx="11185855" cy="640080"/>
          </a:xfrm>
          <a:prstGeom prst="rect">
            <a:avLst/>
          </a:prstGeom>
          <a:noFill/>
        </p:spPr>
        <p:txBody>
          <a:bodyPr wrap="square" lIns="36576" tIns="18288" rIns="36576" bIns="18288" anchor="t">
            <a:spAutoFit/>
          </a:bodyPr>
          <a:lstStyle/>
          <a:p>
            <a:pPr algn="l"/>
            <a:r>
              <a:rPr sz="2700" b="1" i="0">
                <a:solidFill>
                  <a:srgbClr val="0F172A"/>
                </a:solidFill>
                <a:latin typeface="Be Vietnam Pro"/>
              </a:rPr>
              <a:t>Mô hình thi đấu: Qwen3-4B-Instruct-2507</a:t>
            </a:r>
          </a:p>
        </p:txBody>
      </p:sp>
      <p:sp>
        <p:nvSpPr>
          <p:cNvPr id="4" name="Rounded Rectangle 3"/>
          <p:cNvSpPr/>
          <p:nvPr/>
        </p:nvSpPr>
        <p:spPr>
          <a:xfrm>
            <a:off x="502920" y="1188720"/>
            <a:ext cx="1920240" cy="50292"/>
          </a:xfrm>
          <a:prstGeom prst="roundRect">
            <a:avLst>
              <a:gd name="adj" fmla="val 50000"/>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endParaRPr/>
          </a:p>
        </p:txBody>
      </p:sp>
      <p:sp>
        <p:nvSpPr>
          <p:cNvPr id="5" name="Rounded Rectangle 4"/>
          <p:cNvSpPr/>
          <p:nvPr/>
        </p:nvSpPr>
        <p:spPr>
          <a:xfrm>
            <a:off x="502920" y="1600200"/>
            <a:ext cx="5486400" cy="3108960"/>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l">
              <a:spcAft>
                <a:spcPts val="800"/>
              </a:spcAft>
            </a:pPr>
            <a:r>
              <a:rPr sz="1900" b="1" i="0">
                <a:solidFill>
                  <a:srgbClr val="0F172A"/>
                </a:solidFill>
                <a:latin typeface="Be Vietnam Pro"/>
              </a:rPr>
              <a:t>Qwen3-4B-Instruct-2507</a:t>
            </a:r>
          </a:p>
          <a:p>
            <a:pPr algn="l">
              <a:spcAft>
                <a:spcPts val="500"/>
              </a:spcAft>
            </a:pPr>
            <a:r>
              <a:rPr sz="1300" b="0" i="0">
                <a:solidFill>
                  <a:srgbClr val="0F172A"/>
                </a:solidFill>
                <a:latin typeface="Be Vietnam Pro"/>
              </a:rPr>
              <a:t>✓  Dense 4B — ≤5B theo tổng tham số (hợp luật rõ ràng)</a:t>
            </a:r>
          </a:p>
          <a:p>
            <a:pPr algn="l">
              <a:spcAft>
                <a:spcPts val="500"/>
              </a:spcAft>
            </a:pPr>
            <a:r>
              <a:rPr sz="1300" b="0" i="0">
                <a:solidFill>
                  <a:srgbClr val="0F172A"/>
                </a:solidFill>
                <a:latin typeface="Be Vietnam Pro"/>
              </a:rPr>
              <a:t>✓  GGUF Q5_K_M · llama.cpp · hoàn toàn offline</a:t>
            </a:r>
          </a:p>
          <a:p>
            <a:pPr algn="l">
              <a:spcAft>
                <a:spcPts val="500"/>
              </a:spcAft>
            </a:pPr>
            <a:r>
              <a:rPr sz="1300" b="0" i="0">
                <a:solidFill>
                  <a:srgbClr val="0F172A"/>
                </a:solidFill>
                <a:latin typeface="Be Vietnam Pro"/>
              </a:rPr>
              <a:t>✓  ĐÚNG 1 mô hình — không embedding / rerank</a:t>
            </a:r>
          </a:p>
          <a:p>
            <a:pPr algn="l">
              <a:spcAft>
                <a:spcPts val="300"/>
              </a:spcAft>
            </a:pPr>
            <a:r>
              <a:rPr sz="1300" b="1" i="0">
                <a:solidFill>
                  <a:srgbClr val="0F172A"/>
                </a:solidFill>
                <a:latin typeface="Be Vietnam Pro"/>
              </a:rPr>
              <a:t>✓  Engine: chain-of-thought (CoT), k=1</a:t>
            </a:r>
          </a:p>
          <a:p>
            <a:pPr algn="l"/>
            <a:r>
              <a:rPr sz="1050" b="0" i="0">
                <a:solidFill>
                  <a:srgbClr val="475569"/>
                </a:solidFill>
                <a:latin typeface="Be Vietnam Pro"/>
              </a:rPr>
              <a:t>      self-consistency voting k=5 đã đo — không cải thiện → giữ k=1</a:t>
            </a:r>
          </a:p>
        </p:txBody>
      </p:sp>
      <p:sp>
        <p:nvSpPr>
          <p:cNvPr id="6" name="TextBox 5"/>
          <p:cNvSpPr txBox="1"/>
          <p:nvPr/>
        </p:nvSpPr>
        <p:spPr>
          <a:xfrm>
            <a:off x="6446520" y="1645920"/>
            <a:ext cx="5212080" cy="457200"/>
          </a:xfrm>
          <a:prstGeom prst="rect">
            <a:avLst/>
          </a:prstGeom>
          <a:noFill/>
        </p:spPr>
        <p:txBody>
          <a:bodyPr wrap="square" lIns="36576" tIns="18288" rIns="36576" bIns="18288" anchor="t">
            <a:spAutoFit/>
          </a:bodyPr>
          <a:lstStyle/>
          <a:p>
            <a:pPr algn="l"/>
            <a:r>
              <a:rPr sz="1300" b="1" i="0">
                <a:solidFill>
                  <a:srgbClr val="0F172A"/>
                </a:solidFill>
                <a:latin typeface="Be Vietnam Pro"/>
              </a:rPr>
              <a:t>VRAM lúc chạy (đo thật)</a:t>
            </a:r>
          </a:p>
        </p:txBody>
      </p:sp>
      <p:sp>
        <p:nvSpPr>
          <p:cNvPr id="7" name="TextBox 6"/>
          <p:cNvSpPr txBox="1"/>
          <p:nvPr/>
        </p:nvSpPr>
        <p:spPr>
          <a:xfrm>
            <a:off x="6446520" y="2057400"/>
            <a:ext cx="5212080" cy="777240"/>
          </a:xfrm>
          <a:prstGeom prst="rect">
            <a:avLst/>
          </a:prstGeom>
          <a:noFill/>
        </p:spPr>
        <p:txBody>
          <a:bodyPr wrap="square" lIns="36576" tIns="18288" rIns="36576" bIns="18288" anchor="t">
            <a:spAutoFit/>
          </a:bodyPr>
          <a:lstStyle/>
          <a:p>
            <a:pPr algn="l">
              <a:spcAft>
                <a:spcPts val="200"/>
              </a:spcAft>
            </a:pPr>
            <a:r>
              <a:rPr sz="4200" b="1" i="0">
                <a:solidFill>
                  <a:srgbClr val="14B8A6"/>
                </a:solidFill>
                <a:latin typeface="Be Vietnam Pro"/>
              </a:rPr>
              <a:t>~5 GB</a:t>
            </a:r>
          </a:p>
        </p:txBody>
      </p:sp>
      <p:sp>
        <p:nvSpPr>
          <p:cNvPr id="8" name="TextBox 7"/>
          <p:cNvSpPr txBox="1"/>
          <p:nvPr/>
        </p:nvSpPr>
        <p:spPr>
          <a:xfrm>
            <a:off x="6446520" y="2770632"/>
            <a:ext cx="5212080" cy="457200"/>
          </a:xfrm>
          <a:prstGeom prst="rect">
            <a:avLst/>
          </a:prstGeom>
          <a:noFill/>
        </p:spPr>
        <p:txBody>
          <a:bodyPr wrap="square" lIns="36576" tIns="18288" rIns="36576" bIns="18288" anchor="t">
            <a:spAutoFit/>
          </a:bodyPr>
          <a:lstStyle/>
          <a:p>
            <a:pPr algn="l"/>
            <a:r>
              <a:rPr sz="1200" b="0" i="0">
                <a:solidFill>
                  <a:srgbClr val="475569"/>
                </a:solidFill>
                <a:latin typeface="Be Vietnam Pro"/>
              </a:rPr>
              <a:t>trên RTX 5060 Ti 16GB → chừa ~11GB</a:t>
            </a:r>
          </a:p>
        </p:txBody>
      </p:sp>
      <p:sp>
        <p:nvSpPr>
          <p:cNvPr id="9" name="Rounded Rectangle 8"/>
          <p:cNvSpPr/>
          <p:nvPr/>
        </p:nvSpPr>
        <p:spPr>
          <a:xfrm>
            <a:off x="6446520" y="3291839"/>
            <a:ext cx="5029200" cy="411480"/>
          </a:xfrm>
          <a:prstGeom prst="roundRect">
            <a:avLst>
              <a:gd name="adj" fmla="val 30000"/>
            </a:avLst>
          </a:prstGeom>
          <a:solidFill>
            <a:srgbClr val="EEF2F6"/>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endParaRPr/>
          </a:p>
        </p:txBody>
      </p:sp>
      <p:sp>
        <p:nvSpPr>
          <p:cNvPr id="10" name="Rounded Rectangle 9"/>
          <p:cNvSpPr/>
          <p:nvPr/>
        </p:nvSpPr>
        <p:spPr>
          <a:xfrm>
            <a:off x="6446520" y="3291839"/>
            <a:ext cx="1571625" cy="411480"/>
          </a:xfrm>
          <a:prstGeom prst="roundRect">
            <a:avLst>
              <a:gd name="adj" fmla="val 30000"/>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endParaRPr/>
          </a:p>
        </p:txBody>
      </p:sp>
      <p:sp>
        <p:nvSpPr>
          <p:cNvPr id="11" name="TextBox 10"/>
          <p:cNvSpPr txBox="1"/>
          <p:nvPr/>
        </p:nvSpPr>
        <p:spPr>
          <a:xfrm>
            <a:off x="6446520" y="3749039"/>
            <a:ext cx="5029200" cy="320040"/>
          </a:xfrm>
          <a:prstGeom prst="rect">
            <a:avLst/>
          </a:prstGeom>
          <a:noFill/>
        </p:spPr>
        <p:txBody>
          <a:bodyPr wrap="square" lIns="36576" tIns="18288" rIns="36576" bIns="18288" anchor="t">
            <a:spAutoFit/>
          </a:bodyPr>
          <a:lstStyle/>
          <a:p>
            <a:pPr algn="l"/>
            <a:r>
              <a:rPr sz="1100" b="0" i="0">
                <a:solidFill>
                  <a:srgbClr val="475569"/>
                </a:solidFill>
                <a:latin typeface="Be Vietnam Pro"/>
              </a:rPr>
              <a:t>5GB dùng  |  11GB dư  → không OOM trên mọi GPU thi đấu</a:t>
            </a:r>
          </a:p>
        </p:txBody>
      </p:sp>
      <p:sp>
        <p:nvSpPr>
          <p:cNvPr id="12" name="Rectangle 11"/>
          <p:cNvSpPr/>
          <p:nvPr/>
        </p:nvSpPr>
        <p:spPr>
          <a:xfrm>
            <a:off x="502920" y="6419088"/>
            <a:ext cx="11185855"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endParaRPr/>
          </a:p>
        </p:txBody>
      </p:sp>
      <p:sp>
        <p:nvSpPr>
          <p:cNvPr id="13" name="TextBox 12"/>
          <p:cNvSpPr txBox="1"/>
          <p:nvPr/>
        </p:nvSpPr>
        <p:spPr>
          <a:xfrm>
            <a:off x="502920" y="6455664"/>
            <a:ext cx="6711513" cy="292608"/>
          </a:xfrm>
          <a:prstGeom prst="rect">
            <a:avLst/>
          </a:prstGeom>
          <a:noFill/>
        </p:spPr>
        <p:txBody>
          <a:bodyPr wrap="square" lIns="36576" tIns="18288" rIns="36576" bIns="18288" anchor="t">
            <a:spAutoFit/>
          </a:bodyPr>
          <a:lstStyle/>
          <a:p>
            <a:pPr algn="l"/>
            <a:r>
              <a:rPr sz="950" b="0" i="0">
                <a:solidFill>
                  <a:srgbClr val="475569"/>
                </a:solidFill>
                <a:latin typeface="Be Vietnam Pro"/>
              </a:rPr>
              <a:t>Neko Core  ·  Đại học Hàng hải Việt Nam (VMU)</a:t>
            </a:r>
          </a:p>
        </p:txBody>
      </p:sp>
      <p:sp>
        <p:nvSpPr>
          <p:cNvPr id="14" name="TextBox 13"/>
          <p:cNvSpPr txBox="1"/>
          <p:nvPr/>
        </p:nvSpPr>
        <p:spPr>
          <a:xfrm>
            <a:off x="5536554" y="6455664"/>
            <a:ext cx="6152220" cy="292608"/>
          </a:xfrm>
          <a:prstGeom prst="rect">
            <a:avLst/>
          </a:prstGeom>
          <a:noFill/>
        </p:spPr>
        <p:txBody>
          <a:bodyPr wrap="square" lIns="36576" tIns="18288" rIns="36576" bIns="18288" anchor="t">
            <a:spAutoFit/>
          </a:bodyPr>
          <a:lstStyle/>
          <a:p>
            <a:pPr algn="r"/>
            <a:r>
              <a:rPr sz="950" b="0" i="0">
                <a:solidFill>
                  <a:srgbClr val="475569"/>
                </a:solidFill>
                <a:latin typeface="Be Vietnam Pro"/>
              </a:rPr>
              <a:t>neko-core:qwen3-4b-r2-cuda128-20260627   ·   7/14</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TextBox 1"/>
          <p:cNvSpPr txBox="1"/>
          <p:nvPr/>
        </p:nvSpPr>
        <p:spPr>
          <a:xfrm>
            <a:off x="502920" y="274320"/>
            <a:ext cx="11185855" cy="292608"/>
          </a:xfrm>
          <a:prstGeom prst="rect">
            <a:avLst/>
          </a:prstGeom>
          <a:noFill/>
        </p:spPr>
        <p:txBody>
          <a:bodyPr wrap="square" lIns="36576" tIns="18288" rIns="36576" bIns="18288" anchor="t">
            <a:spAutoFit/>
          </a:bodyPr>
          <a:lstStyle/>
          <a:p>
            <a:pPr algn="l"/>
            <a:r>
              <a:rPr sz="1250" b="1" i="0">
                <a:solidFill>
                  <a:srgbClr val="14B8A6"/>
                </a:solidFill>
                <a:latin typeface="Be Vietnam Pro"/>
              </a:rPr>
              <a:t>07 · ROBUSTNESS · LỚP 1</a:t>
            </a:r>
          </a:p>
        </p:txBody>
      </p:sp>
      <p:sp>
        <p:nvSpPr>
          <p:cNvPr id="3" name="TextBox 2"/>
          <p:cNvSpPr txBox="1"/>
          <p:nvPr/>
        </p:nvSpPr>
        <p:spPr>
          <a:xfrm>
            <a:off x="502920" y="548640"/>
            <a:ext cx="11185855" cy="640080"/>
          </a:xfrm>
          <a:prstGeom prst="rect">
            <a:avLst/>
          </a:prstGeom>
          <a:noFill/>
        </p:spPr>
        <p:txBody>
          <a:bodyPr wrap="square" lIns="36576" tIns="18288" rIns="36576" bIns="18288" anchor="t">
            <a:spAutoFit/>
          </a:bodyPr>
          <a:lstStyle/>
          <a:p>
            <a:pPr algn="l"/>
            <a:r>
              <a:rPr sz="2700" b="1" i="0">
                <a:solidFill>
                  <a:srgbClr val="0F172A"/>
                </a:solidFill>
                <a:latin typeface="Be Vietnam Pro"/>
              </a:rPr>
              <a:t>Không-bao-giờ-0-điểm #1: arch-portability</a:t>
            </a:r>
          </a:p>
        </p:txBody>
      </p:sp>
      <p:sp>
        <p:nvSpPr>
          <p:cNvPr id="4" name="Rounded Rectangle 3"/>
          <p:cNvSpPr/>
          <p:nvPr/>
        </p:nvSpPr>
        <p:spPr>
          <a:xfrm>
            <a:off x="502920" y="1188720"/>
            <a:ext cx="1920240" cy="50292"/>
          </a:xfrm>
          <a:prstGeom prst="roundRect">
            <a:avLst>
              <a:gd name="adj" fmla="val 50000"/>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endParaRPr/>
          </a:p>
        </p:txBody>
      </p:sp>
      <p:sp>
        <p:nvSpPr>
          <p:cNvPr id="5" name="TextBox 4"/>
          <p:cNvSpPr txBox="1"/>
          <p:nvPr/>
        </p:nvSpPr>
        <p:spPr>
          <a:xfrm>
            <a:off x="502920" y="1508760"/>
            <a:ext cx="11185855" cy="365760"/>
          </a:xfrm>
          <a:prstGeom prst="rect">
            <a:avLst/>
          </a:prstGeom>
          <a:noFill/>
        </p:spPr>
        <p:txBody>
          <a:bodyPr wrap="square" lIns="36576" tIns="18288" rIns="36576" bIns="18288" anchor="t">
            <a:spAutoFit/>
          </a:bodyPr>
          <a:lstStyle/>
          <a:p>
            <a:pPr algn="l"/>
            <a:r>
              <a:rPr sz="1300" b="1" i="0">
                <a:solidFill>
                  <a:srgbClr val="0F172A"/>
                </a:solidFill>
                <a:latin typeface="Be Vietnam Pro"/>
              </a:rPr>
              <a:t>GPU chấm = RTX 5060 Ti (Blackwell sm_120) · build CUDA 12.8 · PTX-portable mọi GPU ≥ sm_75:</a:t>
            </a:r>
          </a:p>
        </p:txBody>
      </p:sp>
      <p:sp>
        <p:nvSpPr>
          <p:cNvPr id="6" name="Rounded Rectangle 5"/>
          <p:cNvSpPr/>
          <p:nvPr/>
        </p:nvSpPr>
        <p:spPr>
          <a:xfrm>
            <a:off x="502920" y="1965960"/>
            <a:ext cx="1772869" cy="822960"/>
          </a:xfrm>
          <a:prstGeom prst="roundRect">
            <a:avLst>
              <a:gd name="adj" fmla="val 6000"/>
            </a:avLst>
          </a:prstGeom>
          <a:solidFill>
            <a:srgbClr val="FFFFFF"/>
          </a:solidFill>
          <a:ln w="12700">
            <a:solidFill>
              <a:srgbClr val="14B8A6"/>
            </a:solid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spcAft>
                <a:spcPts val="100"/>
              </a:spcAft>
            </a:pPr>
            <a:r>
              <a:rPr sz="1200" b="1" i="0">
                <a:solidFill>
                  <a:srgbClr val="14B8A6"/>
                </a:solidFill>
                <a:latin typeface="Consolas"/>
              </a:rPr>
              <a:t>sm_75</a:t>
            </a:r>
          </a:p>
          <a:p>
            <a:pPr algn="ctr"/>
            <a:r>
              <a:rPr sz="1000" b="0" i="0">
                <a:solidFill>
                  <a:srgbClr val="475569"/>
                </a:solidFill>
                <a:latin typeface="Be Vietnam Pro"/>
              </a:rPr>
              <a:t>T4</a:t>
            </a:r>
          </a:p>
        </p:txBody>
      </p:sp>
      <p:sp>
        <p:nvSpPr>
          <p:cNvPr id="7" name="Rounded Rectangle 6"/>
          <p:cNvSpPr/>
          <p:nvPr/>
        </p:nvSpPr>
        <p:spPr>
          <a:xfrm>
            <a:off x="2385517" y="1965960"/>
            <a:ext cx="1772869" cy="822960"/>
          </a:xfrm>
          <a:prstGeom prst="roundRect">
            <a:avLst>
              <a:gd name="adj" fmla="val 6000"/>
            </a:avLst>
          </a:prstGeom>
          <a:solidFill>
            <a:srgbClr val="FFFFFF"/>
          </a:solidFill>
          <a:ln w="12700">
            <a:solidFill>
              <a:srgbClr val="14B8A6"/>
            </a:solid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spcAft>
                <a:spcPts val="100"/>
              </a:spcAft>
            </a:pPr>
            <a:r>
              <a:rPr sz="1200" b="1" i="0">
                <a:solidFill>
                  <a:srgbClr val="14B8A6"/>
                </a:solidFill>
                <a:latin typeface="Consolas"/>
              </a:rPr>
              <a:t>sm_80</a:t>
            </a:r>
          </a:p>
          <a:p>
            <a:pPr algn="ctr"/>
            <a:r>
              <a:rPr sz="1000" b="0" i="0">
                <a:solidFill>
                  <a:srgbClr val="475569"/>
                </a:solidFill>
                <a:latin typeface="Be Vietnam Pro"/>
              </a:rPr>
              <a:t>A100</a:t>
            </a:r>
          </a:p>
        </p:txBody>
      </p:sp>
      <p:sp>
        <p:nvSpPr>
          <p:cNvPr id="8" name="Rounded Rectangle 7"/>
          <p:cNvSpPr/>
          <p:nvPr/>
        </p:nvSpPr>
        <p:spPr>
          <a:xfrm>
            <a:off x="4268114" y="1965960"/>
            <a:ext cx="1772869" cy="822960"/>
          </a:xfrm>
          <a:prstGeom prst="roundRect">
            <a:avLst>
              <a:gd name="adj" fmla="val 6000"/>
            </a:avLst>
          </a:prstGeom>
          <a:solidFill>
            <a:srgbClr val="FFFFFF"/>
          </a:solidFill>
          <a:ln w="12700">
            <a:solidFill>
              <a:srgbClr val="14B8A6"/>
            </a:solid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spcAft>
                <a:spcPts val="100"/>
              </a:spcAft>
            </a:pPr>
            <a:r>
              <a:rPr sz="1200" b="1" i="0">
                <a:solidFill>
                  <a:srgbClr val="14B8A6"/>
                </a:solidFill>
                <a:latin typeface="Consolas"/>
              </a:rPr>
              <a:t>sm_86</a:t>
            </a:r>
          </a:p>
          <a:p>
            <a:pPr algn="ctr"/>
            <a:r>
              <a:rPr sz="1000" b="0" i="0">
                <a:solidFill>
                  <a:srgbClr val="475569"/>
                </a:solidFill>
                <a:latin typeface="Be Vietnam Pro"/>
              </a:rPr>
              <a:t>Ampere</a:t>
            </a:r>
          </a:p>
        </p:txBody>
      </p:sp>
      <p:sp>
        <p:nvSpPr>
          <p:cNvPr id="9" name="Rounded Rectangle 8"/>
          <p:cNvSpPr/>
          <p:nvPr/>
        </p:nvSpPr>
        <p:spPr>
          <a:xfrm>
            <a:off x="6150711" y="1965960"/>
            <a:ext cx="1772869" cy="822960"/>
          </a:xfrm>
          <a:prstGeom prst="roundRect">
            <a:avLst>
              <a:gd name="adj" fmla="val 6000"/>
            </a:avLst>
          </a:prstGeom>
          <a:solidFill>
            <a:srgbClr val="FFFFFF"/>
          </a:solidFill>
          <a:ln w="12700">
            <a:solidFill>
              <a:srgbClr val="14B8A6"/>
            </a:solid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spcAft>
                <a:spcPts val="100"/>
              </a:spcAft>
            </a:pPr>
            <a:r>
              <a:rPr sz="1200" b="1" i="0">
                <a:solidFill>
                  <a:srgbClr val="14B8A6"/>
                </a:solidFill>
                <a:latin typeface="Consolas"/>
              </a:rPr>
              <a:t>sm_89</a:t>
            </a:r>
          </a:p>
          <a:p>
            <a:pPr algn="ctr"/>
            <a:r>
              <a:rPr sz="1000" b="0" i="0">
                <a:solidFill>
                  <a:srgbClr val="475569"/>
                </a:solidFill>
                <a:latin typeface="Be Vietnam Pro"/>
              </a:rPr>
              <a:t>Ada</a:t>
            </a:r>
          </a:p>
        </p:txBody>
      </p:sp>
      <p:sp>
        <p:nvSpPr>
          <p:cNvPr id="10" name="Rounded Rectangle 9"/>
          <p:cNvSpPr/>
          <p:nvPr/>
        </p:nvSpPr>
        <p:spPr>
          <a:xfrm>
            <a:off x="8033308" y="1965960"/>
            <a:ext cx="1772869" cy="822960"/>
          </a:xfrm>
          <a:prstGeom prst="roundRect">
            <a:avLst>
              <a:gd name="adj" fmla="val 6000"/>
            </a:avLst>
          </a:prstGeom>
          <a:solidFill>
            <a:srgbClr val="FFFFFF"/>
          </a:solidFill>
          <a:ln w="12700">
            <a:solidFill>
              <a:srgbClr val="14B8A6"/>
            </a:solid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spcAft>
                <a:spcPts val="100"/>
              </a:spcAft>
            </a:pPr>
            <a:r>
              <a:rPr sz="1200" b="1" i="0">
                <a:solidFill>
                  <a:srgbClr val="14B8A6"/>
                </a:solidFill>
                <a:latin typeface="Consolas"/>
              </a:rPr>
              <a:t>sm_90</a:t>
            </a:r>
          </a:p>
          <a:p>
            <a:pPr algn="ctr"/>
            <a:r>
              <a:rPr sz="1000" b="0" i="0">
                <a:solidFill>
                  <a:srgbClr val="475569"/>
                </a:solidFill>
                <a:latin typeface="Be Vietnam Pro"/>
              </a:rPr>
              <a:t>H100</a:t>
            </a:r>
          </a:p>
        </p:txBody>
      </p:sp>
      <p:sp>
        <p:nvSpPr>
          <p:cNvPr id="11" name="Rounded Rectangle 10"/>
          <p:cNvSpPr/>
          <p:nvPr/>
        </p:nvSpPr>
        <p:spPr>
          <a:xfrm>
            <a:off x="9915906" y="1965960"/>
            <a:ext cx="1772869" cy="822960"/>
          </a:xfrm>
          <a:prstGeom prst="roundRect">
            <a:avLst>
              <a:gd name="adj" fmla="val 6000"/>
            </a:avLst>
          </a:prstGeom>
          <a:solidFill>
            <a:srgbClr val="FFFFFF"/>
          </a:solidFill>
          <a:ln w="12700">
            <a:solidFill>
              <a:srgbClr val="14B8A6"/>
            </a:solid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spcAft>
                <a:spcPts val="100"/>
              </a:spcAft>
            </a:pPr>
            <a:r>
              <a:rPr sz="1200" b="1" i="0">
                <a:solidFill>
                  <a:srgbClr val="14B8A6"/>
                </a:solidFill>
                <a:latin typeface="Consolas"/>
              </a:rPr>
              <a:t>sm_120</a:t>
            </a:r>
          </a:p>
          <a:p>
            <a:pPr algn="ctr"/>
            <a:r>
              <a:rPr sz="1000" b="0" i="0">
                <a:solidFill>
                  <a:srgbClr val="475569"/>
                </a:solidFill>
                <a:latin typeface="Be Vietnam Pro"/>
              </a:rPr>
              <a:t>5060 Ti</a:t>
            </a:r>
          </a:p>
        </p:txBody>
      </p:sp>
      <p:sp>
        <p:nvSpPr>
          <p:cNvPr id="12" name="TextBox 11"/>
          <p:cNvSpPr txBox="1"/>
          <p:nvPr/>
        </p:nvSpPr>
        <p:spPr>
          <a:xfrm>
            <a:off x="502920" y="2926080"/>
            <a:ext cx="11185855" cy="457200"/>
          </a:xfrm>
          <a:prstGeom prst="rect">
            <a:avLst/>
          </a:prstGeom>
          <a:noFill/>
        </p:spPr>
        <p:txBody>
          <a:bodyPr wrap="square" lIns="36576" tIns="18288" rIns="36576" bIns="18288" anchor="t">
            <a:spAutoFit/>
          </a:bodyPr>
          <a:lstStyle/>
          <a:p>
            <a:pPr algn="l"/>
            <a:r>
              <a:rPr sz="1300" b="0" i="0">
                <a:solidFill>
                  <a:srgbClr val="0F172A"/>
                </a:solidFill>
                <a:latin typeface="Be Vietnam Pro"/>
              </a:rPr>
              <a:t>PTX </a:t>
            </a:r>
            <a:r>
              <a:rPr sz="1300" b="1" i="0">
                <a:solidFill>
                  <a:srgbClr val="6366F1"/>
                </a:solidFill>
                <a:latin typeface="Consolas"/>
              </a:rPr>
              <a:t>compute_75 + compute_120</a:t>
            </a:r>
            <a:r>
              <a:rPr sz="1300" b="0" i="0">
                <a:solidFill>
                  <a:srgbClr val="0F172A"/>
                </a:solidFill>
                <a:latin typeface="Be Vietnam Pro"/>
              </a:rPr>
              <a:t>  → 5060 Ti JIT sm_120 lúc load (ngoài vòng đo Time).   </a:t>
            </a:r>
            <a:r>
              <a:rPr sz="1300" b="1" i="0">
                <a:solidFill>
                  <a:srgbClr val="6366F1"/>
                </a:solidFill>
                <a:latin typeface="Consolas"/>
              </a:rPr>
              <a:t>GGML_NATIVE=off</a:t>
            </a:r>
            <a:r>
              <a:rPr sz="1300" b="0" i="0">
                <a:solidFill>
                  <a:srgbClr val="0F172A"/>
                </a:solidFill>
                <a:latin typeface="Be Vietnam Pro"/>
              </a:rPr>
              <a:t> → mọi CPU.</a:t>
            </a:r>
          </a:p>
        </p:txBody>
      </p:sp>
      <p:sp>
        <p:nvSpPr>
          <p:cNvPr id="13" name="Rounded Rectangle 12"/>
          <p:cNvSpPr/>
          <p:nvPr/>
        </p:nvSpPr>
        <p:spPr>
          <a:xfrm>
            <a:off x="502920" y="3566160"/>
            <a:ext cx="11185855" cy="960120"/>
          </a:xfrm>
          <a:prstGeom prst="roundRect">
            <a:avLst>
              <a:gd name="adj" fmla="val 6000"/>
            </a:avLst>
          </a:prstGeom>
          <a:solidFill>
            <a:srgbClr val="ECFDF3"/>
          </a:solidFill>
          <a:ln w="15875">
            <a:solidFill>
              <a:srgbClr val="16A34A"/>
            </a:solid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l">
              <a:spcAft>
                <a:spcPts val="400"/>
              </a:spcAft>
            </a:pPr>
            <a:r>
              <a:rPr sz="1350" b="1" i="0">
                <a:solidFill>
                  <a:srgbClr val="16A34A"/>
                </a:solidFill>
                <a:latin typeface="Be Vietnam Pro"/>
              </a:rPr>
              <a:t>✓  KIỂM CHỨNG</a:t>
            </a:r>
          </a:p>
          <a:p>
            <a:pPr algn="l"/>
            <a:r>
              <a:rPr sz="1150" b="0" i="0">
                <a:solidFill>
                  <a:srgbClr val="0F172A"/>
                </a:solidFill>
                <a:latin typeface="Be Vietnam Pro"/>
              </a:rPr>
              <a:t>Smoke kiểu giám khảo (mount thư mục → /code) → predict.py đọc /code/private_test.json, ghi submission.csv + submission_time.csv hợp lệ. Blackwell sm_120 không máy nào test local được; image build CUDA 12.8 đúng yêu cầu BTC (BTC sẽ liên hệ nếu eval lỗi).</a:t>
            </a:r>
          </a:p>
        </p:txBody>
      </p:sp>
      <p:sp>
        <p:nvSpPr>
          <p:cNvPr id="14" name="Rectangle 13"/>
          <p:cNvSpPr/>
          <p:nvPr/>
        </p:nvSpPr>
        <p:spPr>
          <a:xfrm>
            <a:off x="502920" y="6419088"/>
            <a:ext cx="11185855"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endParaRPr/>
          </a:p>
        </p:txBody>
      </p:sp>
      <p:sp>
        <p:nvSpPr>
          <p:cNvPr id="15" name="TextBox 14"/>
          <p:cNvSpPr txBox="1"/>
          <p:nvPr/>
        </p:nvSpPr>
        <p:spPr>
          <a:xfrm>
            <a:off x="502920" y="6455664"/>
            <a:ext cx="6711513" cy="292608"/>
          </a:xfrm>
          <a:prstGeom prst="rect">
            <a:avLst/>
          </a:prstGeom>
          <a:noFill/>
        </p:spPr>
        <p:txBody>
          <a:bodyPr wrap="square" lIns="36576" tIns="18288" rIns="36576" bIns="18288" anchor="t">
            <a:spAutoFit/>
          </a:bodyPr>
          <a:lstStyle/>
          <a:p>
            <a:pPr algn="l"/>
            <a:r>
              <a:rPr sz="950" b="0" i="0">
                <a:solidFill>
                  <a:srgbClr val="475569"/>
                </a:solidFill>
                <a:latin typeface="Be Vietnam Pro"/>
              </a:rPr>
              <a:t>Neko Core  ·  Đại học Hàng hải Việt Nam (VMU)</a:t>
            </a:r>
          </a:p>
        </p:txBody>
      </p:sp>
      <p:sp>
        <p:nvSpPr>
          <p:cNvPr id="16" name="TextBox 15"/>
          <p:cNvSpPr txBox="1"/>
          <p:nvPr/>
        </p:nvSpPr>
        <p:spPr>
          <a:xfrm>
            <a:off x="5536554" y="6455664"/>
            <a:ext cx="6152220" cy="292608"/>
          </a:xfrm>
          <a:prstGeom prst="rect">
            <a:avLst/>
          </a:prstGeom>
          <a:noFill/>
        </p:spPr>
        <p:txBody>
          <a:bodyPr wrap="square" lIns="36576" tIns="18288" rIns="36576" bIns="18288" anchor="t">
            <a:spAutoFit/>
          </a:bodyPr>
          <a:lstStyle/>
          <a:p>
            <a:pPr algn="r"/>
            <a:r>
              <a:rPr sz="950" b="0" i="0">
                <a:solidFill>
                  <a:srgbClr val="475569"/>
                </a:solidFill>
                <a:latin typeface="Be Vietnam Pro"/>
              </a:rPr>
              <a:t>neko-core:qwen3-4b-r2-cuda128-20260627   ·   8/14</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TextBox 1"/>
          <p:cNvSpPr txBox="1"/>
          <p:nvPr/>
        </p:nvSpPr>
        <p:spPr>
          <a:xfrm>
            <a:off x="502920" y="274320"/>
            <a:ext cx="11185855" cy="292608"/>
          </a:xfrm>
          <a:prstGeom prst="rect">
            <a:avLst/>
          </a:prstGeom>
          <a:noFill/>
        </p:spPr>
        <p:txBody>
          <a:bodyPr wrap="square" lIns="36576" tIns="18288" rIns="36576" bIns="18288" anchor="t">
            <a:spAutoFit/>
          </a:bodyPr>
          <a:lstStyle/>
          <a:p>
            <a:pPr algn="l"/>
            <a:r>
              <a:rPr sz="1250" b="1" i="0">
                <a:solidFill>
                  <a:srgbClr val="14B8A6"/>
                </a:solidFill>
                <a:latin typeface="Be Vietnam Pro"/>
              </a:rPr>
              <a:t>08 · ROBUSTNESS · LỚP 2</a:t>
            </a:r>
          </a:p>
        </p:txBody>
      </p:sp>
      <p:sp>
        <p:nvSpPr>
          <p:cNvPr id="3" name="TextBox 2"/>
          <p:cNvSpPr txBox="1"/>
          <p:nvPr/>
        </p:nvSpPr>
        <p:spPr>
          <a:xfrm>
            <a:off x="502920" y="548640"/>
            <a:ext cx="11185855" cy="640080"/>
          </a:xfrm>
          <a:prstGeom prst="rect">
            <a:avLst/>
          </a:prstGeom>
          <a:noFill/>
        </p:spPr>
        <p:txBody>
          <a:bodyPr wrap="square" lIns="36576" tIns="18288" rIns="36576" bIns="18288" anchor="t">
            <a:spAutoFit/>
          </a:bodyPr>
          <a:lstStyle/>
          <a:p>
            <a:pPr algn="l"/>
            <a:r>
              <a:rPr sz="2700" b="1" i="0">
                <a:solidFill>
                  <a:srgbClr val="0F172A"/>
                </a:solidFill>
                <a:latin typeface="Be Vietnam Pro"/>
              </a:rPr>
              <a:t>Không-bao-giờ-0-điểm #2: hợp đồng submission.csv</a:t>
            </a:r>
          </a:p>
        </p:txBody>
      </p:sp>
      <p:sp>
        <p:nvSpPr>
          <p:cNvPr id="4" name="Rounded Rectangle 3"/>
          <p:cNvSpPr/>
          <p:nvPr/>
        </p:nvSpPr>
        <p:spPr>
          <a:xfrm>
            <a:off x="502920" y="1188720"/>
            <a:ext cx="1920240" cy="50292"/>
          </a:xfrm>
          <a:prstGeom prst="roundRect">
            <a:avLst>
              <a:gd name="adj" fmla="val 50000"/>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endParaRPr/>
          </a:p>
        </p:txBody>
      </p:sp>
      <p:sp>
        <p:nvSpPr>
          <p:cNvPr id="5" name="Rounded Rectangle 4"/>
          <p:cNvSpPr/>
          <p:nvPr/>
        </p:nvSpPr>
        <p:spPr>
          <a:xfrm>
            <a:off x="502920" y="1554480"/>
            <a:ext cx="11185855" cy="841248"/>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endParaRPr/>
          </a:p>
        </p:txBody>
      </p:sp>
      <p:sp>
        <p:nvSpPr>
          <p:cNvPr id="6" name="Oval 5"/>
          <p:cNvSpPr/>
          <p:nvPr/>
        </p:nvSpPr>
        <p:spPr>
          <a:xfrm>
            <a:off x="685800" y="1746504"/>
            <a:ext cx="457200" cy="457200"/>
          </a:xfrm>
          <a:prstGeom prst="ellipse">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r>
              <a:rPr sz="1600" b="1" i="0">
                <a:solidFill>
                  <a:srgbClr val="FFFFFF"/>
                </a:solidFill>
                <a:latin typeface="Be Vietnam Pro"/>
              </a:rPr>
              <a:t>✓</a:t>
            </a:r>
          </a:p>
        </p:txBody>
      </p:sp>
      <p:sp>
        <p:nvSpPr>
          <p:cNvPr id="7" name="TextBox 6"/>
          <p:cNvSpPr txBox="1"/>
          <p:nvPr/>
        </p:nvSpPr>
        <p:spPr>
          <a:xfrm>
            <a:off x="1371600" y="1673352"/>
            <a:ext cx="10088575" cy="365760"/>
          </a:xfrm>
          <a:prstGeom prst="rect">
            <a:avLst/>
          </a:prstGeom>
          <a:noFill/>
        </p:spPr>
        <p:txBody>
          <a:bodyPr wrap="square" lIns="36576" tIns="18288" rIns="36576" bIns="18288" anchor="t">
            <a:spAutoFit/>
          </a:bodyPr>
          <a:lstStyle/>
          <a:p>
            <a:pPr algn="l"/>
            <a:r>
              <a:rPr sz="1400" b="1" i="0">
                <a:solidFill>
                  <a:srgbClr val="0F172A"/>
                </a:solidFill>
                <a:latin typeface="Be Vietnam Pro"/>
              </a:rPr>
              <a:t>Mọi câu đều TRẢ LỜI ĐƯỢC</a:t>
            </a:r>
          </a:p>
        </p:txBody>
      </p:sp>
      <p:sp>
        <p:nvSpPr>
          <p:cNvPr id="8" name="TextBox 7"/>
          <p:cNvSpPr txBox="1"/>
          <p:nvPr/>
        </p:nvSpPr>
        <p:spPr>
          <a:xfrm>
            <a:off x="1371600" y="2011680"/>
            <a:ext cx="10088575" cy="365760"/>
          </a:xfrm>
          <a:prstGeom prst="rect">
            <a:avLst/>
          </a:prstGeom>
          <a:noFill/>
        </p:spPr>
        <p:txBody>
          <a:bodyPr wrap="square" lIns="36576" tIns="18288" rIns="36576" bIns="18288" anchor="t">
            <a:spAutoFit/>
          </a:bodyPr>
          <a:lstStyle/>
          <a:p>
            <a:pPr algn="l"/>
            <a:r>
              <a:rPr sz="1150" b="0" i="0">
                <a:solidFill>
                  <a:srgbClr val="475569"/>
                </a:solidFill>
                <a:latin typeface="Be Vietnam Pro"/>
              </a:rPr>
              <a:t>Exception khi giải → fallback heuristic tất định; lỗi bất ngờ → fallback-after-error; chữ không hợp lệ → answer-repair.</a:t>
            </a:r>
          </a:p>
        </p:txBody>
      </p:sp>
      <p:sp>
        <p:nvSpPr>
          <p:cNvPr id="9" name="Rounded Rectangle 8"/>
          <p:cNvSpPr/>
          <p:nvPr/>
        </p:nvSpPr>
        <p:spPr>
          <a:xfrm>
            <a:off x="502920" y="2505456"/>
            <a:ext cx="11185855" cy="841248"/>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endParaRPr/>
          </a:p>
        </p:txBody>
      </p:sp>
      <p:sp>
        <p:nvSpPr>
          <p:cNvPr id="10" name="Oval 9"/>
          <p:cNvSpPr/>
          <p:nvPr/>
        </p:nvSpPr>
        <p:spPr>
          <a:xfrm>
            <a:off x="685800" y="2697480"/>
            <a:ext cx="457200" cy="457200"/>
          </a:xfrm>
          <a:prstGeom prst="ellipse">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r>
              <a:rPr sz="1600" b="1" i="0">
                <a:solidFill>
                  <a:srgbClr val="FFFFFF"/>
                </a:solidFill>
                <a:latin typeface="Be Vietnam Pro"/>
              </a:rPr>
              <a:t>✓</a:t>
            </a:r>
          </a:p>
        </p:txBody>
      </p:sp>
      <p:sp>
        <p:nvSpPr>
          <p:cNvPr id="11" name="TextBox 10"/>
          <p:cNvSpPr txBox="1"/>
          <p:nvPr/>
        </p:nvSpPr>
        <p:spPr>
          <a:xfrm>
            <a:off x="1371600" y="2624328"/>
            <a:ext cx="10088575" cy="365760"/>
          </a:xfrm>
          <a:prstGeom prst="rect">
            <a:avLst/>
          </a:prstGeom>
          <a:noFill/>
        </p:spPr>
        <p:txBody>
          <a:bodyPr wrap="square" lIns="36576" tIns="18288" rIns="36576" bIns="18288" anchor="t">
            <a:spAutoFit/>
          </a:bodyPr>
          <a:lstStyle/>
          <a:p>
            <a:pPr algn="l"/>
            <a:r>
              <a:rPr sz="1400" b="1" i="0">
                <a:solidFill>
                  <a:srgbClr val="0F172A"/>
                </a:solidFill>
                <a:latin typeface="Be Vietnam Pro"/>
              </a:rPr>
              <a:t>submission.csv ghi TRƯỚC mọi thứ có thể raise</a:t>
            </a:r>
          </a:p>
        </p:txBody>
      </p:sp>
      <p:sp>
        <p:nvSpPr>
          <p:cNvPr id="12" name="TextBox 11"/>
          <p:cNvSpPr txBox="1"/>
          <p:nvPr/>
        </p:nvSpPr>
        <p:spPr>
          <a:xfrm>
            <a:off x="1371600" y="2962656"/>
            <a:ext cx="10088575" cy="365760"/>
          </a:xfrm>
          <a:prstGeom prst="rect">
            <a:avLst/>
          </a:prstGeom>
          <a:noFill/>
        </p:spPr>
        <p:txBody>
          <a:bodyPr wrap="square" lIns="36576" tIns="18288" rIns="36576" bIns="18288" anchor="t">
            <a:spAutoFit/>
          </a:bodyPr>
          <a:lstStyle/>
          <a:p>
            <a:pPr algn="l"/>
            <a:r>
              <a:rPr sz="1150" b="0" i="0">
                <a:solidFill>
                  <a:srgbClr val="475569"/>
                </a:solidFill>
                <a:latin typeface="Be Vietnam Pro"/>
              </a:rPr>
              <a:t>Bước contract-repair phủ ĐÚNG mọi qid, mỗi câu 1 chữ cái hợp lệ theo số phương án TỪNG câu (giữ nguyên dự đoán tốt).</a:t>
            </a:r>
          </a:p>
        </p:txBody>
      </p:sp>
      <p:sp>
        <p:nvSpPr>
          <p:cNvPr id="13" name="Rounded Rectangle 12"/>
          <p:cNvSpPr/>
          <p:nvPr/>
        </p:nvSpPr>
        <p:spPr>
          <a:xfrm>
            <a:off x="502920" y="3456432"/>
            <a:ext cx="11185855" cy="841248"/>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endParaRPr/>
          </a:p>
        </p:txBody>
      </p:sp>
      <p:sp>
        <p:nvSpPr>
          <p:cNvPr id="14" name="Oval 13"/>
          <p:cNvSpPr/>
          <p:nvPr/>
        </p:nvSpPr>
        <p:spPr>
          <a:xfrm>
            <a:off x="685800" y="3648456"/>
            <a:ext cx="457200" cy="457200"/>
          </a:xfrm>
          <a:prstGeom prst="ellipse">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r>
              <a:rPr sz="1600" b="1" i="0">
                <a:solidFill>
                  <a:srgbClr val="FFFFFF"/>
                </a:solidFill>
                <a:latin typeface="Be Vietnam Pro"/>
              </a:rPr>
              <a:t>✓</a:t>
            </a:r>
          </a:p>
        </p:txBody>
      </p:sp>
      <p:sp>
        <p:nvSpPr>
          <p:cNvPr id="15" name="TextBox 14"/>
          <p:cNvSpPr txBox="1"/>
          <p:nvPr/>
        </p:nvSpPr>
        <p:spPr>
          <a:xfrm>
            <a:off x="1371600" y="3575304"/>
            <a:ext cx="10088575" cy="365760"/>
          </a:xfrm>
          <a:prstGeom prst="rect">
            <a:avLst/>
          </a:prstGeom>
          <a:noFill/>
        </p:spPr>
        <p:txBody>
          <a:bodyPr wrap="square" lIns="36576" tIns="18288" rIns="36576" bIns="18288" anchor="t">
            <a:spAutoFit/>
          </a:bodyPr>
          <a:lstStyle/>
          <a:p>
            <a:pPr algn="l"/>
            <a:r>
              <a:rPr sz="1400" b="1" i="0">
                <a:solidFill>
                  <a:srgbClr val="0F172A"/>
                </a:solidFill>
                <a:latin typeface="Be Vietnam Pro"/>
              </a:rPr>
              <a:t>Checkpoint mỗi câu + auto-resume</a:t>
            </a:r>
          </a:p>
        </p:txBody>
      </p:sp>
      <p:sp>
        <p:nvSpPr>
          <p:cNvPr id="16" name="TextBox 15"/>
          <p:cNvSpPr txBox="1"/>
          <p:nvPr/>
        </p:nvSpPr>
        <p:spPr>
          <a:xfrm>
            <a:off x="1371600" y="3913632"/>
            <a:ext cx="10088575" cy="365760"/>
          </a:xfrm>
          <a:prstGeom prst="rect">
            <a:avLst/>
          </a:prstGeom>
          <a:noFill/>
        </p:spPr>
        <p:txBody>
          <a:bodyPr wrap="square" lIns="36576" tIns="18288" rIns="36576" bIns="18288" anchor="t">
            <a:spAutoFit/>
          </a:bodyPr>
          <a:lstStyle/>
          <a:p>
            <a:pPr algn="l"/>
            <a:r>
              <a:rPr sz="1150" b="0" i="0">
                <a:solidFill>
                  <a:srgbClr val="475569"/>
                </a:solidFill>
                <a:latin typeface="Be Vietnam Pro"/>
              </a:rPr>
              <a:t>Container bị ngắt giữa chừng vẫn tiếp tục từ checkpoint, không làm lại từ đầu.</a:t>
            </a:r>
          </a:p>
        </p:txBody>
      </p:sp>
      <p:sp>
        <p:nvSpPr>
          <p:cNvPr id="17" name="Rounded Rectangle 16"/>
          <p:cNvSpPr/>
          <p:nvPr/>
        </p:nvSpPr>
        <p:spPr>
          <a:xfrm>
            <a:off x="502920" y="4425696"/>
            <a:ext cx="11185855" cy="640080"/>
          </a:xfrm>
          <a:prstGeom prst="roundRect">
            <a:avLst>
              <a:gd name="adj" fmla="val 6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r>
              <a:rPr sz="1500" b="1" i="0">
                <a:solidFill>
                  <a:srgbClr val="FFFFFF"/>
                </a:solidFill>
                <a:latin typeface="Be Vietnam Pro"/>
              </a:rPr>
              <a:t>Một lỗi bất kỳ </a:t>
            </a:r>
            <a:r>
              <a:rPr sz="1500" b="1" i="0">
                <a:solidFill>
                  <a:srgbClr val="14B8A6"/>
                </a:solidFill>
                <a:latin typeface="Be Vietnam Pro"/>
              </a:rPr>
              <a:t>KHÔNG THỂ</a:t>
            </a:r>
            <a:r>
              <a:rPr sz="1500" b="1" i="0">
                <a:solidFill>
                  <a:srgbClr val="FFFFFF"/>
                </a:solidFill>
                <a:latin typeface="Be Vietnam Pro"/>
              </a:rPr>
              <a:t> zero-hoá cả lần chạy 2000 câu.</a:t>
            </a:r>
          </a:p>
        </p:txBody>
      </p:sp>
      <p:sp>
        <p:nvSpPr>
          <p:cNvPr id="18" name="Rectangle 17"/>
          <p:cNvSpPr/>
          <p:nvPr/>
        </p:nvSpPr>
        <p:spPr>
          <a:xfrm>
            <a:off x="502920" y="6419088"/>
            <a:ext cx="11185855"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endParaRPr/>
          </a:p>
        </p:txBody>
      </p:sp>
      <p:sp>
        <p:nvSpPr>
          <p:cNvPr id="19" name="TextBox 18"/>
          <p:cNvSpPr txBox="1"/>
          <p:nvPr/>
        </p:nvSpPr>
        <p:spPr>
          <a:xfrm>
            <a:off x="502920" y="6455664"/>
            <a:ext cx="6711513" cy="292608"/>
          </a:xfrm>
          <a:prstGeom prst="rect">
            <a:avLst/>
          </a:prstGeom>
          <a:noFill/>
        </p:spPr>
        <p:txBody>
          <a:bodyPr wrap="square" lIns="36576" tIns="18288" rIns="36576" bIns="18288" anchor="t">
            <a:spAutoFit/>
          </a:bodyPr>
          <a:lstStyle/>
          <a:p>
            <a:pPr algn="l"/>
            <a:r>
              <a:rPr sz="950" b="0" i="0">
                <a:solidFill>
                  <a:srgbClr val="475569"/>
                </a:solidFill>
                <a:latin typeface="Be Vietnam Pro"/>
              </a:rPr>
              <a:t>Neko Core  ·  Đại học Hàng hải Việt Nam (VMU)</a:t>
            </a:r>
          </a:p>
        </p:txBody>
      </p:sp>
      <p:sp>
        <p:nvSpPr>
          <p:cNvPr id="20" name="TextBox 19"/>
          <p:cNvSpPr txBox="1"/>
          <p:nvPr/>
        </p:nvSpPr>
        <p:spPr>
          <a:xfrm>
            <a:off x="5536554" y="6455664"/>
            <a:ext cx="6152220" cy="292608"/>
          </a:xfrm>
          <a:prstGeom prst="rect">
            <a:avLst/>
          </a:prstGeom>
          <a:noFill/>
        </p:spPr>
        <p:txBody>
          <a:bodyPr wrap="square" lIns="36576" tIns="18288" rIns="36576" bIns="18288" anchor="t">
            <a:spAutoFit/>
          </a:bodyPr>
          <a:lstStyle/>
          <a:p>
            <a:pPr algn="r"/>
            <a:r>
              <a:rPr sz="950" b="0" i="0">
                <a:solidFill>
                  <a:srgbClr val="475569"/>
                </a:solidFill>
                <a:latin typeface="Be Vietnam Pro"/>
              </a:rPr>
              <a:t>neko-core:qwen3-4b-r2-cuda128-20260627   ·   9/14</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TextBox 1"/>
          <p:cNvSpPr txBox="1"/>
          <p:nvPr/>
        </p:nvSpPr>
        <p:spPr>
          <a:xfrm>
            <a:off x="502920" y="274320"/>
            <a:ext cx="11185855" cy="292608"/>
          </a:xfrm>
          <a:prstGeom prst="rect">
            <a:avLst/>
          </a:prstGeom>
          <a:noFill/>
        </p:spPr>
        <p:txBody>
          <a:bodyPr wrap="square" lIns="36576" tIns="18288" rIns="36576" bIns="18288" anchor="t">
            <a:spAutoFit/>
          </a:bodyPr>
          <a:lstStyle/>
          <a:p>
            <a:pPr algn="l"/>
            <a:r>
              <a:rPr sz="1250" b="1" i="0">
                <a:solidFill>
                  <a:srgbClr val="14B8A6"/>
                </a:solidFill>
                <a:latin typeface="Be Vietnam Pro"/>
              </a:rPr>
              <a:t>09 · KẾT QUẢ</a:t>
            </a:r>
          </a:p>
        </p:txBody>
      </p:sp>
      <p:sp>
        <p:nvSpPr>
          <p:cNvPr id="3" name="TextBox 2"/>
          <p:cNvSpPr txBox="1"/>
          <p:nvPr/>
        </p:nvSpPr>
        <p:spPr>
          <a:xfrm>
            <a:off x="502920" y="548640"/>
            <a:ext cx="11185855" cy="640080"/>
          </a:xfrm>
          <a:prstGeom prst="rect">
            <a:avLst/>
          </a:prstGeom>
          <a:noFill/>
        </p:spPr>
        <p:txBody>
          <a:bodyPr wrap="square" lIns="36576" tIns="18288" rIns="36576" bIns="18288" anchor="t">
            <a:spAutoFit/>
          </a:bodyPr>
          <a:lstStyle/>
          <a:p>
            <a:pPr algn="l"/>
            <a:r>
              <a:rPr sz="2700" b="1" i="0">
                <a:solidFill>
                  <a:srgbClr val="0F172A"/>
                </a:solidFill>
                <a:latin typeface="Be Vietnam Pro"/>
              </a:rPr>
              <a:t>Hành trình Accuracy — đo thật</a:t>
            </a:r>
          </a:p>
        </p:txBody>
      </p:sp>
      <p:sp>
        <p:nvSpPr>
          <p:cNvPr id="4" name="Rounded Rectangle 3"/>
          <p:cNvSpPr/>
          <p:nvPr/>
        </p:nvSpPr>
        <p:spPr>
          <a:xfrm>
            <a:off x="502920" y="1188720"/>
            <a:ext cx="1920240" cy="50292"/>
          </a:xfrm>
          <a:prstGeom prst="roundRect">
            <a:avLst>
              <a:gd name="adj" fmla="val 50000"/>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endParaRPr/>
          </a:p>
        </p:txBody>
      </p:sp>
      <p:sp>
        <p:nvSpPr>
          <p:cNvPr id="5" name="TextBox 4"/>
          <p:cNvSpPr txBox="1"/>
          <p:nvPr/>
        </p:nvSpPr>
        <p:spPr>
          <a:xfrm>
            <a:off x="502920" y="1508760"/>
            <a:ext cx="5486400" cy="365760"/>
          </a:xfrm>
          <a:prstGeom prst="rect">
            <a:avLst/>
          </a:prstGeom>
          <a:noFill/>
        </p:spPr>
        <p:txBody>
          <a:bodyPr wrap="square" lIns="36576" tIns="18288" rIns="36576" bIns="18288" anchor="t">
            <a:spAutoFit/>
          </a:bodyPr>
          <a:lstStyle/>
          <a:p>
            <a:pPr algn="l"/>
            <a:r>
              <a:rPr sz="1350" b="1" i="0">
                <a:solidFill>
                  <a:srgbClr val="0F172A"/>
                </a:solidFill>
                <a:latin typeface="Be Vietnam Pro"/>
              </a:rPr>
              <a:t>Cấu hình đã đo</a:t>
            </a:r>
          </a:p>
        </p:txBody>
      </p:sp>
      <p:sp>
        <p:nvSpPr>
          <p:cNvPr id="6" name="Rounded Rectangle 5"/>
          <p:cNvSpPr/>
          <p:nvPr/>
        </p:nvSpPr>
        <p:spPr>
          <a:xfrm>
            <a:off x="502920" y="1920240"/>
            <a:ext cx="5486400" cy="640080"/>
          </a:xfrm>
          <a:prstGeom prst="roundRect">
            <a:avLst>
              <a:gd name="adj" fmla="val 6000"/>
            </a:avLst>
          </a:prstGeom>
          <a:solidFill>
            <a:srgbClr val="EEF2F6"/>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l"/>
            <a:r>
              <a:rPr sz="1250" b="0" i="0">
                <a:solidFill>
                  <a:srgbClr val="475569"/>
                </a:solidFill>
                <a:latin typeface="Be Vietnam Pro"/>
              </a:rPr>
              <a:t>Letter-only (ép 1 token)  </a:t>
            </a:r>
            <a:r>
              <a:rPr sz="1250" b="1" i="0">
                <a:solidFill>
                  <a:srgbClr val="475569"/>
                </a:solidFill>
                <a:latin typeface="Be Vietnam Pro"/>
              </a:rPr>
              <a:t>→  thấp (lập luận bị nén)</a:t>
            </a:r>
          </a:p>
        </p:txBody>
      </p:sp>
      <p:sp>
        <p:nvSpPr>
          <p:cNvPr id="7" name="Rounded Rectangle 6"/>
          <p:cNvSpPr/>
          <p:nvPr/>
        </p:nvSpPr>
        <p:spPr>
          <a:xfrm>
            <a:off x="502920" y="2651760"/>
            <a:ext cx="5486400" cy="777240"/>
          </a:xfrm>
          <a:prstGeom prst="roundRect">
            <a:avLst>
              <a:gd name="adj" fmla="val 6000"/>
            </a:avLst>
          </a:prstGeom>
          <a:solidFill>
            <a:srgbClr val="E6FAF7"/>
          </a:solidFill>
          <a:ln w="15875">
            <a:solidFill>
              <a:srgbClr val="14B8A6"/>
            </a:solid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l">
              <a:spcAft>
                <a:spcPts val="200"/>
              </a:spcAft>
            </a:pPr>
            <a:r>
              <a:rPr sz="1300" b="1" i="0">
                <a:solidFill>
                  <a:srgbClr val="0F172A"/>
                </a:solidFill>
                <a:latin typeface="Be Vietnam Pro"/>
              </a:rPr>
              <a:t>✓ Chain-of-thought k=1 (ship)</a:t>
            </a:r>
          </a:p>
          <a:p>
            <a:pPr algn="l"/>
            <a:r>
              <a:rPr sz="1300" b="1" i="0">
                <a:solidFill>
                  <a:srgbClr val="16A34A"/>
                </a:solidFill>
                <a:latin typeface="Be Vietnam Pro"/>
              </a:rPr>
              <a:t>80.22 proxy-450</a:t>
            </a:r>
            <a:r>
              <a:rPr sz="1300" b="0" i="0">
                <a:solidFill>
                  <a:srgbClr val="475569"/>
                </a:solidFill>
                <a:latin typeface="Be Vietnam Pro"/>
              </a:rPr>
              <a:t>   ·   </a:t>
            </a:r>
            <a:r>
              <a:rPr sz="1300" b="1" i="0">
                <a:solidFill>
                  <a:srgbClr val="16A34A"/>
                </a:solidFill>
                <a:latin typeface="Be Vietnam Pro"/>
              </a:rPr>
              <a:t>83.59 leaderboard-463</a:t>
            </a:r>
          </a:p>
        </p:txBody>
      </p:sp>
      <p:sp>
        <p:nvSpPr>
          <p:cNvPr id="8" name="TextBox 7"/>
          <p:cNvSpPr txBox="1"/>
          <p:nvPr/>
        </p:nvSpPr>
        <p:spPr>
          <a:xfrm>
            <a:off x="6446520" y="1508760"/>
            <a:ext cx="5212080" cy="365760"/>
          </a:xfrm>
          <a:prstGeom prst="rect">
            <a:avLst/>
          </a:prstGeom>
          <a:noFill/>
        </p:spPr>
        <p:txBody>
          <a:bodyPr wrap="square" lIns="36576" tIns="18288" rIns="36576" bIns="18288" anchor="t">
            <a:spAutoFit/>
          </a:bodyPr>
          <a:lstStyle/>
          <a:p>
            <a:pPr algn="l"/>
            <a:r>
              <a:rPr sz="1350" b="1" i="0">
                <a:solidFill>
                  <a:srgbClr val="0F172A"/>
                </a:solidFill>
                <a:latin typeface="Be Vietnam Pro"/>
              </a:rPr>
              <a:t>Phân rã cụm (proxy-450)</a:t>
            </a:r>
          </a:p>
        </p:txBody>
      </p:sp>
      <p:sp>
        <p:nvSpPr>
          <p:cNvPr id="9" name="Rounded Rectangle 8"/>
          <p:cNvSpPr/>
          <p:nvPr/>
        </p:nvSpPr>
        <p:spPr>
          <a:xfrm>
            <a:off x="6446520" y="1920240"/>
            <a:ext cx="1627632" cy="914400"/>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spcAft>
                <a:spcPts val="200"/>
              </a:spcAft>
            </a:pPr>
            <a:r>
              <a:rPr sz="2200" b="1" i="0">
                <a:solidFill>
                  <a:srgbClr val="6366F1"/>
                </a:solidFill>
                <a:latin typeface="Be Vietnam Pro"/>
              </a:rPr>
              <a:t>73.91</a:t>
            </a:r>
          </a:p>
          <a:p>
            <a:pPr algn="ctr"/>
            <a:r>
              <a:rPr sz="1100" b="0" i="0">
                <a:solidFill>
                  <a:srgbClr val="475569"/>
                </a:solidFill>
                <a:latin typeface="Be Vietnam Pro"/>
              </a:rPr>
              <a:t>Toán/Hoá</a:t>
            </a:r>
          </a:p>
        </p:txBody>
      </p:sp>
      <p:sp>
        <p:nvSpPr>
          <p:cNvPr id="10" name="Rounded Rectangle 9"/>
          <p:cNvSpPr/>
          <p:nvPr/>
        </p:nvSpPr>
        <p:spPr>
          <a:xfrm>
            <a:off x="8238744" y="1920240"/>
            <a:ext cx="1627632" cy="914400"/>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spcAft>
                <a:spcPts val="200"/>
              </a:spcAft>
            </a:pPr>
            <a:r>
              <a:rPr sz="2200" b="1" i="0">
                <a:solidFill>
                  <a:srgbClr val="6366F1"/>
                </a:solidFill>
                <a:latin typeface="Be Vietnam Pro"/>
              </a:rPr>
              <a:t>78.67</a:t>
            </a:r>
          </a:p>
          <a:p>
            <a:pPr algn="ctr"/>
            <a:r>
              <a:rPr sz="1100" b="0" i="0">
                <a:solidFill>
                  <a:srgbClr val="475569"/>
                </a:solidFill>
                <a:latin typeface="Be Vietnam Pro"/>
              </a:rPr>
              <a:t>GDCD</a:t>
            </a:r>
          </a:p>
        </p:txBody>
      </p:sp>
      <p:sp>
        <p:nvSpPr>
          <p:cNvPr id="11" name="Rounded Rectangle 10"/>
          <p:cNvSpPr/>
          <p:nvPr/>
        </p:nvSpPr>
        <p:spPr>
          <a:xfrm>
            <a:off x="10030967" y="1920240"/>
            <a:ext cx="1627632" cy="914400"/>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spcAft>
                <a:spcPts val="200"/>
              </a:spcAft>
            </a:pPr>
            <a:r>
              <a:rPr sz="2200" b="1" i="0">
                <a:solidFill>
                  <a:srgbClr val="6366F1"/>
                </a:solidFill>
                <a:latin typeface="Be Vietnam Pro"/>
              </a:rPr>
              <a:t>85.41</a:t>
            </a:r>
          </a:p>
          <a:p>
            <a:pPr algn="ctr"/>
            <a:r>
              <a:rPr sz="1100" b="0" i="0">
                <a:solidFill>
                  <a:srgbClr val="475569"/>
                </a:solidFill>
                <a:latin typeface="Be Vietnam Pro"/>
              </a:rPr>
              <a:t>Khoa học</a:t>
            </a:r>
          </a:p>
        </p:txBody>
      </p:sp>
      <p:sp>
        <p:nvSpPr>
          <p:cNvPr id="12" name="Rounded Rectangle 11"/>
          <p:cNvSpPr/>
          <p:nvPr/>
        </p:nvSpPr>
        <p:spPr>
          <a:xfrm>
            <a:off x="502920" y="3794760"/>
            <a:ext cx="11185855" cy="1005840"/>
          </a:xfrm>
          <a:prstGeom prst="roundRect">
            <a:avLst>
              <a:gd name="adj" fmla="val 6000"/>
            </a:avLst>
          </a:prstGeom>
          <a:solidFill>
            <a:srgbClr val="FEF6EC"/>
          </a:solidFill>
          <a:ln w="12700">
            <a:solidFill>
              <a:srgbClr val="F3D9B0"/>
            </a:solid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l">
              <a:spcAft>
                <a:spcPts val="400"/>
              </a:spcAft>
            </a:pPr>
            <a:r>
              <a:rPr sz="1200" b="1" i="0">
                <a:solidFill>
                  <a:srgbClr val="D97706"/>
                </a:solidFill>
                <a:latin typeface="Be Vietnam Pro"/>
              </a:rPr>
              <a:t>PHÁT HIỆN THEN CHỐT</a:t>
            </a:r>
          </a:p>
          <a:p>
            <a:pPr algn="l">
              <a:spcAft>
                <a:spcPts val="200"/>
              </a:spcAft>
            </a:pPr>
            <a:r>
              <a:rPr sz="1400" b="0" i="0">
                <a:solidFill>
                  <a:srgbClr val="0F172A"/>
                </a:solidFill>
                <a:latin typeface="Be Vietnam Pro"/>
              </a:rPr>
              <a:t>Lỗi của một mô hình 4B trên đề THPT chủ yếu là </a:t>
            </a:r>
            <a:r>
              <a:rPr sz="1400" b="1" i="0">
                <a:solidFill>
                  <a:srgbClr val="DC2626"/>
                </a:solidFill>
                <a:latin typeface="Be Vietnam Pro"/>
              </a:rPr>
              <a:t>SAI SUY LUẬN / tính toán</a:t>
            </a:r>
            <a:r>
              <a:rPr sz="1400" b="0" i="0">
                <a:solidFill>
                  <a:srgbClr val="0F172A"/>
                </a:solidFill>
                <a:latin typeface="Be Vietnam Pro"/>
              </a:rPr>
              <a:t>, không phải thiếu fact tra-cứu-được.</a:t>
            </a:r>
          </a:p>
          <a:p>
            <a:pPr algn="l"/>
            <a:r>
              <a:rPr sz="1250" b="0" i="1">
                <a:solidFill>
                  <a:srgbClr val="475569"/>
                </a:solidFill>
                <a:latin typeface="Be Vietnam Pro"/>
              </a:rPr>
              <a:t>→ định hướng trực tiếp việc chọn / loại đòn bẩy ở slide sau.</a:t>
            </a:r>
          </a:p>
        </p:txBody>
      </p:sp>
      <p:sp>
        <p:nvSpPr>
          <p:cNvPr id="13" name="Rectangle 12"/>
          <p:cNvSpPr/>
          <p:nvPr/>
        </p:nvSpPr>
        <p:spPr>
          <a:xfrm>
            <a:off x="502920" y="6419088"/>
            <a:ext cx="11185855"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endParaRPr/>
          </a:p>
        </p:txBody>
      </p:sp>
      <p:sp>
        <p:nvSpPr>
          <p:cNvPr id="14" name="TextBox 13"/>
          <p:cNvSpPr txBox="1"/>
          <p:nvPr/>
        </p:nvSpPr>
        <p:spPr>
          <a:xfrm>
            <a:off x="502920" y="6455664"/>
            <a:ext cx="6711513" cy="292608"/>
          </a:xfrm>
          <a:prstGeom prst="rect">
            <a:avLst/>
          </a:prstGeom>
          <a:noFill/>
        </p:spPr>
        <p:txBody>
          <a:bodyPr wrap="square" lIns="36576" tIns="18288" rIns="36576" bIns="18288" anchor="t">
            <a:spAutoFit/>
          </a:bodyPr>
          <a:lstStyle/>
          <a:p>
            <a:pPr algn="l"/>
            <a:r>
              <a:rPr sz="950" b="0" i="0">
                <a:solidFill>
                  <a:srgbClr val="475569"/>
                </a:solidFill>
                <a:latin typeface="Be Vietnam Pro"/>
              </a:rPr>
              <a:t>Neko Core  ·  Đại học Hàng hải Việt Nam (VMU)</a:t>
            </a:r>
          </a:p>
        </p:txBody>
      </p:sp>
      <p:sp>
        <p:nvSpPr>
          <p:cNvPr id="15" name="TextBox 14"/>
          <p:cNvSpPr txBox="1"/>
          <p:nvPr/>
        </p:nvSpPr>
        <p:spPr>
          <a:xfrm>
            <a:off x="5536554" y="6455664"/>
            <a:ext cx="6152220" cy="292608"/>
          </a:xfrm>
          <a:prstGeom prst="rect">
            <a:avLst/>
          </a:prstGeom>
          <a:noFill/>
        </p:spPr>
        <p:txBody>
          <a:bodyPr wrap="square" lIns="36576" tIns="18288" rIns="36576" bIns="18288" anchor="t">
            <a:spAutoFit/>
          </a:bodyPr>
          <a:lstStyle/>
          <a:p>
            <a:pPr algn="r"/>
            <a:r>
              <a:rPr sz="950" b="0" i="0">
                <a:solidFill>
                  <a:srgbClr val="475569"/>
                </a:solidFill>
                <a:latin typeface="Be Vietnam Pro"/>
              </a:rPr>
              <a:t>neko-core:qwen3-4b-r2-cuda128-20260627   ·   10/14</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TextBox 1"/>
          <p:cNvSpPr txBox="1"/>
          <p:nvPr/>
        </p:nvSpPr>
        <p:spPr>
          <a:xfrm>
            <a:off x="502920" y="274320"/>
            <a:ext cx="11185855" cy="292608"/>
          </a:xfrm>
          <a:prstGeom prst="rect">
            <a:avLst/>
          </a:prstGeom>
          <a:noFill/>
        </p:spPr>
        <p:txBody>
          <a:bodyPr wrap="square" lIns="36576" tIns="18288" rIns="36576" bIns="18288" anchor="t">
            <a:spAutoFit/>
          </a:bodyPr>
          <a:lstStyle/>
          <a:p>
            <a:pPr algn="l"/>
            <a:r>
              <a:rPr sz="1250" b="1" i="0">
                <a:solidFill>
                  <a:srgbClr val="14B8A6"/>
                </a:solidFill>
                <a:latin typeface="Be Vietnam Pro"/>
              </a:rPr>
              <a:t>10 · BẰNG CHỨNG ĐO LƯỜNG</a:t>
            </a:r>
          </a:p>
        </p:txBody>
      </p:sp>
      <p:sp>
        <p:nvSpPr>
          <p:cNvPr id="3" name="TextBox 2"/>
          <p:cNvSpPr txBox="1"/>
          <p:nvPr/>
        </p:nvSpPr>
        <p:spPr>
          <a:xfrm>
            <a:off x="502920" y="548640"/>
            <a:ext cx="11185855" cy="640080"/>
          </a:xfrm>
          <a:prstGeom prst="rect">
            <a:avLst/>
          </a:prstGeom>
          <a:noFill/>
        </p:spPr>
        <p:txBody>
          <a:bodyPr wrap="square" lIns="36576" tIns="18288" rIns="36576" bIns="18288" anchor="t">
            <a:spAutoFit/>
          </a:bodyPr>
          <a:lstStyle/>
          <a:p>
            <a:pPr algn="l"/>
            <a:r>
              <a:rPr sz="2700" b="1" i="0">
                <a:solidFill>
                  <a:srgbClr val="0F172A"/>
                </a:solidFill>
                <a:latin typeface="Be Vietnam Pro"/>
              </a:rPr>
              <a:t>★ Kỷ luật chống overfit: BẰNG CHỨNG ĐO</a:t>
            </a:r>
          </a:p>
        </p:txBody>
      </p:sp>
      <p:sp>
        <p:nvSpPr>
          <p:cNvPr id="4" name="Rounded Rectangle 3"/>
          <p:cNvSpPr/>
          <p:nvPr/>
        </p:nvSpPr>
        <p:spPr>
          <a:xfrm>
            <a:off x="502920" y="1188720"/>
            <a:ext cx="1920240" cy="50292"/>
          </a:xfrm>
          <a:prstGeom prst="roundRect">
            <a:avLst>
              <a:gd name="adj" fmla="val 50000"/>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endParaRPr/>
          </a:p>
        </p:txBody>
      </p:sp>
      <p:sp>
        <p:nvSpPr>
          <p:cNvPr id="5" name="TextBox 4"/>
          <p:cNvSpPr txBox="1"/>
          <p:nvPr/>
        </p:nvSpPr>
        <p:spPr>
          <a:xfrm>
            <a:off x="502920" y="1417320"/>
            <a:ext cx="11185855" cy="411480"/>
          </a:xfrm>
          <a:prstGeom prst="rect">
            <a:avLst/>
          </a:prstGeom>
          <a:noFill/>
        </p:spPr>
        <p:txBody>
          <a:bodyPr wrap="square" lIns="36576" tIns="18288" rIns="36576" bIns="18288" anchor="t">
            <a:spAutoFit/>
          </a:bodyPr>
          <a:lstStyle/>
          <a:p>
            <a:pPr algn="l"/>
            <a:r>
              <a:rPr sz="1350" b="0" i="0">
                <a:solidFill>
                  <a:srgbClr val="0F172A"/>
                </a:solidFill>
                <a:latin typeface="Be Vietnam Pro"/>
              </a:rPr>
              <a:t>Mỗi đòn bẩy hào nhoáng đều được </a:t>
            </a:r>
            <a:r>
              <a:rPr sz="1350" b="1" i="0">
                <a:solidFill>
                  <a:srgbClr val="DC2626"/>
                </a:solidFill>
                <a:latin typeface="Be Vietnam Pro"/>
              </a:rPr>
              <a:t>XÂY rồi LOẠI BỎ</a:t>
            </a:r>
            <a:r>
              <a:rPr sz="1350" b="0" i="0">
                <a:solidFill>
                  <a:srgbClr val="0F172A"/>
                </a:solidFill>
                <a:latin typeface="Be Vietnam Pro"/>
              </a:rPr>
              <a:t> bằng một phép đo held-out — không phải linh cảm:</a:t>
            </a:r>
          </a:p>
        </p:txBody>
      </p:sp>
      <p:graphicFrame>
        <p:nvGraphicFramePr>
          <p:cNvPr id="6" name="Table 5"/>
          <p:cNvGraphicFramePr>
            <a:graphicFrameLocks noGrp="1"/>
          </p:cNvGraphicFramePr>
          <p:nvPr/>
        </p:nvGraphicFramePr>
        <p:xfrm>
          <a:off x="502920" y="1920240"/>
          <a:ext cx="11183112" cy="2743200"/>
        </p:xfrm>
        <a:graphic>
          <a:graphicData uri="http://schemas.openxmlformats.org/drawingml/2006/table">
            <a:tbl>
              <a:tblPr firstRow="1" bandRow="1">
                <a:tableStyleId>{5C22544A-7EE6-4342-B048-85BDC9FD1C3A}</a:tableStyleId>
              </a:tblPr>
              <a:tblGrid>
                <a:gridCol w="4206240">
                  <a:extLst>
                    <a:ext uri="{9D8B030D-6E8A-4147-A177-3AD203B41FA5}">
                      <a16:colId xmlns:a16="http://schemas.microsoft.com/office/drawing/2014/main" val="20000"/>
                    </a:ext>
                  </a:extLst>
                </a:gridCol>
                <a:gridCol w="4480560">
                  <a:extLst>
                    <a:ext uri="{9D8B030D-6E8A-4147-A177-3AD203B41FA5}">
                      <a16:colId xmlns:a16="http://schemas.microsoft.com/office/drawing/2014/main" val="20001"/>
                    </a:ext>
                  </a:extLst>
                </a:gridCol>
                <a:gridCol w="2496312">
                  <a:extLst>
                    <a:ext uri="{9D8B030D-6E8A-4147-A177-3AD203B41FA5}">
                      <a16:colId xmlns:a16="http://schemas.microsoft.com/office/drawing/2014/main" val="20002"/>
                    </a:ext>
                  </a:extLst>
                </a:gridCol>
              </a:tblGrid>
              <a:tr h="457200">
                <a:tc>
                  <a:txBody>
                    <a:bodyPr/>
                    <a:lstStyle/>
                    <a:p>
                      <a:pPr algn="l"/>
                      <a:r>
                        <a:rPr sz="1150" b="1">
                          <a:solidFill>
                            <a:srgbClr val="FFFFFF"/>
                          </a:solidFill>
                          <a:latin typeface="Be Vietnam Pro"/>
                        </a:rPr>
                        <a:t>Đòn bẩy (đã xây + đo)</a:t>
                      </a:r>
                    </a:p>
                  </a:txBody>
                  <a:tcPr marR="54864" marT="27432" marB="27432" anchor="ctr">
                    <a:solidFill>
                      <a:srgbClr val="0B1220"/>
                    </a:solidFill>
                  </a:tcPr>
                </a:tc>
                <a:tc>
                  <a:txBody>
                    <a:bodyPr/>
                    <a:lstStyle/>
                    <a:p>
                      <a:pPr algn="l"/>
                      <a:r>
                        <a:rPr sz="1150" b="1">
                          <a:solidFill>
                            <a:srgbClr val="FFFFFF"/>
                          </a:solidFill>
                          <a:latin typeface="Be Vietnam Pro"/>
                        </a:rPr>
                        <a:t>Δ accuracy (Qwen3-4B, proxy)</a:t>
                      </a:r>
                    </a:p>
                  </a:txBody>
                  <a:tcPr marR="54864" marT="27432" marB="27432" anchor="ctr">
                    <a:solidFill>
                      <a:srgbClr val="0B1220"/>
                    </a:solidFill>
                  </a:tcPr>
                </a:tc>
                <a:tc>
                  <a:txBody>
                    <a:bodyPr/>
                    <a:lstStyle/>
                    <a:p>
                      <a:pPr algn="l"/>
                      <a:r>
                        <a:rPr sz="1150" b="1">
                          <a:solidFill>
                            <a:srgbClr val="FFFFFF"/>
                          </a:solidFill>
                          <a:latin typeface="Be Vietnam Pro"/>
                        </a:rPr>
                        <a:t>Quyết định</a:t>
                      </a:r>
                    </a:p>
                  </a:txBody>
                  <a:tcPr marR="54864" marT="27432" marB="27432" anchor="ctr">
                    <a:solidFill>
                      <a:srgbClr val="0B1220"/>
                    </a:solidFill>
                  </a:tcPr>
                </a:tc>
                <a:extLst>
                  <a:ext uri="{0D108BD9-81ED-4DB2-BD59-A6C34878D82A}">
                    <a16:rowId xmlns:a16="http://schemas.microsoft.com/office/drawing/2014/main" val="10000"/>
                  </a:ext>
                </a:extLst>
              </a:tr>
              <a:tr h="457200">
                <a:tc>
                  <a:txBody>
                    <a:bodyPr/>
                    <a:lstStyle/>
                    <a:p>
                      <a:pPr algn="l"/>
                      <a:r>
                        <a:rPr sz="1150" b="0">
                          <a:solidFill>
                            <a:srgbClr val="0F172A"/>
                          </a:solidFill>
                          <a:latin typeface="Be Vietnam Pro"/>
                        </a:rPr>
                        <a:t>Fine-tune v1 (math+legal+mcq)</a:t>
                      </a:r>
                    </a:p>
                  </a:txBody>
                  <a:tcPr marR="54864" marT="27432" marB="27432" anchor="ctr">
                    <a:solidFill>
                      <a:srgbClr val="FEF2F2"/>
                    </a:solidFill>
                  </a:tcPr>
                </a:tc>
                <a:tc>
                  <a:txBody>
                    <a:bodyPr/>
                    <a:lstStyle/>
                    <a:p>
                      <a:pPr algn="l"/>
                      <a:r>
                        <a:rPr sz="1150" b="0">
                          <a:solidFill>
                            <a:srgbClr val="DC2626"/>
                          </a:solidFill>
                          <a:latin typeface="Be Vietnam Pro"/>
                        </a:rPr>
                        <a:t>−4.44  (quant −14.78)</a:t>
                      </a:r>
                    </a:p>
                  </a:txBody>
                  <a:tcPr marR="54864" marT="27432" marB="27432" anchor="ctr">
                    <a:solidFill>
                      <a:srgbClr val="FEF2F2"/>
                    </a:solidFill>
                  </a:tcPr>
                </a:tc>
                <a:tc>
                  <a:txBody>
                    <a:bodyPr/>
                    <a:lstStyle/>
                    <a:p>
                      <a:pPr algn="l"/>
                      <a:r>
                        <a:rPr sz="1150" b="1">
                          <a:solidFill>
                            <a:srgbClr val="DC2626"/>
                          </a:solidFill>
                          <a:latin typeface="Be Vietnam Pro"/>
                        </a:rPr>
                        <a:t>✗ LOẠI</a:t>
                      </a:r>
                    </a:p>
                  </a:txBody>
                  <a:tcPr marR="54864" marT="27432" marB="27432" anchor="ctr">
                    <a:solidFill>
                      <a:srgbClr val="FEF2F2"/>
                    </a:solidFill>
                  </a:tcPr>
                </a:tc>
                <a:extLst>
                  <a:ext uri="{0D108BD9-81ED-4DB2-BD59-A6C34878D82A}">
                    <a16:rowId xmlns:a16="http://schemas.microsoft.com/office/drawing/2014/main" val="10001"/>
                  </a:ext>
                </a:extLst>
              </a:tr>
              <a:tr h="457200">
                <a:tc>
                  <a:txBody>
                    <a:bodyPr/>
                    <a:lstStyle/>
                    <a:p>
                      <a:pPr algn="l"/>
                      <a:r>
                        <a:rPr sz="1150" b="0">
                          <a:solidFill>
                            <a:srgbClr val="0F172A"/>
                          </a:solidFill>
                          <a:latin typeface="Be Vietnam Pro"/>
                        </a:rPr>
                        <a:t>Fine-tune v2 (hết data in-dist)</a:t>
                      </a:r>
                    </a:p>
                  </a:txBody>
                  <a:tcPr marR="54864" marT="27432" marB="27432" anchor="ctr">
                    <a:solidFill>
                      <a:srgbClr val="FEF2F2"/>
                    </a:solidFill>
                  </a:tcPr>
                </a:tc>
                <a:tc>
                  <a:txBody>
                    <a:bodyPr/>
                    <a:lstStyle/>
                    <a:p>
                      <a:pPr algn="l"/>
                      <a:r>
                        <a:rPr sz="1150" b="0">
                          <a:solidFill>
                            <a:srgbClr val="DC2626"/>
                          </a:solidFill>
                          <a:latin typeface="Be Vietnam Pro"/>
                        </a:rPr>
                        <a:t>±0.00  (đúng base)</a:t>
                      </a:r>
                    </a:p>
                  </a:txBody>
                  <a:tcPr marR="54864" marT="27432" marB="27432" anchor="ctr">
                    <a:solidFill>
                      <a:srgbClr val="FEF2F2"/>
                    </a:solidFill>
                  </a:tcPr>
                </a:tc>
                <a:tc>
                  <a:txBody>
                    <a:bodyPr/>
                    <a:lstStyle/>
                    <a:p>
                      <a:pPr algn="l"/>
                      <a:r>
                        <a:rPr sz="1150" b="1">
                          <a:solidFill>
                            <a:srgbClr val="DC2626"/>
                          </a:solidFill>
                          <a:latin typeface="Be Vietnam Pro"/>
                        </a:rPr>
                        <a:t>✗ LOẠI</a:t>
                      </a:r>
                    </a:p>
                  </a:txBody>
                  <a:tcPr marR="54864" marT="27432" marB="27432" anchor="ctr">
                    <a:solidFill>
                      <a:srgbClr val="FEF2F2"/>
                    </a:solidFill>
                  </a:tcPr>
                </a:tc>
                <a:extLst>
                  <a:ext uri="{0D108BD9-81ED-4DB2-BD59-A6C34878D82A}">
                    <a16:rowId xmlns:a16="http://schemas.microsoft.com/office/drawing/2014/main" val="10002"/>
                  </a:ext>
                </a:extLst>
              </a:tr>
              <a:tr h="457200">
                <a:tc>
                  <a:txBody>
                    <a:bodyPr/>
                    <a:lstStyle/>
                    <a:p>
                      <a:pPr algn="l"/>
                      <a:r>
                        <a:rPr sz="1150" b="0">
                          <a:solidFill>
                            <a:srgbClr val="0F172A"/>
                          </a:solidFill>
                          <a:latin typeface="Be Vietnam Pro"/>
                        </a:rPr>
                        <a:t>RAG-gated</a:t>
                      </a:r>
                    </a:p>
                  </a:txBody>
                  <a:tcPr marR="54864" marT="27432" marB="27432" anchor="ctr">
                    <a:solidFill>
                      <a:srgbClr val="FEF2F2"/>
                    </a:solidFill>
                  </a:tcPr>
                </a:tc>
                <a:tc>
                  <a:txBody>
                    <a:bodyPr/>
                    <a:lstStyle/>
                    <a:p>
                      <a:pPr algn="l"/>
                      <a:r>
                        <a:rPr sz="1150" b="0">
                          <a:solidFill>
                            <a:srgbClr val="DC2626"/>
                          </a:solidFill>
                          <a:latin typeface="Be Vietnam Pro"/>
                        </a:rPr>
                        <a:t>+3.11 ẢO (variance; civics −5 sạch)</a:t>
                      </a:r>
                    </a:p>
                  </a:txBody>
                  <a:tcPr marR="54864" marT="27432" marB="27432" anchor="ctr">
                    <a:solidFill>
                      <a:srgbClr val="FEF2F2"/>
                    </a:solidFill>
                  </a:tcPr>
                </a:tc>
                <a:tc>
                  <a:txBody>
                    <a:bodyPr/>
                    <a:lstStyle/>
                    <a:p>
                      <a:pPr algn="l"/>
                      <a:r>
                        <a:rPr sz="1150" b="1">
                          <a:solidFill>
                            <a:srgbClr val="DC2626"/>
                          </a:solidFill>
                          <a:latin typeface="Be Vietnam Pro"/>
                        </a:rPr>
                        <a:t>✗ LOẠI (+ phạm luật)</a:t>
                      </a:r>
                    </a:p>
                  </a:txBody>
                  <a:tcPr marR="54864" marT="27432" marB="27432" anchor="ctr">
                    <a:solidFill>
                      <a:srgbClr val="FEF2F2"/>
                    </a:solidFill>
                  </a:tcPr>
                </a:tc>
                <a:extLst>
                  <a:ext uri="{0D108BD9-81ED-4DB2-BD59-A6C34878D82A}">
                    <a16:rowId xmlns:a16="http://schemas.microsoft.com/office/drawing/2014/main" val="10003"/>
                  </a:ext>
                </a:extLst>
              </a:tr>
              <a:tr h="457200">
                <a:tc>
                  <a:txBody>
                    <a:bodyPr/>
                    <a:lstStyle/>
                    <a:p>
                      <a:pPr algn="l"/>
                      <a:r>
                        <a:rPr sz="1150" b="0">
                          <a:solidFill>
                            <a:srgbClr val="0F172A"/>
                          </a:solidFill>
                          <a:latin typeface="Be Vietnam Pro"/>
                        </a:rPr>
                        <a:t>TIR (model viết + chạy Python)</a:t>
                      </a:r>
                    </a:p>
                  </a:txBody>
                  <a:tcPr marR="54864" marT="27432" marB="27432" anchor="ctr">
                    <a:solidFill>
                      <a:srgbClr val="FEF2F2"/>
                    </a:solidFill>
                  </a:tcPr>
                </a:tc>
                <a:tc>
                  <a:txBody>
                    <a:bodyPr/>
                    <a:lstStyle/>
                    <a:p>
                      <a:pPr algn="l"/>
                      <a:r>
                        <a:rPr sz="1150" b="0">
                          <a:solidFill>
                            <a:srgbClr val="DC2626"/>
                          </a:solidFill>
                          <a:latin typeface="Be Vietnam Pro"/>
                        </a:rPr>
                        <a:t>−16.52  (41% câu degrade)</a:t>
                      </a:r>
                    </a:p>
                  </a:txBody>
                  <a:tcPr marR="54864" marT="27432" marB="27432" anchor="ctr">
                    <a:solidFill>
                      <a:srgbClr val="FEF2F2"/>
                    </a:solidFill>
                  </a:tcPr>
                </a:tc>
                <a:tc>
                  <a:txBody>
                    <a:bodyPr/>
                    <a:lstStyle/>
                    <a:p>
                      <a:pPr algn="l"/>
                      <a:r>
                        <a:rPr sz="1150" b="1">
                          <a:solidFill>
                            <a:srgbClr val="DC2626"/>
                          </a:solidFill>
                          <a:latin typeface="Be Vietnam Pro"/>
                        </a:rPr>
                        <a:t>✗ LOẠI</a:t>
                      </a:r>
                    </a:p>
                  </a:txBody>
                  <a:tcPr marR="54864" marT="27432" marB="27432" anchor="ctr">
                    <a:solidFill>
                      <a:srgbClr val="FEF2F2"/>
                    </a:solidFill>
                  </a:tcPr>
                </a:tc>
                <a:extLst>
                  <a:ext uri="{0D108BD9-81ED-4DB2-BD59-A6C34878D82A}">
                    <a16:rowId xmlns:a16="http://schemas.microsoft.com/office/drawing/2014/main" val="10004"/>
                  </a:ext>
                </a:extLst>
              </a:tr>
              <a:tr h="457200">
                <a:tc>
                  <a:txBody>
                    <a:bodyPr/>
                    <a:lstStyle/>
                    <a:p>
                      <a:pPr algn="l"/>
                      <a:r>
                        <a:rPr sz="1150" b="0">
                          <a:solidFill>
                            <a:srgbClr val="0F172A"/>
                          </a:solidFill>
                          <a:latin typeface="Be Vietnam Pro"/>
                        </a:rPr>
                        <a:t>k5-vote / tiered</a:t>
                      </a:r>
                    </a:p>
                  </a:txBody>
                  <a:tcPr marR="54864" marT="27432" marB="27432" anchor="ctr">
                    <a:solidFill>
                      <a:srgbClr val="FFFFFF"/>
                    </a:solidFill>
                  </a:tcPr>
                </a:tc>
                <a:tc>
                  <a:txBody>
                    <a:bodyPr/>
                    <a:lstStyle/>
                    <a:p>
                      <a:pPr algn="l"/>
                      <a:r>
                        <a:rPr sz="1150" b="0">
                          <a:solidFill>
                            <a:srgbClr val="0F172A"/>
                          </a:solidFill>
                          <a:latin typeface="Be Vietnam Pro"/>
                        </a:rPr>
                        <a:t>≈ ship k=1 (trong nhiễu)</a:t>
                      </a:r>
                    </a:p>
                  </a:txBody>
                  <a:tcPr marR="54864" marT="27432" marB="27432" anchor="ctr">
                    <a:solidFill>
                      <a:srgbClr val="FFFFFF"/>
                    </a:solidFill>
                  </a:tcPr>
                </a:tc>
                <a:tc>
                  <a:txBody>
                    <a:bodyPr/>
                    <a:lstStyle/>
                    <a:p>
                      <a:pPr algn="l"/>
                      <a:r>
                        <a:rPr sz="1150" b="1">
                          <a:solidFill>
                            <a:srgbClr val="475569"/>
                          </a:solidFill>
                          <a:latin typeface="Be Vietnam Pro"/>
                        </a:rPr>
                        <a:t>● không bật</a:t>
                      </a:r>
                    </a:p>
                  </a:txBody>
                  <a:tcPr marR="54864" marT="27432" marB="27432" anchor="ctr">
                    <a:solidFill>
                      <a:srgbClr val="FFFFFF"/>
                    </a:solidFill>
                  </a:tcPr>
                </a:tc>
                <a:extLst>
                  <a:ext uri="{0D108BD9-81ED-4DB2-BD59-A6C34878D82A}">
                    <a16:rowId xmlns:a16="http://schemas.microsoft.com/office/drawing/2014/main" val="10005"/>
                  </a:ext>
                </a:extLst>
              </a:tr>
            </a:tbl>
          </a:graphicData>
        </a:graphic>
      </p:graphicFrame>
      <p:sp>
        <p:nvSpPr>
          <p:cNvPr id="7" name="Rounded Rectangle 6"/>
          <p:cNvSpPr/>
          <p:nvPr/>
        </p:nvSpPr>
        <p:spPr>
          <a:xfrm>
            <a:off x="502920" y="4846320"/>
            <a:ext cx="11185855" cy="566928"/>
          </a:xfrm>
          <a:prstGeom prst="roundRect">
            <a:avLst>
              <a:gd name="adj" fmla="val 6000"/>
            </a:avLst>
          </a:prstGeom>
          <a:solidFill>
            <a:srgbClr val="ECFDF3"/>
          </a:solidFill>
          <a:ln w="15875">
            <a:solidFill>
              <a:srgbClr val="16A34A"/>
            </a:solid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r>
              <a:rPr sz="1400" b="1" i="0">
                <a:solidFill>
                  <a:srgbClr val="16A34A"/>
                </a:solidFill>
                <a:latin typeface="Be Vietnam Pro"/>
              </a:rPr>
              <a:t>Ship = CoT, k=1.  </a:t>
            </a:r>
            <a:r>
              <a:rPr sz="1400" b="1" i="0">
                <a:solidFill>
                  <a:srgbClr val="0F172A"/>
                </a:solidFill>
                <a:latin typeface="Be Vietnam Pro"/>
              </a:rPr>
              <a:t>KHÔNG thêm phức tạp gây hại — cũng là một dạng tối ưu.</a:t>
            </a:r>
          </a:p>
        </p:txBody>
      </p:sp>
      <p:sp>
        <p:nvSpPr>
          <p:cNvPr id="8" name="Rectangle 7"/>
          <p:cNvSpPr/>
          <p:nvPr/>
        </p:nvSpPr>
        <p:spPr>
          <a:xfrm>
            <a:off x="502920" y="6419088"/>
            <a:ext cx="11185855"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endParaRPr/>
          </a:p>
        </p:txBody>
      </p:sp>
      <p:sp>
        <p:nvSpPr>
          <p:cNvPr id="9" name="TextBox 8"/>
          <p:cNvSpPr txBox="1"/>
          <p:nvPr/>
        </p:nvSpPr>
        <p:spPr>
          <a:xfrm>
            <a:off x="502920" y="6455664"/>
            <a:ext cx="6711513" cy="292608"/>
          </a:xfrm>
          <a:prstGeom prst="rect">
            <a:avLst/>
          </a:prstGeom>
          <a:noFill/>
        </p:spPr>
        <p:txBody>
          <a:bodyPr wrap="square" lIns="36576" tIns="18288" rIns="36576" bIns="18288" anchor="t">
            <a:spAutoFit/>
          </a:bodyPr>
          <a:lstStyle/>
          <a:p>
            <a:pPr algn="l"/>
            <a:r>
              <a:rPr sz="950" b="0" i="0">
                <a:solidFill>
                  <a:srgbClr val="475569"/>
                </a:solidFill>
                <a:latin typeface="Be Vietnam Pro"/>
              </a:rPr>
              <a:t>Neko Core  ·  Đại học Hàng hải Việt Nam (VMU)</a:t>
            </a:r>
          </a:p>
        </p:txBody>
      </p:sp>
      <p:sp>
        <p:nvSpPr>
          <p:cNvPr id="10" name="TextBox 9"/>
          <p:cNvSpPr txBox="1"/>
          <p:nvPr/>
        </p:nvSpPr>
        <p:spPr>
          <a:xfrm>
            <a:off x="5536554" y="6455664"/>
            <a:ext cx="6152220" cy="292608"/>
          </a:xfrm>
          <a:prstGeom prst="rect">
            <a:avLst/>
          </a:prstGeom>
          <a:noFill/>
        </p:spPr>
        <p:txBody>
          <a:bodyPr wrap="square" lIns="36576" tIns="18288" rIns="36576" bIns="18288" anchor="t">
            <a:spAutoFit/>
          </a:bodyPr>
          <a:lstStyle/>
          <a:p>
            <a:pPr algn="r"/>
            <a:r>
              <a:rPr sz="950" b="0" i="0">
                <a:solidFill>
                  <a:srgbClr val="475569"/>
                </a:solidFill>
                <a:latin typeface="Be Vietnam Pro"/>
              </a:rPr>
              <a:t>neko-core:qwen3-4b-r2-cuda128-20260627   ·   11/14</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TextBox 1"/>
          <p:cNvSpPr txBox="1"/>
          <p:nvPr/>
        </p:nvSpPr>
        <p:spPr>
          <a:xfrm>
            <a:off x="502920" y="274320"/>
            <a:ext cx="11185855" cy="292608"/>
          </a:xfrm>
          <a:prstGeom prst="rect">
            <a:avLst/>
          </a:prstGeom>
          <a:noFill/>
        </p:spPr>
        <p:txBody>
          <a:bodyPr wrap="square" lIns="36576" tIns="18288" rIns="36576" bIns="18288" anchor="t">
            <a:spAutoFit/>
          </a:bodyPr>
          <a:lstStyle/>
          <a:p>
            <a:pPr algn="l"/>
            <a:r>
              <a:rPr sz="1250" b="1" i="0">
                <a:solidFill>
                  <a:srgbClr val="14B8A6"/>
                </a:solidFill>
                <a:latin typeface="Be Vietnam Pro"/>
              </a:rPr>
              <a:t>11 · ĐIỂM TIME (VÒNG-2)</a:t>
            </a:r>
          </a:p>
        </p:txBody>
      </p:sp>
      <p:sp>
        <p:nvSpPr>
          <p:cNvPr id="3" name="TextBox 2"/>
          <p:cNvSpPr txBox="1"/>
          <p:nvPr/>
        </p:nvSpPr>
        <p:spPr>
          <a:xfrm>
            <a:off x="502920" y="548640"/>
            <a:ext cx="11185855" cy="640080"/>
          </a:xfrm>
          <a:prstGeom prst="rect">
            <a:avLst/>
          </a:prstGeom>
          <a:noFill/>
        </p:spPr>
        <p:txBody>
          <a:bodyPr wrap="square" lIns="36576" tIns="18288" rIns="36576" bIns="18288" anchor="t">
            <a:spAutoFit/>
          </a:bodyPr>
          <a:lstStyle/>
          <a:p>
            <a:pPr algn="l"/>
            <a:r>
              <a:rPr sz="2700" b="1" i="0">
                <a:solidFill>
                  <a:srgbClr val="0F172A"/>
                </a:solidFill>
                <a:latin typeface="Be Vietnam Pro"/>
              </a:rPr>
              <a:t>Tối ưu Time: minimalism = nhanh nhất</a:t>
            </a:r>
          </a:p>
        </p:txBody>
      </p:sp>
      <p:sp>
        <p:nvSpPr>
          <p:cNvPr id="4" name="Rounded Rectangle 3"/>
          <p:cNvSpPr/>
          <p:nvPr/>
        </p:nvSpPr>
        <p:spPr>
          <a:xfrm>
            <a:off x="502920" y="1188720"/>
            <a:ext cx="1920240" cy="50292"/>
          </a:xfrm>
          <a:prstGeom prst="roundRect">
            <a:avLst>
              <a:gd name="adj" fmla="val 50000"/>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endParaRPr/>
          </a:p>
        </p:txBody>
      </p:sp>
      <p:sp>
        <p:nvSpPr>
          <p:cNvPr id="5" name="Rounded Rectangle 4"/>
          <p:cNvSpPr/>
          <p:nvPr/>
        </p:nvSpPr>
        <p:spPr>
          <a:xfrm>
            <a:off x="502920" y="1600200"/>
            <a:ext cx="5577840" cy="2834640"/>
          </a:xfrm>
          <a:prstGeom prst="roundRect">
            <a:avLst>
              <a:gd name="adj" fmla="val 6000"/>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l">
              <a:spcAft>
                <a:spcPts val="800"/>
              </a:spcAft>
            </a:pPr>
            <a:r>
              <a:rPr sz="1500" b="1" i="0">
                <a:solidFill>
                  <a:srgbClr val="0F172A"/>
                </a:solidFill>
                <a:latin typeface="Be Vietnam Pro"/>
              </a:rPr>
              <a:t>Đường ship tối giản = đường NHANH nhất</a:t>
            </a:r>
          </a:p>
          <a:p>
            <a:pPr algn="l">
              <a:spcAft>
                <a:spcPts val="800"/>
              </a:spcAft>
            </a:pPr>
            <a:r>
              <a:rPr sz="1300" b="0" i="0">
                <a:solidFill>
                  <a:srgbClr val="0F172A"/>
                </a:solidFill>
                <a:latin typeface="Be Vietnam Pro"/>
              </a:rPr>
              <a:t>1 model + self-consistency.</a:t>
            </a:r>
          </a:p>
          <a:p>
            <a:pPr algn="l">
              <a:spcAft>
                <a:spcPts val="600"/>
              </a:spcAft>
            </a:pPr>
            <a:r>
              <a:rPr sz="1250" b="1" i="0">
                <a:solidFill>
                  <a:srgbClr val="DC2626"/>
                </a:solidFill>
                <a:latin typeface="Be Vietnam Pro"/>
              </a:rPr>
              <a:t>✗ TIR </a:t>
            </a:r>
            <a:r>
              <a:rPr sz="1250" b="0" i="0">
                <a:solidFill>
                  <a:srgbClr val="475569"/>
                </a:solidFill>
                <a:latin typeface="Be Vietnam Pro"/>
              </a:rPr>
              <a:t>(2 round + chạy code) · </a:t>
            </a:r>
            <a:r>
              <a:rPr sz="1250" b="1" i="0">
                <a:solidFill>
                  <a:srgbClr val="DC2626"/>
                </a:solidFill>
                <a:latin typeface="Be Vietnam Pro"/>
              </a:rPr>
              <a:t>✗ RAG </a:t>
            </a:r>
            <a:r>
              <a:rPr sz="1250" b="0" i="0">
                <a:solidFill>
                  <a:srgbClr val="475569"/>
                </a:solidFill>
                <a:latin typeface="Be Vietnam Pro"/>
              </a:rPr>
              <a:t>(retrieval) · </a:t>
            </a:r>
            <a:r>
              <a:rPr sz="1250" b="1" i="0">
                <a:solidFill>
                  <a:srgbClr val="DC2626"/>
                </a:solidFill>
                <a:latin typeface="Be Vietnam Pro"/>
              </a:rPr>
              <a:t>✗ k&gt;1 </a:t>
            </a:r>
            <a:r>
              <a:rPr sz="1250" b="0" i="0">
                <a:solidFill>
                  <a:srgbClr val="475569"/>
                </a:solidFill>
                <a:latin typeface="Be Vietnam Pro"/>
              </a:rPr>
              <a:t>(nhiều mẫu)</a:t>
            </a:r>
          </a:p>
          <a:p>
            <a:pPr algn="l"/>
            <a:r>
              <a:rPr sz="1300" b="1" i="0">
                <a:solidFill>
                  <a:srgbClr val="0F172A"/>
                </a:solidFill>
                <a:latin typeface="Be Vietnam Pro"/>
              </a:rPr>
              <a:t>đều chậm hơn — mà đo ra đều KHÔNG giúp accuracy.</a:t>
            </a:r>
          </a:p>
        </p:txBody>
      </p:sp>
      <p:sp>
        <p:nvSpPr>
          <p:cNvPr id="6" name="TextBox 5"/>
          <p:cNvSpPr txBox="1"/>
          <p:nvPr/>
        </p:nvSpPr>
        <p:spPr>
          <a:xfrm>
            <a:off x="6766560" y="1737360"/>
            <a:ext cx="4846320" cy="777240"/>
          </a:xfrm>
          <a:prstGeom prst="rect">
            <a:avLst/>
          </a:prstGeom>
          <a:noFill/>
        </p:spPr>
        <p:txBody>
          <a:bodyPr wrap="square" lIns="36576" tIns="18288" rIns="36576" bIns="18288" anchor="t">
            <a:spAutoFit/>
          </a:bodyPr>
          <a:lstStyle/>
          <a:p>
            <a:pPr algn="l">
              <a:spcAft>
                <a:spcPts val="200"/>
              </a:spcAft>
            </a:pPr>
            <a:r>
              <a:rPr sz="4000" b="1" i="0">
                <a:solidFill>
                  <a:srgbClr val="14B8A6"/>
                </a:solidFill>
                <a:latin typeface="Be Vietnam Pro"/>
              </a:rPr>
              <a:t>~3 giây</a:t>
            </a:r>
          </a:p>
        </p:txBody>
      </p:sp>
      <p:sp>
        <p:nvSpPr>
          <p:cNvPr id="7" name="TextBox 6"/>
          <p:cNvSpPr txBox="1"/>
          <p:nvPr/>
        </p:nvSpPr>
        <p:spPr>
          <a:xfrm>
            <a:off x="6766560" y="2450591"/>
            <a:ext cx="4846320" cy="457200"/>
          </a:xfrm>
          <a:prstGeom prst="rect">
            <a:avLst/>
          </a:prstGeom>
          <a:noFill/>
        </p:spPr>
        <p:txBody>
          <a:bodyPr wrap="square" lIns="36576" tIns="18288" rIns="36576" bIns="18288" anchor="t">
            <a:spAutoFit/>
          </a:bodyPr>
          <a:lstStyle/>
          <a:p>
            <a:pPr algn="l"/>
            <a:r>
              <a:rPr sz="1200" b="0" i="0">
                <a:solidFill>
                  <a:srgbClr val="475569"/>
                </a:solidFill>
                <a:latin typeface="Be Vietnam Pro"/>
              </a:rPr>
              <a:t>mỗi câu (đo thật trên GPU)</a:t>
            </a:r>
          </a:p>
        </p:txBody>
      </p:sp>
      <p:sp>
        <p:nvSpPr>
          <p:cNvPr id="8" name="TextBox 7"/>
          <p:cNvSpPr txBox="1"/>
          <p:nvPr/>
        </p:nvSpPr>
        <p:spPr>
          <a:xfrm>
            <a:off x="6766560" y="2834640"/>
            <a:ext cx="4846320" cy="777240"/>
          </a:xfrm>
          <a:prstGeom prst="rect">
            <a:avLst/>
          </a:prstGeom>
          <a:noFill/>
        </p:spPr>
        <p:txBody>
          <a:bodyPr wrap="square" lIns="36576" tIns="18288" rIns="36576" bIns="18288" anchor="t">
            <a:spAutoFit/>
          </a:bodyPr>
          <a:lstStyle/>
          <a:p>
            <a:pPr algn="l">
              <a:spcAft>
                <a:spcPts val="200"/>
              </a:spcAft>
            </a:pPr>
            <a:r>
              <a:rPr sz="4000" b="1" i="0">
                <a:solidFill>
                  <a:srgbClr val="6366F1"/>
                </a:solidFill>
                <a:latin typeface="Be Vietnam Pro"/>
              </a:rPr>
              <a:t>~100 phút</a:t>
            </a:r>
          </a:p>
        </p:txBody>
      </p:sp>
      <p:sp>
        <p:nvSpPr>
          <p:cNvPr id="9" name="TextBox 8"/>
          <p:cNvSpPr txBox="1"/>
          <p:nvPr/>
        </p:nvSpPr>
        <p:spPr>
          <a:xfrm>
            <a:off x="6766560" y="3547872"/>
            <a:ext cx="4846320" cy="457200"/>
          </a:xfrm>
          <a:prstGeom prst="rect">
            <a:avLst/>
          </a:prstGeom>
          <a:noFill/>
        </p:spPr>
        <p:txBody>
          <a:bodyPr wrap="square" lIns="36576" tIns="18288" rIns="36576" bIns="18288" anchor="t">
            <a:spAutoFit/>
          </a:bodyPr>
          <a:lstStyle/>
          <a:p>
            <a:pPr algn="l"/>
            <a:r>
              <a:rPr sz="1200" b="0" i="0">
                <a:solidFill>
                  <a:srgbClr val="475569"/>
                </a:solidFill>
                <a:latin typeface="Be Vietnam Pro"/>
              </a:rPr>
              <a:t>cho 2000 câu private</a:t>
            </a:r>
          </a:p>
        </p:txBody>
      </p:sp>
      <p:sp>
        <p:nvSpPr>
          <p:cNvPr id="10" name="Rounded Rectangle 9"/>
          <p:cNvSpPr/>
          <p:nvPr/>
        </p:nvSpPr>
        <p:spPr>
          <a:xfrm>
            <a:off x="6766560" y="3886200"/>
            <a:ext cx="4846320" cy="548640"/>
          </a:xfrm>
          <a:prstGeom prst="roundRect">
            <a:avLst>
              <a:gd name="adj" fmla="val 6000"/>
            </a:avLst>
          </a:prstGeom>
          <a:solidFill>
            <a:srgbClr val="ECFDF3"/>
          </a:solidFill>
          <a:ln w="12700">
            <a:solidFill>
              <a:srgbClr val="16A34A"/>
            </a:solid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r>
              <a:rPr sz="1150" b="1" i="0">
                <a:solidFill>
                  <a:srgbClr val="0F172A"/>
                </a:solidFill>
                <a:latin typeface="Be Vietnam Pro"/>
              </a:rPr>
              <a:t>✓  VRAM ~5GB → không OOM, không timeout (RTX 5060 Ti 16GB)</a:t>
            </a:r>
          </a:p>
        </p:txBody>
      </p:sp>
      <p:sp>
        <p:nvSpPr>
          <p:cNvPr id="11" name="TextBox 10"/>
          <p:cNvSpPr txBox="1"/>
          <p:nvPr/>
        </p:nvSpPr>
        <p:spPr>
          <a:xfrm>
            <a:off x="502920" y="4617720"/>
            <a:ext cx="11185855" cy="457200"/>
          </a:xfrm>
          <a:prstGeom prst="rect">
            <a:avLst/>
          </a:prstGeom>
          <a:noFill/>
        </p:spPr>
        <p:txBody>
          <a:bodyPr wrap="square" lIns="36576" tIns="18288" rIns="36576" bIns="18288" anchor="t">
            <a:spAutoFit/>
          </a:bodyPr>
          <a:lstStyle/>
          <a:p>
            <a:pPr algn="ctr"/>
            <a:r>
              <a:rPr sz="1400" b="1" i="0">
                <a:solidFill>
                  <a:srgbClr val="14B8A6"/>
                </a:solidFill>
                <a:latin typeface="Be Vietnam Pro"/>
              </a:rPr>
              <a:t>Minimalism thắng CẢ HAI mặt trận: Accuracy (không hồi quy) và Time.</a:t>
            </a:r>
          </a:p>
        </p:txBody>
      </p:sp>
      <p:sp>
        <p:nvSpPr>
          <p:cNvPr id="12" name="Rectangle 11"/>
          <p:cNvSpPr/>
          <p:nvPr/>
        </p:nvSpPr>
        <p:spPr>
          <a:xfrm>
            <a:off x="502920" y="6419088"/>
            <a:ext cx="11185855"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endParaRPr/>
          </a:p>
        </p:txBody>
      </p:sp>
      <p:sp>
        <p:nvSpPr>
          <p:cNvPr id="13" name="TextBox 12"/>
          <p:cNvSpPr txBox="1"/>
          <p:nvPr/>
        </p:nvSpPr>
        <p:spPr>
          <a:xfrm>
            <a:off x="502920" y="6455664"/>
            <a:ext cx="6711513" cy="292608"/>
          </a:xfrm>
          <a:prstGeom prst="rect">
            <a:avLst/>
          </a:prstGeom>
          <a:noFill/>
        </p:spPr>
        <p:txBody>
          <a:bodyPr wrap="square" lIns="36576" tIns="18288" rIns="36576" bIns="18288" anchor="t">
            <a:spAutoFit/>
          </a:bodyPr>
          <a:lstStyle/>
          <a:p>
            <a:pPr algn="l"/>
            <a:r>
              <a:rPr sz="950" b="0" i="0">
                <a:solidFill>
                  <a:srgbClr val="475569"/>
                </a:solidFill>
                <a:latin typeface="Be Vietnam Pro"/>
              </a:rPr>
              <a:t>Neko Core  ·  Đại học Hàng hải Việt Nam (VMU)</a:t>
            </a:r>
          </a:p>
        </p:txBody>
      </p:sp>
      <p:sp>
        <p:nvSpPr>
          <p:cNvPr id="14" name="TextBox 13"/>
          <p:cNvSpPr txBox="1"/>
          <p:nvPr/>
        </p:nvSpPr>
        <p:spPr>
          <a:xfrm>
            <a:off x="5536554" y="6455664"/>
            <a:ext cx="6152220" cy="292608"/>
          </a:xfrm>
          <a:prstGeom prst="rect">
            <a:avLst/>
          </a:prstGeom>
          <a:noFill/>
        </p:spPr>
        <p:txBody>
          <a:bodyPr wrap="square" lIns="36576" tIns="18288" rIns="36576" bIns="18288" anchor="t">
            <a:spAutoFit/>
          </a:bodyPr>
          <a:lstStyle/>
          <a:p>
            <a:pPr algn="r"/>
            <a:r>
              <a:rPr sz="950" b="0" i="0">
                <a:solidFill>
                  <a:srgbClr val="475569"/>
                </a:solidFill>
                <a:latin typeface="Be Vietnam Pro"/>
              </a:rPr>
              <a:t>neko-core:qwen3-4b-r2-cuda128-20260627   ·   12/14</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TextBox 1"/>
          <p:cNvSpPr txBox="1"/>
          <p:nvPr/>
        </p:nvSpPr>
        <p:spPr>
          <a:xfrm>
            <a:off x="502920" y="274320"/>
            <a:ext cx="11185855" cy="292608"/>
          </a:xfrm>
          <a:prstGeom prst="rect">
            <a:avLst/>
          </a:prstGeom>
          <a:noFill/>
        </p:spPr>
        <p:txBody>
          <a:bodyPr wrap="square" lIns="36576" tIns="18288" rIns="36576" bIns="18288" anchor="t">
            <a:spAutoFit/>
          </a:bodyPr>
          <a:lstStyle/>
          <a:p>
            <a:pPr algn="l"/>
            <a:r>
              <a:rPr sz="1250" b="1" i="0">
                <a:solidFill>
                  <a:srgbClr val="14B8A6"/>
                </a:solidFill>
                <a:latin typeface="Be Vietnam Pro"/>
              </a:rPr>
              <a:t>12 · SỰ TRƯỞNG THÀNH</a:t>
            </a:r>
          </a:p>
        </p:txBody>
      </p:sp>
      <p:sp>
        <p:nvSpPr>
          <p:cNvPr id="3" name="TextBox 2"/>
          <p:cNvSpPr txBox="1"/>
          <p:nvPr/>
        </p:nvSpPr>
        <p:spPr>
          <a:xfrm>
            <a:off x="502920" y="548640"/>
            <a:ext cx="11185855" cy="640080"/>
          </a:xfrm>
          <a:prstGeom prst="rect">
            <a:avLst/>
          </a:prstGeom>
          <a:noFill/>
        </p:spPr>
        <p:txBody>
          <a:bodyPr wrap="square" lIns="36576" tIns="18288" rIns="36576" bIns="18288" anchor="t">
            <a:spAutoFit/>
          </a:bodyPr>
          <a:lstStyle/>
          <a:p>
            <a:pPr algn="l"/>
            <a:r>
              <a:rPr sz="2700" b="1" i="0">
                <a:solidFill>
                  <a:srgbClr val="0F172A"/>
                </a:solidFill>
                <a:latin typeface="Be Vietnam Pro"/>
              </a:rPr>
              <a:t>Định vị trung thực</a:t>
            </a:r>
          </a:p>
        </p:txBody>
      </p:sp>
      <p:sp>
        <p:nvSpPr>
          <p:cNvPr id="4" name="Rounded Rectangle 3"/>
          <p:cNvSpPr/>
          <p:nvPr/>
        </p:nvSpPr>
        <p:spPr>
          <a:xfrm>
            <a:off x="502920" y="1188720"/>
            <a:ext cx="1920240" cy="50292"/>
          </a:xfrm>
          <a:prstGeom prst="roundRect">
            <a:avLst>
              <a:gd name="adj" fmla="val 50000"/>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endParaRPr/>
          </a:p>
        </p:txBody>
      </p:sp>
      <p:sp>
        <p:nvSpPr>
          <p:cNvPr id="5" name="TextBox 4"/>
          <p:cNvSpPr txBox="1"/>
          <p:nvPr/>
        </p:nvSpPr>
        <p:spPr>
          <a:xfrm>
            <a:off x="914400" y="1737360"/>
            <a:ext cx="10362895" cy="914400"/>
          </a:xfrm>
          <a:prstGeom prst="rect">
            <a:avLst/>
          </a:prstGeom>
          <a:noFill/>
        </p:spPr>
        <p:txBody>
          <a:bodyPr wrap="square" lIns="36576" tIns="18288" rIns="36576" bIns="18288" anchor="ctr">
            <a:spAutoFit/>
          </a:bodyPr>
          <a:lstStyle/>
          <a:p>
            <a:pPr algn="ctr"/>
            <a:r>
              <a:rPr sz="2300" b="1" i="0">
                <a:solidFill>
                  <a:srgbClr val="0F172A"/>
                </a:solidFill>
                <a:latin typeface="Be Vietnam Pro"/>
              </a:rPr>
              <a:t>Qwen3-4B đã gần </a:t>
            </a:r>
            <a:r>
              <a:rPr sz="2300" b="1" i="0">
                <a:solidFill>
                  <a:srgbClr val="14B8A6"/>
                </a:solidFill>
                <a:latin typeface="Be Vietnam Pro"/>
              </a:rPr>
              <a:t>TRẦN ≤5B (~80–84)</a:t>
            </a:r>
            <a:r>
              <a:rPr sz="2300" b="1" i="0">
                <a:solidFill>
                  <a:srgbClr val="0F172A"/>
                </a:solidFill>
                <a:latin typeface="Be Vietnam Pro"/>
              </a:rPr>
              <a:t> trên phân phối đề này.</a:t>
            </a:r>
          </a:p>
        </p:txBody>
      </p:sp>
      <p:sp>
        <p:nvSpPr>
          <p:cNvPr id="6" name="TextBox 5"/>
          <p:cNvSpPr txBox="1"/>
          <p:nvPr/>
        </p:nvSpPr>
        <p:spPr>
          <a:xfrm>
            <a:off x="1280160" y="2834640"/>
            <a:ext cx="9631375" cy="1188720"/>
          </a:xfrm>
          <a:prstGeom prst="rect">
            <a:avLst/>
          </a:prstGeom>
          <a:noFill/>
        </p:spPr>
        <p:txBody>
          <a:bodyPr wrap="square" lIns="36576" tIns="18288" rIns="36576" bIns="18288" anchor="t">
            <a:spAutoFit/>
          </a:bodyPr>
          <a:lstStyle/>
          <a:p>
            <a:pPr algn="ctr">
              <a:spcAft>
                <a:spcPts val="800"/>
              </a:spcAft>
            </a:pPr>
            <a:r>
              <a:rPr sz="1400" b="0" i="0">
                <a:solidFill>
                  <a:srgbClr val="0F172A"/>
                </a:solidFill>
                <a:latin typeface="Be Vietnam Pro"/>
              </a:rPr>
              <a:t>Cho thấy bằng dữ liệu: mọi lever còn lại (FT / RAG / TIR / k5) đều nằm trong nhiễu hoặc gây hại trên đo sạch — đây là kết luận có dữ liệu, không phải bỏ cuộc.</a:t>
            </a:r>
          </a:p>
          <a:p>
            <a:pPr algn="ctr"/>
            <a:r>
              <a:rPr sz="1400" b="0" i="0">
                <a:solidFill>
                  <a:srgbClr val="0F172A"/>
                </a:solidFill>
                <a:latin typeface="Be Vietnam Pro"/>
              </a:rPr>
              <a:t>Đường tăng tiếp theo (nếu có) = </a:t>
            </a:r>
            <a:r>
              <a:rPr sz="1400" b="1" i="0">
                <a:solidFill>
                  <a:srgbClr val="6366F1"/>
                </a:solidFill>
                <a:latin typeface="Be Vietnam Pro"/>
              </a:rPr>
              <a:t>thêm data MCQ đa môn</a:t>
            </a:r>
            <a:r>
              <a:rPr sz="1400" b="0" i="0">
                <a:solidFill>
                  <a:srgbClr val="0F172A"/>
                </a:solidFill>
                <a:latin typeface="Be Vietnam Pro"/>
              </a:rPr>
              <a:t> — bài toán thu thập dữ liệu, không phải kỹ thuật runtime.</a:t>
            </a:r>
          </a:p>
        </p:txBody>
      </p:sp>
      <p:sp>
        <p:nvSpPr>
          <p:cNvPr id="7" name="Rounded Rectangle 6"/>
          <p:cNvSpPr/>
          <p:nvPr/>
        </p:nvSpPr>
        <p:spPr>
          <a:xfrm>
            <a:off x="2926080" y="4160520"/>
            <a:ext cx="6339535" cy="685800"/>
          </a:xfrm>
          <a:prstGeom prst="roundRect">
            <a:avLst>
              <a:gd name="adj" fmla="val 6000"/>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r>
              <a:rPr sz="1600" b="1" i="0">
                <a:solidFill>
                  <a:srgbClr val="14B8A6"/>
                </a:solidFill>
                <a:latin typeface="Be Vietnam Pro"/>
              </a:rPr>
              <a:t>Chúng em báo số đo thật — không hứa số.</a:t>
            </a:r>
          </a:p>
        </p:txBody>
      </p:sp>
      <p:sp>
        <p:nvSpPr>
          <p:cNvPr id="8" name="TextBox 7"/>
          <p:cNvSpPr txBox="1"/>
          <p:nvPr/>
        </p:nvSpPr>
        <p:spPr>
          <a:xfrm>
            <a:off x="1280160" y="5029200"/>
            <a:ext cx="9631375" cy="777240"/>
          </a:xfrm>
          <a:prstGeom prst="rect">
            <a:avLst/>
          </a:prstGeom>
          <a:noFill/>
        </p:spPr>
        <p:txBody>
          <a:bodyPr wrap="square" lIns="36576" tIns="18288" rIns="36576" bIns="18288" anchor="t">
            <a:spAutoFit/>
          </a:bodyPr>
          <a:lstStyle/>
          <a:p>
            <a:pPr algn="ctr"/>
            <a:r>
              <a:rPr sz="1250" b="0" i="0">
                <a:solidFill>
                  <a:srgbClr val="475569"/>
                </a:solidFill>
                <a:latin typeface="Be Vietnam Pro"/>
              </a:rPr>
              <a:t>Điểm yếu đã đo thẳng thắn: </a:t>
            </a:r>
            <a:r>
              <a:rPr sz="1250" b="1" i="0">
                <a:solidFill>
                  <a:srgbClr val="D97706"/>
                </a:solidFill>
                <a:latin typeface="Be Vietnam Pro"/>
              </a:rPr>
              <a:t>cụm Sử/Địa (~62–65)</a:t>
            </a:r>
            <a:r>
              <a:rPr sz="1250" b="0" i="0">
                <a:solidFill>
                  <a:srgbClr val="475569"/>
                </a:solidFill>
                <a:latin typeface="Be Vietnam Pro"/>
              </a:rPr>
              <a:t> — lỗi chủ yếu là chọn phương án 'chính' theo quy ước, không phải thiếu fact (nên RAG/FT không cứu được).</a:t>
            </a:r>
          </a:p>
        </p:txBody>
      </p:sp>
      <p:sp>
        <p:nvSpPr>
          <p:cNvPr id="9" name="Rectangle 8"/>
          <p:cNvSpPr/>
          <p:nvPr/>
        </p:nvSpPr>
        <p:spPr>
          <a:xfrm>
            <a:off x="502920" y="6419088"/>
            <a:ext cx="11185855" cy="10972"/>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endParaRPr/>
          </a:p>
        </p:txBody>
      </p:sp>
      <p:sp>
        <p:nvSpPr>
          <p:cNvPr id="10" name="TextBox 9"/>
          <p:cNvSpPr txBox="1"/>
          <p:nvPr/>
        </p:nvSpPr>
        <p:spPr>
          <a:xfrm>
            <a:off x="502920" y="6455664"/>
            <a:ext cx="6711513" cy="292608"/>
          </a:xfrm>
          <a:prstGeom prst="rect">
            <a:avLst/>
          </a:prstGeom>
          <a:noFill/>
        </p:spPr>
        <p:txBody>
          <a:bodyPr wrap="square" lIns="36576" tIns="18288" rIns="36576" bIns="18288" anchor="t">
            <a:spAutoFit/>
          </a:bodyPr>
          <a:lstStyle/>
          <a:p>
            <a:pPr algn="l"/>
            <a:r>
              <a:rPr sz="950" b="0" i="0">
                <a:solidFill>
                  <a:srgbClr val="475569"/>
                </a:solidFill>
                <a:latin typeface="Be Vietnam Pro"/>
              </a:rPr>
              <a:t>Neko Core  ·  Đại học Hàng hải Việt Nam (VMU)</a:t>
            </a:r>
          </a:p>
        </p:txBody>
      </p:sp>
      <p:sp>
        <p:nvSpPr>
          <p:cNvPr id="11" name="TextBox 10"/>
          <p:cNvSpPr txBox="1"/>
          <p:nvPr/>
        </p:nvSpPr>
        <p:spPr>
          <a:xfrm>
            <a:off x="5536554" y="6455664"/>
            <a:ext cx="6152220" cy="292608"/>
          </a:xfrm>
          <a:prstGeom prst="rect">
            <a:avLst/>
          </a:prstGeom>
          <a:noFill/>
        </p:spPr>
        <p:txBody>
          <a:bodyPr wrap="square" lIns="36576" tIns="18288" rIns="36576" bIns="18288" anchor="t">
            <a:spAutoFit/>
          </a:bodyPr>
          <a:lstStyle/>
          <a:p>
            <a:pPr algn="r"/>
            <a:r>
              <a:rPr sz="950" b="0" i="0">
                <a:solidFill>
                  <a:srgbClr val="475569"/>
                </a:solidFill>
                <a:latin typeface="Be Vietnam Pro"/>
              </a:rPr>
              <a:t>neko-core:qwen3-4b-r2-cuda128-20260627   ·   13/14</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B1220"/>
        </a:solidFill>
        <a:effectLst/>
      </p:bgPr>
    </p:bg>
    <p:spTree>
      <p:nvGrpSpPr>
        <p:cNvPr id="1" name=""/>
        <p:cNvGrpSpPr/>
        <p:nvPr/>
      </p:nvGrpSpPr>
      <p:grpSpPr>
        <a:xfrm>
          <a:off x="0" y="0"/>
          <a:ext cx="0" cy="0"/>
          <a:chOff x="0" y="0"/>
          <a:chExt cx="0" cy="0"/>
        </a:xfrm>
      </p:grpSpPr>
      <p:sp>
        <p:nvSpPr>
          <p:cNvPr id="2" name="Rectangle 1"/>
          <p:cNvSpPr/>
          <p:nvPr/>
        </p:nvSpPr>
        <p:spPr>
          <a:xfrm>
            <a:off x="0" y="0"/>
            <a:ext cx="146304" cy="6858000"/>
          </a:xfrm>
          <a:prstGeom prst="rect">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endParaRPr/>
          </a:p>
        </p:txBody>
      </p:sp>
      <p:sp>
        <p:nvSpPr>
          <p:cNvPr id="3" name="TextBox 2"/>
          <p:cNvSpPr txBox="1"/>
          <p:nvPr/>
        </p:nvSpPr>
        <p:spPr>
          <a:xfrm>
            <a:off x="822960" y="502920"/>
            <a:ext cx="11185855" cy="365760"/>
          </a:xfrm>
          <a:prstGeom prst="rect">
            <a:avLst/>
          </a:prstGeom>
          <a:noFill/>
        </p:spPr>
        <p:txBody>
          <a:bodyPr wrap="square" lIns="36576" tIns="18288" rIns="36576" bIns="18288" anchor="t">
            <a:spAutoFit/>
          </a:bodyPr>
          <a:lstStyle/>
          <a:p>
            <a:pPr algn="l"/>
            <a:r>
              <a:rPr sz="1400" b="1" i="0">
                <a:solidFill>
                  <a:srgbClr val="14B8A6"/>
                </a:solidFill>
                <a:latin typeface="Be Vietnam Pro"/>
              </a:rPr>
              <a:t>TỔNG KẾT — BA TRỤ Ý TƯỞNG</a:t>
            </a:r>
          </a:p>
        </p:txBody>
      </p:sp>
      <p:sp>
        <p:nvSpPr>
          <p:cNvPr id="4" name="Rounded Rectangle 3"/>
          <p:cNvSpPr/>
          <p:nvPr/>
        </p:nvSpPr>
        <p:spPr>
          <a:xfrm>
            <a:off x="426567" y="1371600"/>
            <a:ext cx="3566160" cy="2286000"/>
          </a:xfrm>
          <a:prstGeom prst="roundRect">
            <a:avLst>
              <a:gd name="adj" fmla="val 6000"/>
            </a:avLst>
          </a:prstGeom>
          <a:solidFill>
            <a:srgbClr val="121B2E"/>
          </a:solidFill>
          <a:ln w="12700">
            <a:solidFill>
              <a:srgbClr val="14B8A6"/>
            </a:solid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endParaRPr/>
          </a:p>
        </p:txBody>
      </p:sp>
      <p:sp>
        <p:nvSpPr>
          <p:cNvPr id="5" name="Oval 4"/>
          <p:cNvSpPr/>
          <p:nvPr/>
        </p:nvSpPr>
        <p:spPr>
          <a:xfrm>
            <a:off x="1843887" y="1600200"/>
            <a:ext cx="731520" cy="731520"/>
          </a:xfrm>
          <a:prstGeom prst="ellipse">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r>
              <a:rPr sz="2600" b="1" i="0">
                <a:solidFill>
                  <a:srgbClr val="0B1220"/>
                </a:solidFill>
                <a:latin typeface="Be Vietnam Pro"/>
              </a:rPr>
              <a:t>1</a:t>
            </a:r>
          </a:p>
        </p:txBody>
      </p:sp>
      <p:sp>
        <p:nvSpPr>
          <p:cNvPr id="6" name="TextBox 5"/>
          <p:cNvSpPr txBox="1"/>
          <p:nvPr/>
        </p:nvSpPr>
        <p:spPr>
          <a:xfrm>
            <a:off x="609447" y="2514600"/>
            <a:ext cx="3200400" cy="640080"/>
          </a:xfrm>
          <a:prstGeom prst="rect">
            <a:avLst/>
          </a:prstGeom>
          <a:noFill/>
        </p:spPr>
        <p:txBody>
          <a:bodyPr wrap="square" lIns="36576" tIns="18288" rIns="36576" bIns="18288" anchor="t">
            <a:spAutoFit/>
          </a:bodyPr>
          <a:lstStyle/>
          <a:p>
            <a:pPr algn="ctr"/>
            <a:r>
              <a:rPr sz="1600" b="1" i="0">
                <a:solidFill>
                  <a:srgbClr val="FFFFFF"/>
                </a:solidFill>
                <a:latin typeface="Be Vietnam Pro"/>
              </a:rPr>
              <a:t>Harness composable</a:t>
            </a:r>
          </a:p>
        </p:txBody>
      </p:sp>
      <p:sp>
        <p:nvSpPr>
          <p:cNvPr id="7" name="TextBox 6"/>
          <p:cNvSpPr txBox="1"/>
          <p:nvPr/>
        </p:nvSpPr>
        <p:spPr>
          <a:xfrm>
            <a:off x="655167" y="3063240"/>
            <a:ext cx="3108960" cy="548640"/>
          </a:xfrm>
          <a:prstGeom prst="rect">
            <a:avLst/>
          </a:prstGeom>
          <a:noFill/>
        </p:spPr>
        <p:txBody>
          <a:bodyPr wrap="square" lIns="36576" tIns="18288" rIns="36576" bIns="18288" anchor="t">
            <a:spAutoFit/>
          </a:bodyPr>
          <a:lstStyle/>
          <a:p>
            <a:pPr algn="ctr"/>
            <a:r>
              <a:rPr sz="1150" b="0" i="0">
                <a:solidFill>
                  <a:srgbClr val="9FB0C7"/>
                </a:solidFill>
                <a:latin typeface="Be Vietnam Pro"/>
              </a:rPr>
              <a:t>Một foundry chiến lược, gõ-kiểu, hoán đổi được — không phải mớ code dán.</a:t>
            </a:r>
          </a:p>
        </p:txBody>
      </p:sp>
      <p:sp>
        <p:nvSpPr>
          <p:cNvPr id="8" name="Rounded Rectangle 7"/>
          <p:cNvSpPr/>
          <p:nvPr/>
        </p:nvSpPr>
        <p:spPr>
          <a:xfrm>
            <a:off x="4312767" y="1371600"/>
            <a:ext cx="3566160" cy="2286000"/>
          </a:xfrm>
          <a:prstGeom prst="roundRect">
            <a:avLst>
              <a:gd name="adj" fmla="val 6000"/>
            </a:avLst>
          </a:prstGeom>
          <a:solidFill>
            <a:srgbClr val="121B2E"/>
          </a:solidFill>
          <a:ln w="12700">
            <a:solidFill>
              <a:srgbClr val="14B8A6"/>
            </a:solid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endParaRPr/>
          </a:p>
        </p:txBody>
      </p:sp>
      <p:sp>
        <p:nvSpPr>
          <p:cNvPr id="9" name="Oval 8"/>
          <p:cNvSpPr/>
          <p:nvPr/>
        </p:nvSpPr>
        <p:spPr>
          <a:xfrm>
            <a:off x="5730087" y="1600200"/>
            <a:ext cx="731520" cy="731520"/>
          </a:xfrm>
          <a:prstGeom prst="ellipse">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r>
              <a:rPr sz="2600" b="1" i="0">
                <a:solidFill>
                  <a:srgbClr val="0B1220"/>
                </a:solidFill>
                <a:latin typeface="Be Vietnam Pro"/>
              </a:rPr>
              <a:t>2</a:t>
            </a:r>
          </a:p>
        </p:txBody>
      </p:sp>
      <p:sp>
        <p:nvSpPr>
          <p:cNvPr id="10" name="TextBox 9"/>
          <p:cNvSpPr txBox="1"/>
          <p:nvPr/>
        </p:nvSpPr>
        <p:spPr>
          <a:xfrm>
            <a:off x="4495647" y="2514600"/>
            <a:ext cx="3200400" cy="640080"/>
          </a:xfrm>
          <a:prstGeom prst="rect">
            <a:avLst/>
          </a:prstGeom>
          <a:noFill/>
        </p:spPr>
        <p:txBody>
          <a:bodyPr wrap="square" lIns="36576" tIns="18288" rIns="36576" bIns="18288" anchor="t">
            <a:spAutoFit/>
          </a:bodyPr>
          <a:lstStyle/>
          <a:p>
            <a:pPr algn="ctr"/>
            <a:r>
              <a:rPr sz="1600" b="1" i="0">
                <a:solidFill>
                  <a:srgbClr val="FFFFFF"/>
                </a:solidFill>
                <a:latin typeface="Be Vietnam Pro"/>
              </a:rPr>
              <a:t>Chọn-lever-bằng-ĐO</a:t>
            </a:r>
          </a:p>
        </p:txBody>
      </p:sp>
      <p:sp>
        <p:nvSpPr>
          <p:cNvPr id="11" name="TextBox 10"/>
          <p:cNvSpPr txBox="1"/>
          <p:nvPr/>
        </p:nvSpPr>
        <p:spPr>
          <a:xfrm>
            <a:off x="4541367" y="3063240"/>
            <a:ext cx="3108960" cy="548640"/>
          </a:xfrm>
          <a:prstGeom prst="rect">
            <a:avLst/>
          </a:prstGeom>
          <a:noFill/>
        </p:spPr>
        <p:txBody>
          <a:bodyPr wrap="square" lIns="36576" tIns="18288" rIns="36576" bIns="18288" anchor="t">
            <a:spAutoFit/>
          </a:bodyPr>
          <a:lstStyle/>
          <a:p>
            <a:pPr algn="ctr"/>
            <a:r>
              <a:rPr sz="1150" b="0" i="0">
                <a:solidFill>
                  <a:srgbClr val="9FB0C7"/>
                </a:solidFill>
                <a:latin typeface="Be Vietnam Pro"/>
              </a:rPr>
              <a:t>Bằng chứng đo held-out (FT −4.44 · TIR −16.52 · RAG ảo) — kỷ luật, không linh cảm.</a:t>
            </a:r>
          </a:p>
        </p:txBody>
      </p:sp>
      <p:sp>
        <p:nvSpPr>
          <p:cNvPr id="12" name="Rounded Rectangle 11"/>
          <p:cNvSpPr/>
          <p:nvPr/>
        </p:nvSpPr>
        <p:spPr>
          <a:xfrm>
            <a:off x="8198967" y="1371600"/>
            <a:ext cx="3566160" cy="2286000"/>
          </a:xfrm>
          <a:prstGeom prst="roundRect">
            <a:avLst>
              <a:gd name="adj" fmla="val 6000"/>
            </a:avLst>
          </a:prstGeom>
          <a:solidFill>
            <a:srgbClr val="121B2E"/>
          </a:solidFill>
          <a:ln w="12700">
            <a:solidFill>
              <a:srgbClr val="14B8A6"/>
            </a:solid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endParaRPr/>
          </a:p>
        </p:txBody>
      </p:sp>
      <p:sp>
        <p:nvSpPr>
          <p:cNvPr id="13" name="Oval 12"/>
          <p:cNvSpPr/>
          <p:nvPr/>
        </p:nvSpPr>
        <p:spPr>
          <a:xfrm>
            <a:off x="9616287" y="1600200"/>
            <a:ext cx="731520" cy="731520"/>
          </a:xfrm>
          <a:prstGeom prst="ellipse">
            <a:avLst/>
          </a:prstGeom>
          <a:solidFill>
            <a:srgbClr val="14B8A6"/>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r>
              <a:rPr sz="2600" b="1" i="0">
                <a:solidFill>
                  <a:srgbClr val="0B1220"/>
                </a:solidFill>
                <a:latin typeface="Be Vietnam Pro"/>
              </a:rPr>
              <a:t>3</a:t>
            </a:r>
          </a:p>
        </p:txBody>
      </p:sp>
      <p:sp>
        <p:nvSpPr>
          <p:cNvPr id="14" name="TextBox 13"/>
          <p:cNvSpPr txBox="1"/>
          <p:nvPr/>
        </p:nvSpPr>
        <p:spPr>
          <a:xfrm>
            <a:off x="8381847" y="2514600"/>
            <a:ext cx="3200400" cy="640080"/>
          </a:xfrm>
          <a:prstGeom prst="rect">
            <a:avLst/>
          </a:prstGeom>
          <a:noFill/>
        </p:spPr>
        <p:txBody>
          <a:bodyPr wrap="square" lIns="36576" tIns="18288" rIns="36576" bIns="18288" anchor="t">
            <a:spAutoFit/>
          </a:bodyPr>
          <a:lstStyle/>
          <a:p>
            <a:pPr algn="ctr"/>
            <a:r>
              <a:rPr sz="1600" b="1" i="0">
                <a:solidFill>
                  <a:srgbClr val="FFFFFF"/>
                </a:solidFill>
                <a:latin typeface="Be Vietnam Pro"/>
              </a:rPr>
              <a:t>Kỹ thuật chống-0-điểm</a:t>
            </a:r>
          </a:p>
        </p:txBody>
      </p:sp>
      <p:sp>
        <p:nvSpPr>
          <p:cNvPr id="15" name="TextBox 14"/>
          <p:cNvSpPr txBox="1"/>
          <p:nvPr/>
        </p:nvSpPr>
        <p:spPr>
          <a:xfrm>
            <a:off x="8427567" y="3063240"/>
            <a:ext cx="3108960" cy="548640"/>
          </a:xfrm>
          <a:prstGeom prst="rect">
            <a:avLst/>
          </a:prstGeom>
          <a:noFill/>
        </p:spPr>
        <p:txBody>
          <a:bodyPr wrap="square" lIns="36576" tIns="18288" rIns="36576" bIns="18288" anchor="t">
            <a:spAutoFit/>
          </a:bodyPr>
          <a:lstStyle/>
          <a:p>
            <a:pPr algn="ctr"/>
            <a:r>
              <a:rPr sz="1150" b="0" i="0">
                <a:solidFill>
                  <a:srgbClr val="9FB0C7"/>
                </a:solidFill>
                <a:latin typeface="Be Vietnam Pro"/>
              </a:rPr>
              <a:t>Arch-portable mọi GPU + hợp đồng submission.csv bất khả xâm phạm.</a:t>
            </a:r>
          </a:p>
        </p:txBody>
      </p:sp>
      <p:sp>
        <p:nvSpPr>
          <p:cNvPr id="16" name="TextBox 15"/>
          <p:cNvSpPr txBox="1"/>
          <p:nvPr/>
        </p:nvSpPr>
        <p:spPr>
          <a:xfrm>
            <a:off x="914400" y="3822191"/>
            <a:ext cx="10362895" cy="310896"/>
          </a:xfrm>
          <a:prstGeom prst="rect">
            <a:avLst/>
          </a:prstGeom>
          <a:noFill/>
        </p:spPr>
        <p:txBody>
          <a:bodyPr wrap="square" lIns="36576" tIns="18288" rIns="36576" bIns="18288" anchor="t">
            <a:spAutoFit/>
          </a:bodyPr>
          <a:lstStyle/>
          <a:p>
            <a:pPr algn="ctr"/>
            <a:r>
              <a:rPr sz="1250" b="1" i="0">
                <a:solidFill>
                  <a:srgbClr val="9FB0C7"/>
                </a:solidFill>
                <a:latin typeface="Be Vietnam Pro"/>
              </a:rPr>
              <a:t>ĐỐI CHIẾU RUBRIC Ý TƯỞNG (10đ) — phương pháp tối ưu: sáng tạo · hiệu quả · khả thi</a:t>
            </a:r>
          </a:p>
        </p:txBody>
      </p:sp>
      <p:sp>
        <p:nvSpPr>
          <p:cNvPr id="17" name="Rounded Rectangle 16"/>
          <p:cNvSpPr/>
          <p:nvPr/>
        </p:nvSpPr>
        <p:spPr>
          <a:xfrm>
            <a:off x="426567" y="4160520"/>
            <a:ext cx="3566160" cy="841248"/>
          </a:xfrm>
          <a:prstGeom prst="roundRect">
            <a:avLst>
              <a:gd name="adj" fmla="val 6000"/>
            </a:avLst>
          </a:prstGeom>
          <a:solidFill>
            <a:srgbClr val="121B2E"/>
          </a:solidFill>
          <a:ln w="12700">
            <a:solidFill>
              <a:srgbClr val="14B8A6"/>
            </a:solid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spcAft>
                <a:spcPts val="200"/>
              </a:spcAft>
            </a:pPr>
            <a:r>
              <a:rPr sz="1400" b="1" i="0">
                <a:solidFill>
                  <a:srgbClr val="14B8A6"/>
                </a:solidFill>
                <a:latin typeface="Be Vietnam Pro"/>
              </a:rPr>
              <a:t>✓ SÁNG TẠO</a:t>
            </a:r>
          </a:p>
          <a:p>
            <a:pPr algn="ctr"/>
            <a:r>
              <a:rPr sz="950" b="0" i="0">
                <a:solidFill>
                  <a:srgbClr val="9FB0C7"/>
                </a:solidFill>
                <a:latin typeface="Be Vietnam Pro"/>
              </a:rPr>
              <a:t>harness foundry · chọn-lever-bằng-đo · pivot luật bằng config</a:t>
            </a:r>
          </a:p>
        </p:txBody>
      </p:sp>
      <p:sp>
        <p:nvSpPr>
          <p:cNvPr id="18" name="Rounded Rectangle 17"/>
          <p:cNvSpPr/>
          <p:nvPr/>
        </p:nvSpPr>
        <p:spPr>
          <a:xfrm>
            <a:off x="4312767" y="4160520"/>
            <a:ext cx="3566160" cy="841248"/>
          </a:xfrm>
          <a:prstGeom prst="roundRect">
            <a:avLst>
              <a:gd name="adj" fmla="val 6000"/>
            </a:avLst>
          </a:prstGeom>
          <a:solidFill>
            <a:srgbClr val="121B2E"/>
          </a:solidFill>
          <a:ln w="12700">
            <a:solidFill>
              <a:srgbClr val="14B8A6"/>
            </a:solid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spcAft>
                <a:spcPts val="200"/>
              </a:spcAft>
            </a:pPr>
            <a:r>
              <a:rPr sz="1400" b="1" i="0">
                <a:solidFill>
                  <a:srgbClr val="14B8A6"/>
                </a:solidFill>
                <a:latin typeface="Be Vietnam Pro"/>
              </a:rPr>
              <a:t>✓ HIỆU QUẢ</a:t>
            </a:r>
          </a:p>
          <a:p>
            <a:pPr algn="ctr"/>
            <a:r>
              <a:rPr sz="950" b="0" i="0">
                <a:solidFill>
                  <a:srgbClr val="9FB0C7"/>
                </a:solidFill>
                <a:latin typeface="Be Vietnam Pro"/>
              </a:rPr>
              <a:t>83.59 leaderboard · ~3 giây/câu (nhanh nhất)</a:t>
            </a:r>
          </a:p>
        </p:txBody>
      </p:sp>
      <p:sp>
        <p:nvSpPr>
          <p:cNvPr id="19" name="Rounded Rectangle 18"/>
          <p:cNvSpPr/>
          <p:nvPr/>
        </p:nvSpPr>
        <p:spPr>
          <a:xfrm>
            <a:off x="8198967" y="4160520"/>
            <a:ext cx="3566160" cy="841248"/>
          </a:xfrm>
          <a:prstGeom prst="roundRect">
            <a:avLst>
              <a:gd name="adj" fmla="val 6000"/>
            </a:avLst>
          </a:prstGeom>
          <a:solidFill>
            <a:srgbClr val="121B2E"/>
          </a:solidFill>
          <a:ln w="12700">
            <a:solidFill>
              <a:srgbClr val="14B8A6"/>
            </a:solid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ctr"/>
          <a:lstStyle/>
          <a:p>
            <a:pPr algn="ctr">
              <a:spcAft>
                <a:spcPts val="200"/>
              </a:spcAft>
            </a:pPr>
            <a:r>
              <a:rPr sz="1400" b="1" i="0">
                <a:solidFill>
                  <a:srgbClr val="14B8A6"/>
                </a:solidFill>
                <a:latin typeface="Be Vietnam Pro"/>
              </a:rPr>
              <a:t>✓ KHẢ THI</a:t>
            </a:r>
          </a:p>
          <a:p>
            <a:pPr algn="ctr"/>
            <a:r>
              <a:rPr sz="950" b="0" i="0">
                <a:solidFill>
                  <a:srgbClr val="9FB0C7"/>
                </a:solidFill>
                <a:latin typeface="Be Vietnam Pro"/>
              </a:rPr>
              <a:t>offline ≤5GB · never-0 · CUDA 12.8 · Blackwell</a:t>
            </a:r>
          </a:p>
        </p:txBody>
      </p:sp>
      <p:sp>
        <p:nvSpPr>
          <p:cNvPr id="20" name="TextBox 19"/>
          <p:cNvSpPr txBox="1"/>
          <p:nvPr/>
        </p:nvSpPr>
        <p:spPr>
          <a:xfrm>
            <a:off x="914400" y="5257800"/>
            <a:ext cx="10362895" cy="502920"/>
          </a:xfrm>
          <a:prstGeom prst="rect">
            <a:avLst/>
          </a:prstGeom>
          <a:noFill/>
        </p:spPr>
        <p:txBody>
          <a:bodyPr wrap="square" lIns="36576" tIns="18288" rIns="36576" bIns="18288" anchor="t">
            <a:spAutoFit/>
          </a:bodyPr>
          <a:lstStyle/>
          <a:p>
            <a:pPr algn="ctr"/>
            <a:r>
              <a:rPr sz="1800" b="1" i="0">
                <a:solidFill>
                  <a:srgbClr val="FFFFFF"/>
                </a:solidFill>
                <a:latin typeface="Be Vietnam Pro"/>
              </a:rPr>
              <a:t>Cảm ơn ban giám khảo đã lắng nghe.</a:t>
            </a:r>
          </a:p>
        </p:txBody>
      </p:sp>
      <p:sp>
        <p:nvSpPr>
          <p:cNvPr id="21" name="TextBox 20"/>
          <p:cNvSpPr txBox="1"/>
          <p:nvPr/>
        </p:nvSpPr>
        <p:spPr>
          <a:xfrm>
            <a:off x="914400" y="5943600"/>
            <a:ext cx="10362895" cy="365760"/>
          </a:xfrm>
          <a:prstGeom prst="rect">
            <a:avLst/>
          </a:prstGeom>
          <a:noFill/>
        </p:spPr>
        <p:txBody>
          <a:bodyPr wrap="square" lIns="36576" tIns="18288" rIns="36576" bIns="18288" anchor="t">
            <a:spAutoFit/>
          </a:bodyPr>
          <a:lstStyle/>
          <a:p>
            <a:pPr algn="ctr"/>
            <a:r>
              <a:rPr sz="1100" b="0" i="0">
                <a:solidFill>
                  <a:srgbClr val="7C8AA0"/>
                </a:solidFill>
                <a:latin typeface="Be Vietnam Pro"/>
              </a:rPr>
              <a:t>image: hacamy12345/neko-core:qwen3-4b-r2-cuda128-20260627   ·   Neko Core — VMU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Chủ đề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3170</Words>
  <Application>Microsoft Office PowerPoint</Application>
  <PresentationFormat>Màn hình rộng</PresentationFormat>
  <Paragraphs>258</Paragraphs>
  <Slides>14</Slides>
  <Notes>13</Notes>
  <HiddenSlides>0</HiddenSlides>
  <MMClips>0</MMClips>
  <ScaleCrop>false</ScaleCrop>
  <HeadingPairs>
    <vt:vector size="6" baseType="variant">
      <vt:variant>
        <vt:lpstr>Phông được Dùng</vt:lpstr>
      </vt:variant>
      <vt:variant>
        <vt:i4>4</vt:i4>
      </vt:variant>
      <vt:variant>
        <vt:lpstr>Chủ đề</vt:lpstr>
      </vt:variant>
      <vt:variant>
        <vt:i4>1</vt:i4>
      </vt:variant>
      <vt:variant>
        <vt:lpstr>Tiêu đề Bản chiếu</vt:lpstr>
      </vt:variant>
      <vt:variant>
        <vt:i4>14</vt:i4>
      </vt:variant>
    </vt:vector>
  </HeadingPairs>
  <TitlesOfParts>
    <vt:vector size="19" baseType="lpstr">
      <vt:lpstr>Be Vietnam Pro</vt:lpstr>
      <vt:lpstr>Arial</vt:lpstr>
      <vt:lpstr>Consolas</vt:lpstr>
      <vt:lpstr>Calibri</vt:lpstr>
      <vt:lpstr>Office Theme</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Hùng Nguyễn</cp:lastModifiedBy>
  <cp:revision>2</cp:revision>
  <dcterms:created xsi:type="dcterms:W3CDTF">2013-01-27T09:14:16Z</dcterms:created>
  <dcterms:modified xsi:type="dcterms:W3CDTF">2026-06-26T18:23:14Z</dcterms:modified>
  <cp:category/>
</cp:coreProperties>
</file>