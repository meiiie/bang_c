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0"/>
            <a:ext cx="12191695" cy="7315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10515600" cy="914400"/>
          </a:xfrm>
          <a:prstGeom prst="rect">
            <a:avLst/>
          </a:prstGeom>
          <a:noFill/>
        </p:spPr>
        <p:txBody>
          <a:bodyPr wrap="square" anchor="t">
            <a:spAutoFit/>
          </a:bodyPr>
          <a:lstStyle/>
          <a:p>
            <a:pPr algn="l">
              <a:spcBef>
                <a:spcPts val="0"/>
              </a:spcBef>
              <a:spcAft>
                <a:spcPts val="300"/>
              </a:spcAft>
            </a:pPr>
            <a:r>
              <a:rPr sz="5200" b="1" i="0">
                <a:solidFill>
                  <a:srgbClr val="FFFFFF"/>
                </a:solidFill>
                <a:latin typeface="Calibri"/>
              </a:rPr>
              <a:t>NEKO CORE</a:t>
            </a:r>
          </a:p>
        </p:txBody>
      </p:sp>
      <p:sp>
        <p:nvSpPr>
          <p:cNvPr id="6" name="TextBox 5"/>
          <p:cNvSpPr txBox="1"/>
          <p:nvPr/>
        </p:nvSpPr>
        <p:spPr>
          <a:xfrm>
            <a:off x="822960" y="2834640"/>
            <a:ext cx="10607040" cy="822960"/>
          </a:xfrm>
          <a:prstGeom prst="rect">
            <a:avLst/>
          </a:prstGeom>
          <a:noFill/>
        </p:spPr>
        <p:txBody>
          <a:bodyPr wrap="square" anchor="t">
            <a:spAutoFit/>
          </a:bodyPr>
          <a:lstStyle/>
          <a:p>
            <a:pPr algn="l">
              <a:spcBef>
                <a:spcPts val="0"/>
              </a:spcBef>
              <a:spcAft>
                <a:spcPts val="300"/>
              </a:spcAft>
            </a:pPr>
            <a:r>
              <a:rPr sz="1700" b="0" i="0">
                <a:solidFill>
                  <a:srgbClr val="FAF5EE"/>
                </a:solidFill>
                <a:latin typeface="Calibri"/>
              </a:rPr>
              <a:t>Hệ thống suy luận trắc nghiệm ngoại tuyến ≤5B — tối ưu để không bao giờ ăn 0 điểm, mọi quyết định chứng minh bằng đo lường</a:t>
            </a:r>
          </a:p>
        </p:txBody>
      </p:sp>
      <p:sp>
        <p:nvSpPr>
          <p:cNvPr id="7" name="TextBox 6"/>
          <p:cNvSpPr txBox="1"/>
          <p:nvPr/>
        </p:nvSpPr>
        <p:spPr>
          <a:xfrm>
            <a:off x="822960" y="3886200"/>
            <a:ext cx="10515600" cy="548640"/>
          </a:xfrm>
          <a:prstGeom prst="rect">
            <a:avLst/>
          </a:prstGeom>
          <a:noFill/>
        </p:spPr>
        <p:txBody>
          <a:bodyPr wrap="square" anchor="t">
            <a:spAutoFit/>
          </a:bodyPr>
          <a:lstStyle/>
          <a:p>
            <a:pPr algn="l">
              <a:spcBef>
                <a:spcPts val="0"/>
              </a:spcBef>
              <a:spcAft>
                <a:spcPts val="300"/>
              </a:spcAft>
            </a:pPr>
            <a:r>
              <a:rPr sz="1600" b="1" i="0">
                <a:solidFill>
                  <a:srgbClr val="F97316"/>
                </a:solidFill>
                <a:latin typeface="Calibri"/>
              </a:rPr>
              <a:t>Tài liệu thuyết minh phương pháp · HackAIthon 2026 — Bảng C (Innovator)</a:t>
            </a:r>
          </a:p>
        </p:txBody>
      </p:sp>
      <p:sp>
        <p:nvSpPr>
          <p:cNvPr id="8" name="TextBox 7"/>
          <p:cNvSpPr txBox="1"/>
          <p:nvPr/>
        </p:nvSpPr>
        <p:spPr>
          <a:xfrm>
            <a:off x="822960" y="4754880"/>
            <a:ext cx="10515600" cy="1005840"/>
          </a:xfrm>
          <a:prstGeom prst="rect">
            <a:avLst/>
          </a:prstGeom>
          <a:noFill/>
        </p:spPr>
        <p:txBody>
          <a:bodyPr wrap="square" anchor="t">
            <a:spAutoFit/>
          </a:bodyPr>
          <a:lstStyle/>
          <a:p>
            <a:pPr algn="l">
              <a:spcBef>
                <a:spcPts val="0"/>
              </a:spcBef>
              <a:spcAft>
                <a:spcPts val="300"/>
              </a:spcAft>
            </a:pPr>
            <a:r>
              <a:rPr sz="1500" b="0" i="0">
                <a:solidFill>
                  <a:srgbClr val="FAF5EE"/>
                </a:solidFill>
                <a:latin typeface="Calibri"/>
              </a:rPr>
              <a:t>Public‑463 leaderboard: </a:t>
            </a:r>
            <a:r>
              <a:rPr sz="1800" b="1" i="0">
                <a:solidFill>
                  <a:srgbClr val="FFFFFF"/>
                </a:solidFill>
                <a:latin typeface="Calibri"/>
              </a:rPr>
              <a:t>83.59</a:t>
            </a:r>
            <a:r>
              <a:rPr sz="1400" b="0" i="0">
                <a:solidFill>
                  <a:srgbClr val="FAF5EE"/>
                </a:solidFill>
                <a:latin typeface="Calibri"/>
              </a:rPr>
              <a:t>   ·   Mô hình: Qwen3‑4B‑Instruct‑2507 (dense 4B, ≤5B, ngoại tuyến)</a:t>
            </a:r>
          </a:p>
          <a:p>
            <a:pPr algn="l">
              <a:spcBef>
                <a:spcPts val="0"/>
              </a:spcBef>
              <a:spcAft>
                <a:spcPts val="300"/>
              </a:spcAft>
            </a:pPr>
            <a:r>
              <a:rPr sz="1200" b="0" i="1">
                <a:solidFill>
                  <a:srgbClr val="C9CED6"/>
                </a:solidFill>
                <a:latin typeface="Calibri"/>
              </a:rPr>
              <a:t>Đội Neko Core · Đại học Hàng hải Việt Nam (VMU)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Tóm tắt</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Một mô hình ≤5B, tối ưu trên ba trụ cột: suy luận đo được, không‑0‑điểm, chọn kỹ thuật bằng đo.</a:t>
            </a:r>
          </a:p>
        </p:txBody>
      </p:sp>
      <p:sp>
        <p:nvSpPr>
          <p:cNvPr id="6" name="Rectangle 5"/>
          <p:cNvSpPr/>
          <p:nvPr/>
        </p:nvSpPr>
        <p:spPr>
          <a:xfrm>
            <a:off x="640080" y="2057400"/>
            <a:ext cx="3520440" cy="2880360"/>
          </a:xfrm>
          <a:prstGeom prst="rect">
            <a:avLst/>
          </a:prstGeom>
          <a:solidFill>
            <a:srgbClr val="FFFFFF"/>
          </a:solidFill>
          <a:ln w="1905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57400"/>
            <a:ext cx="3520440"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240280"/>
            <a:ext cx="2971800" cy="2560320"/>
          </a:xfrm>
          <a:prstGeom prst="rect">
            <a:avLst/>
          </a:prstGeom>
          <a:noFill/>
        </p:spPr>
        <p:txBody>
          <a:bodyPr wrap="square" anchor="ctr">
            <a:spAutoFit/>
          </a:bodyPr>
          <a:lstStyle/>
          <a:p>
            <a:pPr algn="l">
              <a:spcBef>
                <a:spcPts val="0"/>
              </a:spcBef>
              <a:spcAft>
                <a:spcPts val="400"/>
              </a:spcAft>
            </a:pPr>
            <a:r>
              <a:rPr sz="1550" b="1" i="0">
                <a:solidFill>
                  <a:srgbClr val="F97316"/>
                </a:solidFill>
                <a:latin typeface="Calibri"/>
              </a:rPr>
              <a:t>Một mô hình ≤5B, suy luận tự nhất quán</a:t>
            </a:r>
          </a:p>
          <a:p>
            <a:pPr algn="l">
              <a:spcBef>
                <a:spcPts val="0"/>
              </a:spcBef>
              <a:spcAft>
                <a:spcPts val="400"/>
              </a:spcAft>
            </a:pPr>
            <a:r>
              <a:rPr sz="800" b="0" i="0">
                <a:solidFill>
                  <a:srgbClr val="1F2937"/>
                </a:solidFill>
                <a:latin typeface="Calibri"/>
              </a:rPr>
              <a:t/>
            </a:r>
          </a:p>
          <a:p>
            <a:pPr algn="l">
              <a:spcBef>
                <a:spcPts val="0"/>
              </a:spcBef>
              <a:spcAft>
                <a:spcPts val="400"/>
              </a:spcAft>
            </a:pPr>
            <a:r>
              <a:rPr sz="1200" b="0" i="0">
                <a:solidFill>
                  <a:srgbClr val="1F2937"/>
                </a:solidFill>
                <a:latin typeface="Calibri"/>
              </a:rPr>
              <a:t>Qwen3‑4B‑Instruct‑2507 (dense 4B) chạy ngoại tuyến, chain‑of‑thought tự nhất quán, đạt 83.59 trên leaderboard. Một mô hình duy nhất — không mô hình phụ, không embedding/rerank.</a:t>
            </a:r>
          </a:p>
        </p:txBody>
      </p:sp>
      <p:sp>
        <p:nvSpPr>
          <p:cNvPr id="9" name="Rectangle 8"/>
          <p:cNvSpPr/>
          <p:nvPr/>
        </p:nvSpPr>
        <p:spPr>
          <a:xfrm>
            <a:off x="4361688" y="2057400"/>
            <a:ext cx="3520440" cy="2880360"/>
          </a:xfrm>
          <a:prstGeom prst="rect">
            <a:avLst/>
          </a:prstGeom>
          <a:solidFill>
            <a:srgbClr val="FFFFFF"/>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2057400"/>
            <a:ext cx="3520440" cy="14630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54296" y="2240280"/>
            <a:ext cx="2971800" cy="2560320"/>
          </a:xfrm>
          <a:prstGeom prst="rect">
            <a:avLst/>
          </a:prstGeom>
          <a:noFill/>
        </p:spPr>
        <p:txBody>
          <a:bodyPr wrap="square" anchor="ctr">
            <a:spAutoFit/>
          </a:bodyPr>
          <a:lstStyle/>
          <a:p>
            <a:pPr algn="l">
              <a:spcBef>
                <a:spcPts val="0"/>
              </a:spcBef>
              <a:spcAft>
                <a:spcPts val="400"/>
              </a:spcAft>
            </a:pPr>
            <a:r>
              <a:rPr sz="1550" b="1" i="0">
                <a:solidFill>
                  <a:srgbClr val="15803D"/>
                </a:solidFill>
                <a:latin typeface="Calibri"/>
              </a:rPr>
              <a:t>Không bao giờ 0 điểm trên mọi máy</a:t>
            </a:r>
          </a:p>
          <a:p>
            <a:pPr algn="l">
              <a:spcBef>
                <a:spcPts val="0"/>
              </a:spcBef>
              <a:spcAft>
                <a:spcPts val="400"/>
              </a:spcAft>
            </a:pPr>
            <a:r>
              <a:rPr sz="800" b="0" i="0">
                <a:solidFill>
                  <a:srgbClr val="1F2937"/>
                </a:solidFill>
                <a:latin typeface="Calibri"/>
              </a:rPr>
              <a:t/>
            </a:r>
          </a:p>
          <a:p>
            <a:pPr algn="l">
              <a:spcBef>
                <a:spcPts val="0"/>
              </a:spcBef>
              <a:spcAft>
                <a:spcPts val="400"/>
              </a:spcAft>
            </a:pPr>
            <a:r>
              <a:rPr sz="1200" b="0" i="0">
                <a:solidFill>
                  <a:srgbClr val="1F2937"/>
                </a:solidFill>
                <a:latin typeface="Calibri"/>
              </a:rPr>
              <a:t>Wheel biên dịch native cho mọi GPU NVIDIA 2016→2025 (P100→Blackwell) kèm PTX floor, chạy mọi CPU, hợp đồng pred.csv bốn lớp phục hồi. Dùng ~5GB/16GB VRAM. Đã kiểm chứng literal.</a:t>
            </a:r>
          </a:p>
        </p:txBody>
      </p:sp>
      <p:sp>
        <p:nvSpPr>
          <p:cNvPr id="12" name="Rectangle 11"/>
          <p:cNvSpPr/>
          <p:nvPr/>
        </p:nvSpPr>
        <p:spPr>
          <a:xfrm>
            <a:off x="8083296" y="2057400"/>
            <a:ext cx="3520440" cy="2880360"/>
          </a:xfrm>
          <a:prstGeom prst="rect">
            <a:avLst/>
          </a:prstGeom>
          <a:solidFill>
            <a:srgbClr val="FFFFFF"/>
          </a:solidFill>
          <a:ln w="1905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83296" y="2057400"/>
            <a:ext cx="3520440" cy="146304"/>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75904" y="2240280"/>
            <a:ext cx="2971800" cy="2560320"/>
          </a:xfrm>
          <a:prstGeom prst="rect">
            <a:avLst/>
          </a:prstGeom>
          <a:noFill/>
        </p:spPr>
        <p:txBody>
          <a:bodyPr wrap="square" anchor="ctr">
            <a:spAutoFit/>
          </a:bodyPr>
          <a:lstStyle/>
          <a:p>
            <a:pPr algn="l">
              <a:spcBef>
                <a:spcPts val="0"/>
              </a:spcBef>
              <a:spcAft>
                <a:spcPts val="400"/>
              </a:spcAft>
            </a:pPr>
            <a:r>
              <a:rPr sz="1550" b="1" i="0">
                <a:solidFill>
                  <a:srgbClr val="C2550B"/>
                </a:solidFill>
                <a:latin typeface="Calibri"/>
              </a:rPr>
              <a:t>Chọn kỹ thuật bằng đo, không đoán</a:t>
            </a:r>
          </a:p>
          <a:p>
            <a:pPr algn="l">
              <a:spcBef>
                <a:spcPts val="0"/>
              </a:spcBef>
              <a:spcAft>
                <a:spcPts val="400"/>
              </a:spcAft>
            </a:pPr>
            <a:r>
              <a:rPr sz="800" b="0" i="0">
                <a:solidFill>
                  <a:srgbClr val="1F2937"/>
                </a:solidFill>
                <a:latin typeface="Calibri"/>
              </a:rPr>
              <a:t/>
            </a:r>
          </a:p>
          <a:p>
            <a:pPr algn="l">
              <a:spcBef>
                <a:spcPts val="0"/>
              </a:spcBef>
              <a:spcAft>
                <a:spcPts val="400"/>
              </a:spcAft>
            </a:pPr>
            <a:r>
              <a:rPr sz="1200" b="0" i="0">
                <a:solidFill>
                  <a:srgbClr val="1F2937"/>
                </a:solidFill>
                <a:latin typeface="Calibri"/>
              </a:rPr>
              <a:t>Đã xây cả một foundry chiến lược (fine‑tune, RAG, TIR, tiered) rồi loại thẳng cái gây hại bằng đo held‑out. Self‑consistency trên base mạnh là tối ưu cho ≤5B và đồng thời nhanh nhất.</a:t>
            </a:r>
          </a:p>
        </p:txBody>
      </p:sp>
      <p:sp>
        <p:nvSpPr>
          <p:cNvPr id="15" name="TextBox 14"/>
          <p:cNvSpPr txBox="1"/>
          <p:nvPr/>
        </p:nvSpPr>
        <p:spPr>
          <a:xfrm>
            <a:off x="640080" y="5532120"/>
            <a:ext cx="10972800" cy="640080"/>
          </a:xfrm>
          <a:prstGeom prst="rect">
            <a:avLst/>
          </a:prstGeom>
          <a:noFill/>
        </p:spPr>
        <p:txBody>
          <a:bodyPr wrap="square" anchor="t">
            <a:spAutoFit/>
          </a:bodyPr>
          <a:lstStyle/>
          <a:p>
            <a:pPr algn="l">
              <a:spcBef>
                <a:spcPts val="0"/>
              </a:spcBef>
              <a:spcAft>
                <a:spcPts val="300"/>
              </a:spcAft>
            </a:pPr>
            <a:r>
              <a:rPr sz="1200" b="0" i="1">
                <a:solidFill>
                  <a:srgbClr val="6B7280"/>
                </a:solidFill>
                <a:latin typeface="Calibri"/>
              </a:rPr>
              <a:t>Định vị khách quan: 83.59 tiệm cận giới hạn thực tế của một mô hình ≤5B trên phân phối đề này; mọi đòn bẩy còn lại đều nằm trong sai số hoặc gây hại khi đo sạch. Tài liệu trình bày số liệu đo được, không cam kết số liệu chưa kiểm chứng.</a:t>
            </a:r>
          </a:p>
        </p:txBody>
      </p:sp>
      <p:sp>
        <p:nvSpPr>
          <p:cNvPr id="16" name="TextBox 15"/>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01 · Bài toán &amp; hợp đồng</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Container ngoại tuyến đọc /data và ghi /output/pred.csv; chấm theo Độ chính xác 80, Thời gian 10, Ý tưởng 10.</a:t>
            </a:r>
          </a:p>
        </p:txBody>
      </p:sp>
      <p:sp>
        <p:nvSpPr>
          <p:cNvPr id="6" name="TextBox 5"/>
          <p:cNvSpPr txBox="1"/>
          <p:nvPr/>
        </p:nvSpPr>
        <p:spPr>
          <a:xfrm>
            <a:off x="640080" y="2011680"/>
            <a:ext cx="6675120" cy="2194560"/>
          </a:xfrm>
          <a:prstGeom prst="rect">
            <a:avLst/>
          </a:prstGeom>
          <a:noFill/>
        </p:spPr>
        <p:txBody>
          <a:bodyPr wrap="square" anchor="t">
            <a:spAutoFit/>
          </a:bodyPr>
          <a:lstStyle/>
          <a:p>
            <a:pPr algn="l">
              <a:spcBef>
                <a:spcPts val="0"/>
              </a:spcBef>
              <a:spcAft>
                <a:spcPts val="300"/>
              </a:spcAft>
            </a:pPr>
            <a:r>
              <a:rPr sz="1350" b="0" i="0">
                <a:solidFill>
                  <a:srgbClr val="1F2937"/>
                </a:solidFill>
                <a:latin typeface="Calibri"/>
              </a:rPr>
              <a:t>Hệ thống đóng gói trong một container </a:t>
            </a:r>
            <a:r>
              <a:rPr sz="1350" b="1" i="0">
                <a:solidFill>
                  <a:srgbClr val="C2550B"/>
                </a:solidFill>
                <a:latin typeface="Calibri"/>
              </a:rPr>
              <a:t>ngoại tuyến, tự chứa</a:t>
            </a:r>
            <a:r>
              <a:rPr sz="1350" b="0" i="0">
                <a:solidFill>
                  <a:srgbClr val="1F2937"/>
                </a:solidFill>
                <a:latin typeface="Calibri"/>
              </a:rPr>
              <a:t> (không mạng, không khóa API), đọc </a:t>
            </a:r>
            <a:r>
              <a:rPr sz="1350" b="1" i="0">
                <a:solidFill>
                  <a:srgbClr val="C2550B"/>
                </a:solidFill>
                <a:latin typeface="Calibri"/>
              </a:rPr>
              <a:t>/data/*_test.csv</a:t>
            </a:r>
            <a:r>
              <a:rPr sz="1350" b="0" i="0">
                <a:solidFill>
                  <a:srgbClr val="1F2937"/>
                </a:solidFill>
                <a:latin typeface="Calibri"/>
              </a:rPr>
              <a:t> và ghi </a:t>
            </a:r>
            <a:r>
              <a:rPr sz="1350" b="1" i="0">
                <a:solidFill>
                  <a:srgbClr val="C2550B"/>
                </a:solidFill>
                <a:latin typeface="Calibri"/>
              </a:rPr>
              <a:t>/output/pred.csv</a:t>
            </a:r>
            <a:r>
              <a:rPr sz="1350" b="0" i="0">
                <a:solidFill>
                  <a:srgbClr val="1F2937"/>
                </a:solidFill>
                <a:latin typeface="Calibri"/>
              </a:rPr>
              <a:t> với hai cột qid, answer.</a:t>
            </a:r>
          </a:p>
          <a:p>
            <a:pPr algn="l">
              <a:spcBef>
                <a:spcPts val="0"/>
              </a:spcBef>
              <a:spcAft>
                <a:spcPts val="300"/>
              </a:spcAft>
            </a:pPr>
            <a:r>
              <a:rPr sz="700" b="0" i="0">
                <a:solidFill>
                  <a:srgbClr val="1F2937"/>
                </a:solidFill>
                <a:latin typeface="Calibri"/>
              </a:rPr>
              <a:t/>
            </a:r>
          </a:p>
          <a:p>
            <a:pPr algn="l">
              <a:spcBef>
                <a:spcPts val="0"/>
              </a:spcBef>
              <a:spcAft>
                <a:spcPts val="300"/>
              </a:spcAft>
            </a:pPr>
            <a:r>
              <a:rPr sz="1350" b="0" i="0">
                <a:solidFill>
                  <a:srgbClr val="1F2937"/>
                </a:solidFill>
                <a:latin typeface="Calibri"/>
              </a:rPr>
              <a:t>Tập kiểm thử riêng 2000 câu kiểu THPT Quốc gia (Toán/Lý/Hoá/Sinh, Giáo dục công dân, đọc hiểu); mọi kỹ thuật gắn cứng với một câu hay một ngôn ngữ đều bị loại hoặc tổng quát hóa qua cấu hình.</a:t>
            </a:r>
          </a:p>
        </p:txBody>
      </p:sp>
      <p:graphicFrame>
        <p:nvGraphicFramePr>
          <p:cNvPr id="7" name="Table 6"/>
          <p:cNvGraphicFramePr>
            <a:graphicFrameLocks noGrp="1"/>
          </p:cNvGraphicFramePr>
          <p:nvPr/>
        </p:nvGraphicFramePr>
        <p:xfrm>
          <a:off x="7589520" y="2103120"/>
          <a:ext cx="4023360" cy="2011680"/>
        </p:xfrm>
        <a:graphic>
          <a:graphicData uri="http://schemas.openxmlformats.org/drawingml/2006/table">
            <a:tbl>
              <a:tblPr firstRow="1" bandRow="1">
                <a:tableStyleId>{5C22544A-7EE6-4342-B048-85BDC9FD1C3A}</a:tableStyleId>
              </a:tblPr>
              <a:tblGrid>
                <a:gridCol w="2834640"/>
                <a:gridCol w="1188720"/>
              </a:tblGrid>
              <a:tr h="502920">
                <a:tc>
                  <a:txBody>
                    <a:bodyPr/>
                    <a:lstStyle/>
                    <a:p>
                      <a:r>
                        <a:rPr sz="1300" b="1" i="0">
                          <a:solidFill>
                            <a:srgbClr val="FFFFFF"/>
                          </a:solidFill>
                          <a:latin typeface="Calibri"/>
                        </a:rPr>
                        <a:t>Tiêu chí Vòng 2</a:t>
                      </a:r>
                    </a:p>
                  </a:txBody>
                  <a:tcPr marL="91440" marR="54864" marT="18288" marB="18288" anchor="ctr">
                    <a:solidFill>
                      <a:srgbClr val="1F2937"/>
                    </a:solidFill>
                  </a:tcPr>
                </a:tc>
                <a:tc>
                  <a:txBody>
                    <a:bodyPr/>
                    <a:lstStyle/>
                    <a:p>
                      <a:r>
                        <a:rPr sz="1300" b="1" i="0">
                          <a:solidFill>
                            <a:srgbClr val="FFFFFF"/>
                          </a:solidFill>
                          <a:latin typeface="Calibri"/>
                        </a:rPr>
                        <a:t>Điểm</a:t>
                      </a:r>
                    </a:p>
                  </a:txBody>
                  <a:tcPr marL="91440" marR="54864" marT="18288" marB="18288" anchor="ctr">
                    <a:solidFill>
                      <a:srgbClr val="1F2937"/>
                    </a:solidFill>
                  </a:tcPr>
                </a:tc>
              </a:tr>
              <a:tr h="502920">
                <a:tc>
                  <a:txBody>
                    <a:bodyPr/>
                    <a:lstStyle/>
                    <a:p>
                      <a:r>
                        <a:rPr sz="1300" b="1" i="0">
                          <a:solidFill>
                            <a:srgbClr val="1F2937"/>
                          </a:solidFill>
                          <a:latin typeface="Calibri"/>
                        </a:rPr>
                        <a:t>Độ chính xác</a:t>
                      </a:r>
                    </a:p>
                  </a:txBody>
                  <a:tcPr marL="91440" marR="54864" marT="18288" marB="18288" anchor="ctr">
                    <a:solidFill>
                      <a:srgbClr val="FFFFFF"/>
                    </a:solidFill>
                  </a:tcPr>
                </a:tc>
                <a:tc>
                  <a:txBody>
                    <a:bodyPr/>
                    <a:lstStyle/>
                    <a:p>
                      <a:r>
                        <a:rPr sz="1300" b="0" i="0">
                          <a:solidFill>
                            <a:srgbClr val="1F2937"/>
                          </a:solidFill>
                          <a:latin typeface="Calibri"/>
                        </a:rPr>
                        <a:t>80</a:t>
                      </a:r>
                    </a:p>
                  </a:txBody>
                  <a:tcPr marL="91440" marR="54864" marT="18288" marB="18288" anchor="ctr">
                    <a:solidFill>
                      <a:srgbClr val="FFFFFF"/>
                    </a:solidFill>
                  </a:tcPr>
                </a:tc>
              </a:tr>
              <a:tr h="502920">
                <a:tc>
                  <a:txBody>
                    <a:bodyPr/>
                    <a:lstStyle/>
                    <a:p>
                      <a:r>
                        <a:rPr sz="1300" b="1" i="0">
                          <a:solidFill>
                            <a:srgbClr val="1F2937"/>
                          </a:solidFill>
                          <a:latin typeface="Calibri"/>
                        </a:rPr>
                        <a:t>Thời gian inference</a:t>
                      </a:r>
                    </a:p>
                  </a:txBody>
                  <a:tcPr marL="91440" marR="54864" marT="18288" marB="18288" anchor="ctr">
                    <a:solidFill>
                      <a:srgbClr val="F3F4F6"/>
                    </a:solidFill>
                  </a:tcPr>
                </a:tc>
                <a:tc>
                  <a:txBody>
                    <a:bodyPr/>
                    <a:lstStyle/>
                    <a:p>
                      <a:r>
                        <a:rPr sz="1300" b="0" i="0">
                          <a:solidFill>
                            <a:srgbClr val="1F2937"/>
                          </a:solidFill>
                          <a:latin typeface="Calibri"/>
                        </a:rPr>
                        <a:t>10</a:t>
                      </a:r>
                    </a:p>
                  </a:txBody>
                  <a:tcPr marL="91440" marR="54864" marT="18288" marB="18288" anchor="ctr">
                    <a:solidFill>
                      <a:srgbClr val="F3F4F6"/>
                    </a:solidFill>
                  </a:tcPr>
                </a:tc>
              </a:tr>
              <a:tr h="502920">
                <a:tc>
                  <a:txBody>
                    <a:bodyPr/>
                    <a:lstStyle/>
                    <a:p>
                      <a:r>
                        <a:rPr sz="1300" b="1" i="0">
                          <a:solidFill>
                            <a:srgbClr val="C2550B"/>
                          </a:solidFill>
                          <a:latin typeface="Calibri"/>
                        </a:rPr>
                        <a:t>Ý tưởng / tối ưu</a:t>
                      </a:r>
                    </a:p>
                  </a:txBody>
                  <a:tcPr marL="91440" marR="54864" marT="18288" marB="18288" anchor="ctr">
                    <a:solidFill>
                      <a:srgbClr val="FFFFFF"/>
                    </a:solidFill>
                  </a:tcPr>
                </a:tc>
                <a:tc>
                  <a:txBody>
                    <a:bodyPr/>
                    <a:lstStyle/>
                    <a:p>
                      <a:r>
                        <a:rPr sz="1300" b="0" i="0">
                          <a:solidFill>
                            <a:srgbClr val="1F2937"/>
                          </a:solidFill>
                          <a:latin typeface="Calibri"/>
                        </a:rPr>
                        <a:t>10</a:t>
                      </a:r>
                    </a:p>
                  </a:txBody>
                  <a:tcPr marL="91440" marR="54864" marT="18288" marB="18288" anchor="ctr">
                    <a:solidFill>
                      <a:srgbClr val="FFFFFF"/>
                    </a:solidFill>
                  </a:tcPr>
                </a:tc>
              </a:tr>
            </a:tbl>
          </a:graphicData>
        </a:graphic>
      </p:graphicFrame>
      <p:sp>
        <p:nvSpPr>
          <p:cNvPr id="8" name="Rectangle 7"/>
          <p:cNvSpPr/>
          <p:nvPr/>
        </p:nvSpPr>
        <p:spPr>
          <a:xfrm>
            <a:off x="640080" y="4572000"/>
            <a:ext cx="10972800" cy="1417320"/>
          </a:xfrm>
          <a:prstGeom prst="rect">
            <a:avLst/>
          </a:prstGeom>
          <a:solidFill>
            <a:srgbClr val="FAF5EE"/>
          </a:solidFill>
          <a:ln w="15875">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709160"/>
            <a:ext cx="10607040" cy="1188720"/>
          </a:xfrm>
          <a:prstGeom prst="rect">
            <a:avLst/>
          </a:prstGeom>
          <a:noFill/>
        </p:spPr>
        <p:txBody>
          <a:bodyPr wrap="square" anchor="t">
            <a:spAutoFit/>
          </a:bodyPr>
          <a:lstStyle/>
          <a:p>
            <a:pPr algn="l">
              <a:spcBef>
                <a:spcPts val="0"/>
              </a:spcBef>
              <a:spcAft>
                <a:spcPts val="300"/>
              </a:spcAft>
            </a:pPr>
            <a:r>
              <a:rPr sz="1300" b="1" i="0">
                <a:solidFill>
                  <a:srgbClr val="C2550B"/>
                </a:solidFill>
                <a:latin typeface="Calibri"/>
              </a:rPr>
              <a:t>Ràng buộc Ban Tổ chức (xác nhận chính thức 2026‑06‑18):</a:t>
            </a:r>
          </a:p>
          <a:p>
            <a:pPr algn="l">
              <a:spcBef>
                <a:spcPts val="0"/>
              </a:spcBef>
              <a:spcAft>
                <a:spcPts val="300"/>
              </a:spcAft>
            </a:pPr>
            <a:r>
              <a:rPr sz="1250" b="0" i="0">
                <a:solidFill>
                  <a:srgbClr val="1F2937"/>
                </a:solidFill>
                <a:latin typeface="Calibri"/>
              </a:rPr>
              <a:t>• Server chấm 16GB VRAM.   • ≤5B tính theo TỔNG tham số (nên MoE 26B‑tổng bị loại; dense Qwen3‑4B = 4B hợp lệ).</a:t>
            </a:r>
          </a:p>
          <a:p>
            <a:pPr algn="l">
              <a:spcBef>
                <a:spcPts val="0"/>
              </a:spcBef>
              <a:spcAft>
                <a:spcPts val="300"/>
              </a:spcAft>
            </a:pPr>
            <a:r>
              <a:rPr sz="1250" b="0" i="0">
                <a:solidFill>
                  <a:srgbClr val="1F2937"/>
                </a:solidFill>
                <a:latin typeface="Calibri"/>
              </a:rPr>
              <a:t>• Chỉ 1 model LLM ≤5B, KHÔNG embedding/rerank, không mô hình/API ngoài, ngoại tuyến.  →  Bài nộp tuân thủ tuyệt đối.</a:t>
            </a:r>
          </a:p>
        </p:txBody>
      </p:sp>
      <p:sp>
        <p:nvSpPr>
          <p:cNvPr id="10" name="TextBox 9"/>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02 · Nguyên tắc thiết kế</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Mô hình suy luận; hệ thống điều phối, đo lường và bảo vệ kết quả khỏi 0 điểm.</a:t>
            </a:r>
          </a:p>
        </p:txBody>
      </p:sp>
      <p:sp>
        <p:nvSpPr>
          <p:cNvPr id="6" name="Rectangle 5"/>
          <p:cNvSpPr/>
          <p:nvPr/>
        </p:nvSpPr>
        <p:spPr>
          <a:xfrm>
            <a:off x="640080" y="2057400"/>
            <a:ext cx="5349240" cy="178308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57400"/>
            <a:ext cx="91440" cy="178308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2240280"/>
            <a:ext cx="4846320" cy="1463040"/>
          </a:xfrm>
          <a:prstGeom prst="rect">
            <a:avLst/>
          </a:prstGeom>
          <a:noFill/>
        </p:spPr>
        <p:txBody>
          <a:bodyPr wrap="square" anchor="ctr">
            <a:spAutoFit/>
          </a:bodyPr>
          <a:lstStyle/>
          <a:p>
            <a:pPr algn="l">
              <a:spcBef>
                <a:spcPts val="0"/>
              </a:spcBef>
              <a:spcAft>
                <a:spcPts val="400"/>
              </a:spcAft>
            </a:pPr>
            <a:r>
              <a:rPr sz="1500" b="1" i="0">
                <a:solidFill>
                  <a:srgbClr val="C2550B"/>
                </a:solidFill>
                <a:latin typeface="Calibri"/>
              </a:rPr>
              <a:t>1. Phân tách vai trò</a:t>
            </a:r>
          </a:p>
          <a:p>
            <a:pPr algn="l">
              <a:spcBef>
                <a:spcPts val="0"/>
              </a:spcBef>
              <a:spcAft>
                <a:spcPts val="400"/>
              </a:spcAft>
            </a:pPr>
            <a:r>
              <a:rPr sz="600" b="0" i="0">
                <a:solidFill>
                  <a:srgbClr val="1F2937"/>
                </a:solidFill>
                <a:latin typeface="Calibri"/>
              </a:rPr>
              <a:t/>
            </a:r>
          </a:p>
          <a:p>
            <a:pPr algn="l">
              <a:spcBef>
                <a:spcPts val="0"/>
              </a:spcBef>
              <a:spcAft>
                <a:spcPts val="400"/>
              </a:spcAft>
            </a:pPr>
            <a:r>
              <a:rPr sz="1250" b="0" i="0">
                <a:solidFill>
                  <a:srgbClr val="1F2937"/>
                </a:solidFill>
                <a:latin typeface="Calibri"/>
              </a:rPr>
              <a:t>Không mã hóa cứng đáp án hay công thức; mô hình thực hiện suy luận, hệ thống đo độ tin cậy từ mức đồng thuận của các mẫu.</a:t>
            </a:r>
          </a:p>
        </p:txBody>
      </p:sp>
      <p:sp>
        <p:nvSpPr>
          <p:cNvPr id="9" name="Rectangle 8"/>
          <p:cNvSpPr/>
          <p:nvPr/>
        </p:nvSpPr>
        <p:spPr>
          <a:xfrm>
            <a:off x="6263640" y="2057400"/>
            <a:ext cx="5349240" cy="178308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057400"/>
            <a:ext cx="91440" cy="178308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240280"/>
            <a:ext cx="4846320" cy="1463040"/>
          </a:xfrm>
          <a:prstGeom prst="rect">
            <a:avLst/>
          </a:prstGeom>
          <a:noFill/>
        </p:spPr>
        <p:txBody>
          <a:bodyPr wrap="square" anchor="ctr">
            <a:spAutoFit/>
          </a:bodyPr>
          <a:lstStyle/>
          <a:p>
            <a:pPr algn="l">
              <a:spcBef>
                <a:spcPts val="0"/>
              </a:spcBef>
              <a:spcAft>
                <a:spcPts val="400"/>
              </a:spcAft>
            </a:pPr>
            <a:r>
              <a:rPr sz="1500" b="1" i="0">
                <a:solidFill>
                  <a:srgbClr val="C2550B"/>
                </a:solidFill>
                <a:latin typeface="Calibri"/>
              </a:rPr>
              <a:t>2. Chống quá khớp bằng đo lường</a:t>
            </a:r>
          </a:p>
          <a:p>
            <a:pPr algn="l">
              <a:spcBef>
                <a:spcPts val="0"/>
              </a:spcBef>
              <a:spcAft>
                <a:spcPts val="400"/>
              </a:spcAft>
            </a:pPr>
            <a:r>
              <a:rPr sz="600" b="0" i="0">
                <a:solidFill>
                  <a:srgbClr val="1F2937"/>
                </a:solidFill>
                <a:latin typeface="Calibri"/>
              </a:rPr>
              <a:t/>
            </a:r>
          </a:p>
          <a:p>
            <a:pPr algn="l">
              <a:spcBef>
                <a:spcPts val="0"/>
              </a:spcBef>
              <a:spcAft>
                <a:spcPts val="400"/>
              </a:spcAft>
            </a:pPr>
            <a:r>
              <a:rPr sz="1250" b="0" i="0">
                <a:solidFill>
                  <a:srgbClr val="1F2937"/>
                </a:solidFill>
                <a:latin typeface="Calibri"/>
              </a:rPr>
              <a:t>Tập riêng 2000 câu là mục tiêu, proxy 463 chỉ là que thăm. Một kỹ thuật chỉ triển khai khi tổng quát hóa được — đo held‑out, không hồi quy cụm.</a:t>
            </a:r>
          </a:p>
        </p:txBody>
      </p:sp>
      <p:sp>
        <p:nvSpPr>
          <p:cNvPr id="12" name="Rectangle 11"/>
          <p:cNvSpPr/>
          <p:nvPr/>
        </p:nvSpPr>
        <p:spPr>
          <a:xfrm>
            <a:off x="640080" y="4069080"/>
            <a:ext cx="5349240" cy="178308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069080"/>
            <a:ext cx="91440" cy="178308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19" y="4251960"/>
            <a:ext cx="4846320" cy="1463040"/>
          </a:xfrm>
          <a:prstGeom prst="rect">
            <a:avLst/>
          </a:prstGeom>
          <a:noFill/>
        </p:spPr>
        <p:txBody>
          <a:bodyPr wrap="square" anchor="ctr">
            <a:spAutoFit/>
          </a:bodyPr>
          <a:lstStyle/>
          <a:p>
            <a:pPr algn="l">
              <a:spcBef>
                <a:spcPts val="0"/>
              </a:spcBef>
              <a:spcAft>
                <a:spcPts val="400"/>
              </a:spcAft>
            </a:pPr>
            <a:r>
              <a:rPr sz="1500" b="1" i="0">
                <a:solidFill>
                  <a:srgbClr val="C2550B"/>
                </a:solidFill>
                <a:latin typeface="Calibri"/>
              </a:rPr>
              <a:t>3. Bền vững là ưu tiên hàng đầu</a:t>
            </a:r>
          </a:p>
          <a:p>
            <a:pPr algn="l">
              <a:spcBef>
                <a:spcPts val="0"/>
              </a:spcBef>
              <a:spcAft>
                <a:spcPts val="400"/>
              </a:spcAft>
            </a:pPr>
            <a:r>
              <a:rPr sz="600" b="0" i="0">
                <a:solidFill>
                  <a:srgbClr val="1F2937"/>
                </a:solidFill>
                <a:latin typeface="Calibri"/>
              </a:rPr>
              <a:t/>
            </a:r>
          </a:p>
          <a:p>
            <a:pPr algn="l">
              <a:spcBef>
                <a:spcPts val="0"/>
              </a:spcBef>
              <a:spcAft>
                <a:spcPts val="400"/>
              </a:spcAft>
            </a:pPr>
            <a:r>
              <a:rPr sz="1250" b="0" i="0">
                <a:solidFill>
                  <a:srgbClr val="1F2937"/>
                </a:solidFill>
                <a:latin typeface="Calibri"/>
              </a:rPr>
              <a:t>Trong contest chấm‑Docker, rủi ro thật là container ăn 0 điểm (tràn bộ nhớ, hết giờ, sai GPU). Tối ưu điểm kỳ vọng dưới bất định phần cứng.</a:t>
            </a:r>
          </a:p>
        </p:txBody>
      </p:sp>
      <p:sp>
        <p:nvSpPr>
          <p:cNvPr id="15" name="Rectangle 14"/>
          <p:cNvSpPr/>
          <p:nvPr/>
        </p:nvSpPr>
        <p:spPr>
          <a:xfrm>
            <a:off x="6263640" y="4069080"/>
            <a:ext cx="5349240" cy="178308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4069080"/>
            <a:ext cx="91440" cy="178308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4251960"/>
            <a:ext cx="4846320" cy="1463040"/>
          </a:xfrm>
          <a:prstGeom prst="rect">
            <a:avLst/>
          </a:prstGeom>
          <a:noFill/>
        </p:spPr>
        <p:txBody>
          <a:bodyPr wrap="square" anchor="ctr">
            <a:spAutoFit/>
          </a:bodyPr>
          <a:lstStyle/>
          <a:p>
            <a:pPr algn="l">
              <a:spcBef>
                <a:spcPts val="0"/>
              </a:spcBef>
              <a:spcAft>
                <a:spcPts val="400"/>
              </a:spcAft>
            </a:pPr>
            <a:r>
              <a:rPr sz="1500" b="1" i="0">
                <a:solidFill>
                  <a:srgbClr val="C2550B"/>
                </a:solidFill>
                <a:latin typeface="Calibri"/>
              </a:rPr>
              <a:t>4. Ranh giới triển khai</a:t>
            </a:r>
          </a:p>
          <a:p>
            <a:pPr algn="l">
              <a:spcBef>
                <a:spcPts val="0"/>
              </a:spcBef>
              <a:spcAft>
                <a:spcPts val="400"/>
              </a:spcAft>
            </a:pPr>
            <a:r>
              <a:rPr sz="600" b="0" i="0">
                <a:solidFill>
                  <a:srgbClr val="1F2937"/>
                </a:solidFill>
                <a:latin typeface="Calibri"/>
              </a:rPr>
              <a:t/>
            </a:r>
          </a:p>
          <a:p>
            <a:pPr algn="l">
              <a:spcBef>
                <a:spcPts val="0"/>
              </a:spcBef>
              <a:spcAft>
                <a:spcPts val="400"/>
              </a:spcAft>
            </a:pPr>
            <a:r>
              <a:rPr sz="1250" b="0" i="0">
                <a:solidFill>
                  <a:srgbClr val="1F2937"/>
                </a:solidFill>
                <a:latin typeface="Calibri"/>
              </a:rPr>
              <a:t>Container ngoại tuyến, tự chứa; các công cụ truy vết, đánh giá, phân tích chỉ tồn tại trong môi trường phát triển.</a:t>
            </a:r>
          </a:p>
        </p:txBody>
      </p:sp>
      <p:sp>
        <p:nvSpPr>
          <p:cNvPr id="18" name="TextBox 17"/>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03 · Kiến trúc</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Đường ống cấu hình hóa: bổ sung môn học, dạng câu hỏi hay đổi luật chỉ là thay đổi cấu hình.</a:t>
            </a:r>
          </a:p>
        </p:txBody>
      </p:sp>
      <p:sp>
        <p:nvSpPr>
          <p:cNvPr id="6" name="Rectangle 5"/>
          <p:cNvSpPr/>
          <p:nvPr/>
        </p:nvSpPr>
        <p:spPr>
          <a:xfrm>
            <a:off x="822960" y="2011680"/>
            <a:ext cx="5486400" cy="45720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066544"/>
            <a:ext cx="5120640" cy="365760"/>
          </a:xfrm>
          <a:prstGeom prst="rect">
            <a:avLst/>
          </a:prstGeom>
          <a:noFill/>
        </p:spPr>
        <p:txBody>
          <a:bodyPr wrap="square" anchor="t">
            <a:spAutoFit/>
          </a:bodyPr>
          <a:lstStyle/>
          <a:p>
            <a:pPr algn="l">
              <a:spcBef>
                <a:spcPts val="0"/>
              </a:spcBef>
              <a:spcAft>
                <a:spcPts val="300"/>
              </a:spcAft>
            </a:pPr>
            <a:r>
              <a:rPr sz="1300" b="0" i="0">
                <a:solidFill>
                  <a:srgbClr val="1F2937"/>
                </a:solidFill>
                <a:latin typeface="Calibri"/>
              </a:rPr>
              <a:t>/data CSV·JSON</a:t>
            </a:r>
          </a:p>
        </p:txBody>
      </p:sp>
      <p:sp>
        <p:nvSpPr>
          <p:cNvPr id="8" name="TextBox 7"/>
          <p:cNvSpPr txBox="1"/>
          <p:nvPr/>
        </p:nvSpPr>
        <p:spPr>
          <a:xfrm>
            <a:off x="3246120" y="2432304"/>
            <a:ext cx="914400" cy="182880"/>
          </a:xfrm>
          <a:prstGeom prst="rect">
            <a:avLst/>
          </a:prstGeom>
          <a:noFill/>
        </p:spPr>
        <p:txBody>
          <a:bodyPr wrap="square" anchor="t">
            <a:spAutoFit/>
          </a:bodyPr>
          <a:lstStyle/>
          <a:p>
            <a:pPr algn="l">
              <a:spcBef>
                <a:spcPts val="0"/>
              </a:spcBef>
              <a:spcAft>
                <a:spcPts val="300"/>
              </a:spcAft>
            </a:pPr>
            <a:r>
              <a:rPr sz="900" b="1" i="0">
                <a:solidFill>
                  <a:srgbClr val="F97316"/>
                </a:solidFill>
                <a:latin typeface="Calibri"/>
              </a:rPr>
              <a:t>▼</a:t>
            </a:r>
          </a:p>
        </p:txBody>
      </p:sp>
      <p:sp>
        <p:nvSpPr>
          <p:cNvPr id="9" name="Rectangle 8"/>
          <p:cNvSpPr/>
          <p:nvPr/>
        </p:nvSpPr>
        <p:spPr>
          <a:xfrm>
            <a:off x="822960" y="2578608"/>
            <a:ext cx="5486400" cy="45720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633472"/>
            <a:ext cx="5120640" cy="365760"/>
          </a:xfrm>
          <a:prstGeom prst="rect">
            <a:avLst/>
          </a:prstGeom>
          <a:noFill/>
        </p:spPr>
        <p:txBody>
          <a:bodyPr wrap="square" anchor="t">
            <a:spAutoFit/>
          </a:bodyPr>
          <a:lstStyle/>
          <a:p>
            <a:pPr algn="l">
              <a:spcBef>
                <a:spcPts val="0"/>
              </a:spcBef>
              <a:spcAft>
                <a:spcPts val="300"/>
              </a:spcAft>
            </a:pPr>
            <a:r>
              <a:rPr sz="1300" b="0" i="0">
                <a:solidFill>
                  <a:srgbClr val="1F2937"/>
                </a:solidFill>
                <a:latin typeface="Calibri"/>
              </a:rPr>
              <a:t>loader</a:t>
            </a:r>
          </a:p>
        </p:txBody>
      </p:sp>
      <p:sp>
        <p:nvSpPr>
          <p:cNvPr id="11" name="TextBox 10"/>
          <p:cNvSpPr txBox="1"/>
          <p:nvPr/>
        </p:nvSpPr>
        <p:spPr>
          <a:xfrm>
            <a:off x="3246120" y="2999232"/>
            <a:ext cx="914400" cy="182880"/>
          </a:xfrm>
          <a:prstGeom prst="rect">
            <a:avLst/>
          </a:prstGeom>
          <a:noFill/>
        </p:spPr>
        <p:txBody>
          <a:bodyPr wrap="square" anchor="t">
            <a:spAutoFit/>
          </a:bodyPr>
          <a:lstStyle/>
          <a:p>
            <a:pPr algn="l">
              <a:spcBef>
                <a:spcPts val="0"/>
              </a:spcBef>
              <a:spcAft>
                <a:spcPts val="300"/>
              </a:spcAft>
            </a:pPr>
            <a:r>
              <a:rPr sz="900" b="1" i="0">
                <a:solidFill>
                  <a:srgbClr val="F97316"/>
                </a:solidFill>
                <a:latin typeface="Calibri"/>
              </a:rPr>
              <a:t>▼</a:t>
            </a:r>
          </a:p>
        </p:txBody>
      </p:sp>
      <p:sp>
        <p:nvSpPr>
          <p:cNvPr id="12" name="Rectangle 11"/>
          <p:cNvSpPr/>
          <p:nvPr/>
        </p:nvSpPr>
        <p:spPr>
          <a:xfrm>
            <a:off x="822960" y="3145536"/>
            <a:ext cx="5486400" cy="45720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200400"/>
            <a:ext cx="5120640" cy="365760"/>
          </a:xfrm>
          <a:prstGeom prst="rect">
            <a:avLst/>
          </a:prstGeom>
          <a:noFill/>
        </p:spPr>
        <p:txBody>
          <a:bodyPr wrap="square" anchor="t">
            <a:spAutoFit/>
          </a:bodyPr>
          <a:lstStyle/>
          <a:p>
            <a:pPr algn="l">
              <a:spcBef>
                <a:spcPts val="0"/>
              </a:spcBef>
              <a:spcAft>
                <a:spcPts val="300"/>
              </a:spcAft>
            </a:pPr>
            <a:r>
              <a:rPr sz="1300" b="0" i="0">
                <a:solidFill>
                  <a:srgbClr val="1F2937"/>
                </a:solidFill>
                <a:latin typeface="Calibri"/>
              </a:rPr>
              <a:t>router / classifier</a:t>
            </a:r>
          </a:p>
        </p:txBody>
      </p:sp>
      <p:sp>
        <p:nvSpPr>
          <p:cNvPr id="14" name="TextBox 13"/>
          <p:cNvSpPr txBox="1"/>
          <p:nvPr/>
        </p:nvSpPr>
        <p:spPr>
          <a:xfrm>
            <a:off x="3246120" y="3566160"/>
            <a:ext cx="914400" cy="182880"/>
          </a:xfrm>
          <a:prstGeom prst="rect">
            <a:avLst/>
          </a:prstGeom>
          <a:noFill/>
        </p:spPr>
        <p:txBody>
          <a:bodyPr wrap="square" anchor="t">
            <a:spAutoFit/>
          </a:bodyPr>
          <a:lstStyle/>
          <a:p>
            <a:pPr algn="l">
              <a:spcBef>
                <a:spcPts val="0"/>
              </a:spcBef>
              <a:spcAft>
                <a:spcPts val="300"/>
              </a:spcAft>
            </a:pPr>
            <a:r>
              <a:rPr sz="900" b="1" i="0">
                <a:solidFill>
                  <a:srgbClr val="F97316"/>
                </a:solidFill>
                <a:latin typeface="Calibri"/>
              </a:rPr>
              <a:t>▼</a:t>
            </a:r>
          </a:p>
        </p:txBody>
      </p:sp>
      <p:sp>
        <p:nvSpPr>
          <p:cNvPr id="15" name="Rectangle 14"/>
          <p:cNvSpPr/>
          <p:nvPr/>
        </p:nvSpPr>
        <p:spPr>
          <a:xfrm>
            <a:off x="822960" y="3712464"/>
            <a:ext cx="5486400" cy="4572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67328"/>
            <a:ext cx="5120640" cy="365760"/>
          </a:xfrm>
          <a:prstGeom prst="rect">
            <a:avLst/>
          </a:prstGeom>
          <a:noFill/>
        </p:spPr>
        <p:txBody>
          <a:bodyPr wrap="square" anchor="t">
            <a:spAutoFit/>
          </a:bodyPr>
          <a:lstStyle/>
          <a:p>
            <a:pPr algn="l">
              <a:spcBef>
                <a:spcPts val="0"/>
              </a:spcBef>
              <a:spcAft>
                <a:spcPts val="300"/>
              </a:spcAft>
            </a:pPr>
            <a:r>
              <a:rPr sz="1300" b="1" i="0">
                <a:solidFill>
                  <a:srgbClr val="FFFFFF"/>
                </a:solidFill>
                <a:latin typeface="Calibri"/>
              </a:rPr>
              <a:t>solver — self‑consistency CoT</a:t>
            </a:r>
          </a:p>
        </p:txBody>
      </p:sp>
      <p:sp>
        <p:nvSpPr>
          <p:cNvPr id="17" name="TextBox 16"/>
          <p:cNvSpPr txBox="1"/>
          <p:nvPr/>
        </p:nvSpPr>
        <p:spPr>
          <a:xfrm>
            <a:off x="3246120" y="4133088"/>
            <a:ext cx="914400" cy="182880"/>
          </a:xfrm>
          <a:prstGeom prst="rect">
            <a:avLst/>
          </a:prstGeom>
          <a:noFill/>
        </p:spPr>
        <p:txBody>
          <a:bodyPr wrap="square" anchor="t">
            <a:spAutoFit/>
          </a:bodyPr>
          <a:lstStyle/>
          <a:p>
            <a:pPr algn="l">
              <a:spcBef>
                <a:spcPts val="0"/>
              </a:spcBef>
              <a:spcAft>
                <a:spcPts val="300"/>
              </a:spcAft>
            </a:pPr>
            <a:r>
              <a:rPr sz="900" b="1" i="0">
                <a:solidFill>
                  <a:srgbClr val="F97316"/>
                </a:solidFill>
                <a:latin typeface="Calibri"/>
              </a:rPr>
              <a:t>▼</a:t>
            </a:r>
          </a:p>
        </p:txBody>
      </p:sp>
      <p:sp>
        <p:nvSpPr>
          <p:cNvPr id="18" name="Rectangle 17"/>
          <p:cNvSpPr/>
          <p:nvPr/>
        </p:nvSpPr>
        <p:spPr>
          <a:xfrm>
            <a:off x="822960" y="4279392"/>
            <a:ext cx="5486400" cy="45720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334255"/>
            <a:ext cx="5120640" cy="365760"/>
          </a:xfrm>
          <a:prstGeom prst="rect">
            <a:avLst/>
          </a:prstGeom>
          <a:noFill/>
        </p:spPr>
        <p:txBody>
          <a:bodyPr wrap="square" anchor="t">
            <a:spAutoFit/>
          </a:bodyPr>
          <a:lstStyle/>
          <a:p>
            <a:pPr algn="l">
              <a:spcBef>
                <a:spcPts val="0"/>
              </a:spcBef>
              <a:spcAft>
                <a:spcPts val="300"/>
              </a:spcAft>
            </a:pPr>
            <a:r>
              <a:rPr sz="1300" b="0" i="0">
                <a:solidFill>
                  <a:srgbClr val="1F2937"/>
                </a:solidFill>
                <a:latin typeface="Calibri"/>
              </a:rPr>
              <a:t>answer normalizer</a:t>
            </a:r>
          </a:p>
        </p:txBody>
      </p:sp>
      <p:sp>
        <p:nvSpPr>
          <p:cNvPr id="20" name="TextBox 19"/>
          <p:cNvSpPr txBox="1"/>
          <p:nvPr/>
        </p:nvSpPr>
        <p:spPr>
          <a:xfrm>
            <a:off x="3246120" y="4700016"/>
            <a:ext cx="914400" cy="182880"/>
          </a:xfrm>
          <a:prstGeom prst="rect">
            <a:avLst/>
          </a:prstGeom>
          <a:noFill/>
        </p:spPr>
        <p:txBody>
          <a:bodyPr wrap="square" anchor="t">
            <a:spAutoFit/>
          </a:bodyPr>
          <a:lstStyle/>
          <a:p>
            <a:pPr algn="l">
              <a:spcBef>
                <a:spcPts val="0"/>
              </a:spcBef>
              <a:spcAft>
                <a:spcPts val="300"/>
              </a:spcAft>
            </a:pPr>
            <a:r>
              <a:rPr sz="900" b="1" i="0">
                <a:solidFill>
                  <a:srgbClr val="F97316"/>
                </a:solidFill>
                <a:latin typeface="Calibri"/>
              </a:rPr>
              <a:t>▼</a:t>
            </a:r>
          </a:p>
        </p:txBody>
      </p:sp>
      <p:sp>
        <p:nvSpPr>
          <p:cNvPr id="21" name="Rectangle 20"/>
          <p:cNvSpPr/>
          <p:nvPr/>
        </p:nvSpPr>
        <p:spPr>
          <a:xfrm>
            <a:off x="822960" y="4846320"/>
            <a:ext cx="5486400" cy="457200"/>
          </a:xfrm>
          <a:prstGeom prst="rect">
            <a:avLst/>
          </a:prstGeom>
          <a:solidFill>
            <a:srgbClr val="FA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901184"/>
            <a:ext cx="5120640" cy="365760"/>
          </a:xfrm>
          <a:prstGeom prst="rect">
            <a:avLst/>
          </a:prstGeom>
          <a:noFill/>
        </p:spPr>
        <p:txBody>
          <a:bodyPr wrap="square" anchor="t">
            <a:spAutoFit/>
          </a:bodyPr>
          <a:lstStyle/>
          <a:p>
            <a:pPr algn="l">
              <a:spcBef>
                <a:spcPts val="0"/>
              </a:spcBef>
              <a:spcAft>
                <a:spcPts val="300"/>
              </a:spcAft>
            </a:pPr>
            <a:r>
              <a:rPr sz="1300" b="0" i="0">
                <a:solidFill>
                  <a:srgbClr val="1F2937"/>
                </a:solidFill>
                <a:latin typeface="Calibri"/>
              </a:rPr>
              <a:t>constrained + contract repair</a:t>
            </a:r>
          </a:p>
        </p:txBody>
      </p:sp>
      <p:sp>
        <p:nvSpPr>
          <p:cNvPr id="23" name="TextBox 22"/>
          <p:cNvSpPr txBox="1"/>
          <p:nvPr/>
        </p:nvSpPr>
        <p:spPr>
          <a:xfrm>
            <a:off x="3246120" y="5266944"/>
            <a:ext cx="914400" cy="182880"/>
          </a:xfrm>
          <a:prstGeom prst="rect">
            <a:avLst/>
          </a:prstGeom>
          <a:noFill/>
        </p:spPr>
        <p:txBody>
          <a:bodyPr wrap="square" anchor="t">
            <a:spAutoFit/>
          </a:bodyPr>
          <a:lstStyle/>
          <a:p>
            <a:pPr algn="l">
              <a:spcBef>
                <a:spcPts val="0"/>
              </a:spcBef>
              <a:spcAft>
                <a:spcPts val="300"/>
              </a:spcAft>
            </a:pPr>
            <a:r>
              <a:rPr sz="900" b="1" i="0">
                <a:solidFill>
                  <a:srgbClr val="F97316"/>
                </a:solidFill>
                <a:latin typeface="Calibri"/>
              </a:rPr>
              <a:t>▼</a:t>
            </a:r>
          </a:p>
        </p:txBody>
      </p:sp>
      <p:sp>
        <p:nvSpPr>
          <p:cNvPr id="24" name="Rectangle 23"/>
          <p:cNvSpPr/>
          <p:nvPr/>
        </p:nvSpPr>
        <p:spPr>
          <a:xfrm>
            <a:off x="822960" y="5413248"/>
            <a:ext cx="5486400" cy="4572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468112"/>
            <a:ext cx="5120640" cy="365760"/>
          </a:xfrm>
          <a:prstGeom prst="rect">
            <a:avLst/>
          </a:prstGeom>
          <a:noFill/>
        </p:spPr>
        <p:txBody>
          <a:bodyPr wrap="square" anchor="t">
            <a:spAutoFit/>
          </a:bodyPr>
          <a:lstStyle/>
          <a:p>
            <a:pPr algn="l">
              <a:spcBef>
                <a:spcPts val="0"/>
              </a:spcBef>
              <a:spcAft>
                <a:spcPts val="300"/>
              </a:spcAft>
            </a:pPr>
            <a:r>
              <a:rPr sz="1300" b="1" i="0">
                <a:solidFill>
                  <a:srgbClr val="FFFFFF"/>
                </a:solidFill>
                <a:latin typeface="Calibri"/>
              </a:rPr>
              <a:t>/output/pred.csv</a:t>
            </a:r>
          </a:p>
        </p:txBody>
      </p:sp>
      <p:sp>
        <p:nvSpPr>
          <p:cNvPr id="26" name="Rectangle 25"/>
          <p:cNvSpPr/>
          <p:nvPr/>
        </p:nvSpPr>
        <p:spPr>
          <a:xfrm>
            <a:off x="6858000" y="2011680"/>
            <a:ext cx="4754880" cy="361188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58000" y="2011680"/>
            <a:ext cx="4754880" cy="10972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14032" y="2240280"/>
            <a:ext cx="4297680" cy="3291840"/>
          </a:xfrm>
          <a:prstGeom prst="rect">
            <a:avLst/>
          </a:prstGeom>
          <a:noFill/>
        </p:spPr>
        <p:txBody>
          <a:bodyPr wrap="square" anchor="t">
            <a:spAutoFit/>
          </a:bodyPr>
          <a:lstStyle/>
          <a:p>
            <a:pPr algn="l">
              <a:spcBef>
                <a:spcPts val="0"/>
              </a:spcBef>
              <a:spcAft>
                <a:spcPts val="300"/>
              </a:spcAft>
            </a:pPr>
            <a:r>
              <a:rPr sz="1400" b="1" i="0">
                <a:solidFill>
                  <a:srgbClr val="C2550B"/>
                </a:solidFill>
                <a:latin typeface="Calibri"/>
              </a:rPr>
              <a:t>Foundry chiến lược, chọn bằng đo</a:t>
            </a:r>
          </a:p>
          <a:p>
            <a:pPr algn="l">
              <a:spcBef>
                <a:spcPts val="0"/>
              </a:spcBef>
              <a:spcAft>
                <a:spcPts val="300"/>
              </a:spcAft>
            </a:pPr>
            <a:r>
              <a:rPr sz="1200" b="0" i="0">
                <a:solidFill>
                  <a:srgbClr val="1F2937"/>
                </a:solidFill>
                <a:latin typeface="Calibri"/>
              </a:rPr>
              <a:t>Các chiến lược (self‑consistency, tiered, TIR, reading) là thành phần gõ kiểu, hoán đổi được; cấu hình ship là kẻ thắng của một phép đo held‑out.</a:t>
            </a:r>
          </a:p>
          <a:p>
            <a:pPr algn="l">
              <a:spcBef>
                <a:spcPts val="0"/>
              </a:spcBef>
              <a:spcAft>
                <a:spcPts val="300"/>
              </a:spcAft>
            </a:pPr>
            <a:r>
              <a:rPr sz="1200" b="0" i="0">
                <a:solidFill>
                  <a:srgbClr val="1F2937"/>
                </a:solidFill>
                <a:latin typeface="Calibri"/>
              </a:rPr>
              <a:t>Allowlist mô hình config‑driven: đổi luật Ban Tổ chức (26B → ≤5B) chỉ là sửa dữ liệu runtime.model_policy, không sửa logic.</a:t>
            </a:r>
          </a:p>
          <a:p>
            <a:pPr algn="l">
              <a:spcBef>
                <a:spcPts val="0"/>
              </a:spcBef>
              <a:spcAft>
                <a:spcPts val="300"/>
              </a:spcAft>
            </a:pPr>
            <a:r>
              <a:rPr sz="1200" b="0" i="0">
                <a:solidFill>
                  <a:srgbClr val="1F2937"/>
                </a:solidFill>
                <a:latin typeface="Calibri"/>
              </a:rPr>
              <a:t>Cổng kiểm soát chính sách ngăn mọi thành phần chỉ phục vụ phát triển lọt vào ảnh nộp.</a:t>
            </a:r>
          </a:p>
        </p:txBody>
      </p:sp>
      <p:sp>
        <p:nvSpPr>
          <p:cNvPr id="29" name="TextBox 28"/>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04 · Bền vững phần cứng</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Một wheel chạy mọi GPU NVIDIA 2016→2025 — bài nộp không thể ăn 0 điểm vì sai phần cứng.</a:t>
            </a:r>
          </a:p>
        </p:txBody>
      </p:sp>
      <p:sp>
        <p:nvSpPr>
          <p:cNvPr id="6" name="TextBox 5"/>
          <p:cNvSpPr txBox="1"/>
          <p:nvPr/>
        </p:nvSpPr>
        <p:spPr>
          <a:xfrm>
            <a:off x="640080" y="1965960"/>
            <a:ext cx="10972800" cy="548640"/>
          </a:xfrm>
          <a:prstGeom prst="rect">
            <a:avLst/>
          </a:prstGeom>
          <a:noFill/>
        </p:spPr>
        <p:txBody>
          <a:bodyPr wrap="square" anchor="t">
            <a:spAutoFit/>
          </a:bodyPr>
          <a:lstStyle/>
          <a:p>
            <a:pPr algn="l">
              <a:spcBef>
                <a:spcPts val="0"/>
              </a:spcBef>
              <a:spcAft>
                <a:spcPts val="300"/>
              </a:spcAft>
            </a:pPr>
            <a:r>
              <a:rPr sz="1350" b="0" i="0">
                <a:solidFill>
                  <a:srgbClr val="1F2937"/>
                </a:solidFill>
                <a:latin typeface="Calibri"/>
              </a:rPr>
              <a:t>Mô hình </a:t>
            </a:r>
            <a:r>
              <a:rPr sz="1350" b="1" i="0">
                <a:solidFill>
                  <a:srgbClr val="C2550B"/>
                </a:solidFill>
                <a:latin typeface="Calibri"/>
              </a:rPr>
              <a:t>Qwen3‑4B Q5_K_M (~2.7GB), dùng ~5GB/16GB VRAM</a:t>
            </a:r>
            <a:r>
              <a:rPr sz="1350" b="0" i="0">
                <a:solidFill>
                  <a:srgbClr val="1F2937"/>
                </a:solidFill>
                <a:latin typeface="Calibri"/>
              </a:rPr>
              <a:t> — thừa sức trên server 16GB của Ban Tổ chức, không rủi ro tràn bộ nhớ.</a:t>
            </a:r>
          </a:p>
        </p:txBody>
      </p:sp>
      <p:sp>
        <p:nvSpPr>
          <p:cNvPr id="7" name="Rectangle 6"/>
          <p:cNvSpPr/>
          <p:nvPr/>
        </p:nvSpPr>
        <p:spPr>
          <a:xfrm>
            <a:off x="640080" y="2697480"/>
            <a:ext cx="2606040" cy="749808"/>
          </a:xfrm>
          <a:prstGeom prst="rect">
            <a:avLst/>
          </a:prstGeom>
          <a:solidFill>
            <a:srgbClr val="FAF5EE"/>
          </a:solidFill>
          <a:ln w="1270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770632"/>
            <a:ext cx="2606040" cy="603504"/>
          </a:xfrm>
          <a:prstGeom prst="rect">
            <a:avLst/>
          </a:prstGeom>
          <a:noFill/>
        </p:spPr>
        <p:txBody>
          <a:bodyPr wrap="square" anchor="ctr">
            <a:spAutoFit/>
          </a:bodyPr>
          <a:lstStyle/>
          <a:p>
            <a:pPr algn="ctr">
              <a:spcBef>
                <a:spcPts val="0"/>
              </a:spcBef>
              <a:spcAft>
                <a:spcPts val="100"/>
              </a:spcAft>
            </a:pPr>
            <a:r>
              <a:rPr sz="1400" b="1" i="0">
                <a:solidFill>
                  <a:srgbClr val="C2550B"/>
                </a:solidFill>
                <a:latin typeface="Calibri"/>
              </a:rPr>
              <a:t>sm_60</a:t>
            </a:r>
          </a:p>
          <a:p>
            <a:pPr algn="ctr">
              <a:spcBef>
                <a:spcPts val="0"/>
              </a:spcBef>
              <a:spcAft>
                <a:spcPts val="100"/>
              </a:spcAft>
            </a:pPr>
            <a:r>
              <a:rPr sz="1100" b="0" i="0">
                <a:solidFill>
                  <a:srgbClr val="6B7280"/>
                </a:solidFill>
                <a:latin typeface="Calibri"/>
              </a:rPr>
              <a:t>P100</a:t>
            </a:r>
          </a:p>
        </p:txBody>
      </p:sp>
      <p:sp>
        <p:nvSpPr>
          <p:cNvPr id="9" name="Rectangle 8"/>
          <p:cNvSpPr/>
          <p:nvPr/>
        </p:nvSpPr>
        <p:spPr>
          <a:xfrm>
            <a:off x="3429000" y="2697480"/>
            <a:ext cx="2606040" cy="749808"/>
          </a:xfrm>
          <a:prstGeom prst="rect">
            <a:avLst/>
          </a:prstGeom>
          <a:solidFill>
            <a:srgbClr val="FAF5EE"/>
          </a:solidFill>
          <a:ln w="1270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29000" y="2770632"/>
            <a:ext cx="2606040" cy="603504"/>
          </a:xfrm>
          <a:prstGeom prst="rect">
            <a:avLst/>
          </a:prstGeom>
          <a:noFill/>
        </p:spPr>
        <p:txBody>
          <a:bodyPr wrap="square" anchor="ctr">
            <a:spAutoFit/>
          </a:bodyPr>
          <a:lstStyle/>
          <a:p>
            <a:pPr algn="ctr">
              <a:spcBef>
                <a:spcPts val="0"/>
              </a:spcBef>
              <a:spcAft>
                <a:spcPts val="100"/>
              </a:spcAft>
            </a:pPr>
            <a:r>
              <a:rPr sz="1400" b="1" i="0">
                <a:solidFill>
                  <a:srgbClr val="C2550B"/>
                </a:solidFill>
                <a:latin typeface="Calibri"/>
              </a:rPr>
              <a:t>sm_70</a:t>
            </a:r>
          </a:p>
          <a:p>
            <a:pPr algn="ctr">
              <a:spcBef>
                <a:spcPts val="0"/>
              </a:spcBef>
              <a:spcAft>
                <a:spcPts val="100"/>
              </a:spcAft>
            </a:pPr>
            <a:r>
              <a:rPr sz="1100" b="0" i="0">
                <a:solidFill>
                  <a:srgbClr val="6B7280"/>
                </a:solidFill>
                <a:latin typeface="Calibri"/>
              </a:rPr>
              <a:t>V100</a:t>
            </a:r>
          </a:p>
        </p:txBody>
      </p:sp>
      <p:sp>
        <p:nvSpPr>
          <p:cNvPr id="11" name="Rectangle 10"/>
          <p:cNvSpPr/>
          <p:nvPr/>
        </p:nvSpPr>
        <p:spPr>
          <a:xfrm>
            <a:off x="6217920" y="2697480"/>
            <a:ext cx="2606040" cy="749808"/>
          </a:xfrm>
          <a:prstGeom prst="rect">
            <a:avLst/>
          </a:prstGeom>
          <a:solidFill>
            <a:srgbClr val="FAF5EE"/>
          </a:solidFill>
          <a:ln w="1270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2770632"/>
            <a:ext cx="2606040" cy="603504"/>
          </a:xfrm>
          <a:prstGeom prst="rect">
            <a:avLst/>
          </a:prstGeom>
          <a:noFill/>
        </p:spPr>
        <p:txBody>
          <a:bodyPr wrap="square" anchor="ctr">
            <a:spAutoFit/>
          </a:bodyPr>
          <a:lstStyle/>
          <a:p>
            <a:pPr algn="ctr">
              <a:spcBef>
                <a:spcPts val="0"/>
              </a:spcBef>
              <a:spcAft>
                <a:spcPts val="100"/>
              </a:spcAft>
            </a:pPr>
            <a:r>
              <a:rPr sz="1400" b="1" i="0">
                <a:solidFill>
                  <a:srgbClr val="C2550B"/>
                </a:solidFill>
                <a:latin typeface="Calibri"/>
              </a:rPr>
              <a:t>sm_75</a:t>
            </a:r>
          </a:p>
          <a:p>
            <a:pPr algn="ctr">
              <a:spcBef>
                <a:spcPts val="0"/>
              </a:spcBef>
              <a:spcAft>
                <a:spcPts val="100"/>
              </a:spcAft>
            </a:pPr>
            <a:r>
              <a:rPr sz="1100" b="0" i="0">
                <a:solidFill>
                  <a:srgbClr val="6B7280"/>
                </a:solidFill>
                <a:latin typeface="Calibri"/>
              </a:rPr>
              <a:t>T4</a:t>
            </a:r>
          </a:p>
        </p:txBody>
      </p:sp>
      <p:sp>
        <p:nvSpPr>
          <p:cNvPr id="13" name="Rectangle 12"/>
          <p:cNvSpPr/>
          <p:nvPr/>
        </p:nvSpPr>
        <p:spPr>
          <a:xfrm>
            <a:off x="9006839" y="2697480"/>
            <a:ext cx="2606040" cy="749808"/>
          </a:xfrm>
          <a:prstGeom prst="rect">
            <a:avLst/>
          </a:prstGeom>
          <a:solidFill>
            <a:srgbClr val="FAF5EE"/>
          </a:solidFill>
          <a:ln w="1270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06839" y="2770632"/>
            <a:ext cx="2606040" cy="603504"/>
          </a:xfrm>
          <a:prstGeom prst="rect">
            <a:avLst/>
          </a:prstGeom>
          <a:noFill/>
        </p:spPr>
        <p:txBody>
          <a:bodyPr wrap="square" anchor="ctr">
            <a:spAutoFit/>
          </a:bodyPr>
          <a:lstStyle/>
          <a:p>
            <a:pPr algn="ctr">
              <a:spcBef>
                <a:spcPts val="0"/>
              </a:spcBef>
              <a:spcAft>
                <a:spcPts val="100"/>
              </a:spcAft>
            </a:pPr>
            <a:r>
              <a:rPr sz="1400" b="1" i="0">
                <a:solidFill>
                  <a:srgbClr val="C2550B"/>
                </a:solidFill>
                <a:latin typeface="Calibri"/>
              </a:rPr>
              <a:t>sm_80</a:t>
            </a:r>
          </a:p>
          <a:p>
            <a:pPr algn="ctr">
              <a:spcBef>
                <a:spcPts val="0"/>
              </a:spcBef>
              <a:spcAft>
                <a:spcPts val="100"/>
              </a:spcAft>
            </a:pPr>
            <a:r>
              <a:rPr sz="1100" b="0" i="0">
                <a:solidFill>
                  <a:srgbClr val="6B7280"/>
                </a:solidFill>
                <a:latin typeface="Calibri"/>
              </a:rPr>
              <a:t>A100</a:t>
            </a:r>
          </a:p>
        </p:txBody>
      </p:sp>
      <p:sp>
        <p:nvSpPr>
          <p:cNvPr id="15" name="Rectangle 14"/>
          <p:cNvSpPr/>
          <p:nvPr/>
        </p:nvSpPr>
        <p:spPr>
          <a:xfrm>
            <a:off x="640080" y="3611880"/>
            <a:ext cx="2606040" cy="749808"/>
          </a:xfrm>
          <a:prstGeom prst="rect">
            <a:avLst/>
          </a:prstGeom>
          <a:solidFill>
            <a:srgbClr val="FAF5EE"/>
          </a:solidFill>
          <a:ln w="1270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685032"/>
            <a:ext cx="2606040" cy="603504"/>
          </a:xfrm>
          <a:prstGeom prst="rect">
            <a:avLst/>
          </a:prstGeom>
          <a:noFill/>
        </p:spPr>
        <p:txBody>
          <a:bodyPr wrap="square" anchor="ctr">
            <a:spAutoFit/>
          </a:bodyPr>
          <a:lstStyle/>
          <a:p>
            <a:pPr algn="ctr">
              <a:spcBef>
                <a:spcPts val="0"/>
              </a:spcBef>
              <a:spcAft>
                <a:spcPts val="100"/>
              </a:spcAft>
            </a:pPr>
            <a:r>
              <a:rPr sz="1400" b="1" i="0">
                <a:solidFill>
                  <a:srgbClr val="C2550B"/>
                </a:solidFill>
                <a:latin typeface="Calibri"/>
              </a:rPr>
              <a:t>sm_86</a:t>
            </a:r>
          </a:p>
          <a:p>
            <a:pPr algn="ctr">
              <a:spcBef>
                <a:spcPts val="0"/>
              </a:spcBef>
              <a:spcAft>
                <a:spcPts val="100"/>
              </a:spcAft>
            </a:pPr>
            <a:r>
              <a:rPr sz="1100" b="0" i="0">
                <a:solidFill>
                  <a:srgbClr val="6B7280"/>
                </a:solidFill>
                <a:latin typeface="Calibri"/>
              </a:rPr>
              <a:t>Ampere</a:t>
            </a:r>
          </a:p>
        </p:txBody>
      </p:sp>
      <p:sp>
        <p:nvSpPr>
          <p:cNvPr id="17" name="Rectangle 16"/>
          <p:cNvSpPr/>
          <p:nvPr/>
        </p:nvSpPr>
        <p:spPr>
          <a:xfrm>
            <a:off x="3429000" y="3611880"/>
            <a:ext cx="2606040" cy="749808"/>
          </a:xfrm>
          <a:prstGeom prst="rect">
            <a:avLst/>
          </a:prstGeom>
          <a:solidFill>
            <a:srgbClr val="FAF5EE"/>
          </a:solidFill>
          <a:ln w="1270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29000" y="3685032"/>
            <a:ext cx="2606040" cy="603504"/>
          </a:xfrm>
          <a:prstGeom prst="rect">
            <a:avLst/>
          </a:prstGeom>
          <a:noFill/>
        </p:spPr>
        <p:txBody>
          <a:bodyPr wrap="square" anchor="ctr">
            <a:spAutoFit/>
          </a:bodyPr>
          <a:lstStyle/>
          <a:p>
            <a:pPr algn="ctr">
              <a:spcBef>
                <a:spcPts val="0"/>
              </a:spcBef>
              <a:spcAft>
                <a:spcPts val="100"/>
              </a:spcAft>
            </a:pPr>
            <a:r>
              <a:rPr sz="1400" b="1" i="0">
                <a:solidFill>
                  <a:srgbClr val="C2550B"/>
                </a:solidFill>
                <a:latin typeface="Calibri"/>
              </a:rPr>
              <a:t>sm_89</a:t>
            </a:r>
          </a:p>
          <a:p>
            <a:pPr algn="ctr">
              <a:spcBef>
                <a:spcPts val="0"/>
              </a:spcBef>
              <a:spcAft>
                <a:spcPts val="100"/>
              </a:spcAft>
            </a:pPr>
            <a:r>
              <a:rPr sz="1100" b="0" i="0">
                <a:solidFill>
                  <a:srgbClr val="6B7280"/>
                </a:solidFill>
                <a:latin typeface="Calibri"/>
              </a:rPr>
              <a:t>Ada</a:t>
            </a:r>
          </a:p>
        </p:txBody>
      </p:sp>
      <p:sp>
        <p:nvSpPr>
          <p:cNvPr id="19" name="Rectangle 18"/>
          <p:cNvSpPr/>
          <p:nvPr/>
        </p:nvSpPr>
        <p:spPr>
          <a:xfrm>
            <a:off x="6217920" y="3611880"/>
            <a:ext cx="2606040" cy="749808"/>
          </a:xfrm>
          <a:prstGeom prst="rect">
            <a:avLst/>
          </a:prstGeom>
          <a:solidFill>
            <a:srgbClr val="FAF5EE"/>
          </a:solidFill>
          <a:ln w="1270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3685032"/>
            <a:ext cx="2606040" cy="603504"/>
          </a:xfrm>
          <a:prstGeom prst="rect">
            <a:avLst/>
          </a:prstGeom>
          <a:noFill/>
        </p:spPr>
        <p:txBody>
          <a:bodyPr wrap="square" anchor="ctr">
            <a:spAutoFit/>
          </a:bodyPr>
          <a:lstStyle/>
          <a:p>
            <a:pPr algn="ctr">
              <a:spcBef>
                <a:spcPts val="0"/>
              </a:spcBef>
              <a:spcAft>
                <a:spcPts val="100"/>
              </a:spcAft>
            </a:pPr>
            <a:r>
              <a:rPr sz="1400" b="1" i="0">
                <a:solidFill>
                  <a:srgbClr val="C2550B"/>
                </a:solidFill>
                <a:latin typeface="Calibri"/>
              </a:rPr>
              <a:t>sm_90</a:t>
            </a:r>
          </a:p>
          <a:p>
            <a:pPr algn="ctr">
              <a:spcBef>
                <a:spcPts val="0"/>
              </a:spcBef>
              <a:spcAft>
                <a:spcPts val="100"/>
              </a:spcAft>
            </a:pPr>
            <a:r>
              <a:rPr sz="1100" b="0" i="0">
                <a:solidFill>
                  <a:srgbClr val="6B7280"/>
                </a:solidFill>
                <a:latin typeface="Calibri"/>
              </a:rPr>
              <a:t>H100</a:t>
            </a:r>
          </a:p>
        </p:txBody>
      </p:sp>
      <p:sp>
        <p:nvSpPr>
          <p:cNvPr id="21" name="Rectangle 20"/>
          <p:cNvSpPr/>
          <p:nvPr/>
        </p:nvSpPr>
        <p:spPr>
          <a:xfrm>
            <a:off x="9006839" y="3611880"/>
            <a:ext cx="2606040" cy="749808"/>
          </a:xfrm>
          <a:prstGeom prst="rect">
            <a:avLst/>
          </a:prstGeom>
          <a:solidFill>
            <a:srgbClr val="FAF5EE"/>
          </a:solidFill>
          <a:ln w="1270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06839" y="3685032"/>
            <a:ext cx="2606040" cy="603504"/>
          </a:xfrm>
          <a:prstGeom prst="rect">
            <a:avLst/>
          </a:prstGeom>
          <a:noFill/>
        </p:spPr>
        <p:txBody>
          <a:bodyPr wrap="square" anchor="ctr">
            <a:spAutoFit/>
          </a:bodyPr>
          <a:lstStyle/>
          <a:p>
            <a:pPr algn="ctr">
              <a:spcBef>
                <a:spcPts val="0"/>
              </a:spcBef>
              <a:spcAft>
                <a:spcPts val="100"/>
              </a:spcAft>
            </a:pPr>
            <a:r>
              <a:rPr sz="1400" b="1" i="0">
                <a:solidFill>
                  <a:srgbClr val="C2550B"/>
                </a:solidFill>
                <a:latin typeface="Calibri"/>
              </a:rPr>
              <a:t>sm_120</a:t>
            </a:r>
          </a:p>
          <a:p>
            <a:pPr algn="ctr">
              <a:spcBef>
                <a:spcPts val="0"/>
              </a:spcBef>
              <a:spcAft>
                <a:spcPts val="100"/>
              </a:spcAft>
            </a:pPr>
            <a:r>
              <a:rPr sz="1100" b="0" i="0">
                <a:solidFill>
                  <a:srgbClr val="6B7280"/>
                </a:solidFill>
                <a:latin typeface="Calibri"/>
              </a:rPr>
              <a:t>Blackwell</a:t>
            </a:r>
          </a:p>
        </p:txBody>
      </p:sp>
      <p:sp>
        <p:nvSpPr>
          <p:cNvPr id="23" name="TextBox 22"/>
          <p:cNvSpPr txBox="1"/>
          <p:nvPr/>
        </p:nvSpPr>
        <p:spPr>
          <a:xfrm>
            <a:off x="640080" y="4709160"/>
            <a:ext cx="10972800" cy="1280160"/>
          </a:xfrm>
          <a:prstGeom prst="rect">
            <a:avLst/>
          </a:prstGeom>
          <a:noFill/>
        </p:spPr>
        <p:txBody>
          <a:bodyPr wrap="square" anchor="t">
            <a:spAutoFit/>
          </a:bodyPr>
          <a:lstStyle/>
          <a:p>
            <a:pPr algn="l">
              <a:spcBef>
                <a:spcPts val="0"/>
              </a:spcBef>
              <a:spcAft>
                <a:spcPts val="300"/>
              </a:spcAft>
            </a:pPr>
            <a:r>
              <a:rPr sz="1250" b="0" i="0">
                <a:solidFill>
                  <a:srgbClr val="1F2937"/>
                </a:solidFill>
                <a:latin typeface="Calibri"/>
              </a:rPr>
              <a:t>Native SASS cho 8 kiến trúc trên </a:t>
            </a:r>
            <a:r>
              <a:rPr sz="1250" b="1" i="0">
                <a:solidFill>
                  <a:srgbClr val="15803D"/>
                </a:solidFill>
                <a:latin typeface="Calibri"/>
              </a:rPr>
              <a:t>+ PTX floor compute_60</a:t>
            </a:r>
            <a:r>
              <a:rPr sz="1250" b="0" i="0">
                <a:solidFill>
                  <a:srgbClr val="1F2937"/>
                </a:solidFill>
                <a:latin typeface="Calibri"/>
              </a:rPr>
              <a:t> → mọi GPU ≥ Pascal tự JIT lúc nạp. </a:t>
            </a:r>
            <a:r>
              <a:rPr sz="1250" b="1" i="0">
                <a:solidFill>
                  <a:srgbClr val="C2550B"/>
                </a:solidFill>
                <a:latin typeface="Calibri"/>
              </a:rPr>
              <a:t>GGML_NATIVE=off</a:t>
            </a:r>
            <a:r>
              <a:rPr sz="1250" b="0" i="0">
                <a:solidFill>
                  <a:srgbClr val="1F2937"/>
                </a:solidFill>
                <a:latin typeface="Calibri"/>
              </a:rPr>
              <a:t> → chạy mọi CPU (không SIGILL trên CPU cũ).</a:t>
            </a:r>
          </a:p>
          <a:p>
            <a:pPr algn="l">
              <a:spcBef>
                <a:spcPts val="0"/>
              </a:spcBef>
              <a:spcAft>
                <a:spcPts val="300"/>
              </a:spcAft>
            </a:pPr>
            <a:r>
              <a:rPr sz="1200" b="0" i="1">
                <a:solidFill>
                  <a:srgbClr val="15803D"/>
                </a:solidFill>
                <a:latin typeface="Calibri"/>
              </a:rPr>
              <a:t>Đã kiểm chứng LITERAL (2026‑06‑18): kéo nguyên ảnh từ Docker Hub trên GPU sạch → cuobjdump xác nhận đủ sm_60…sm_120 trong wheel → chroot chạy entrypoint thật → pred.csv hợp lệ. Pull + kiến trúc + chạy đều đạt.</a:t>
            </a:r>
          </a:p>
        </p:txBody>
      </p:sp>
      <p:sp>
        <p:nvSpPr>
          <p:cNvPr id="24" name="TextBox 23"/>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05 · Kết quả độ chính xác</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Self‑consistency trên mô hình ≤5B đạt 83.59 trên leaderboard; điểm phân bố theo cụm đề.</a:t>
            </a:r>
          </a:p>
        </p:txBody>
      </p:sp>
      <p:sp>
        <p:nvSpPr>
          <p:cNvPr id="6" name="Rectangle 5"/>
          <p:cNvSpPr/>
          <p:nvPr/>
        </p:nvSpPr>
        <p:spPr>
          <a:xfrm>
            <a:off x="1097280" y="3008345"/>
            <a:ext cx="1645920" cy="247805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2551145"/>
            <a:ext cx="2194560" cy="365760"/>
          </a:xfrm>
          <a:prstGeom prst="rect">
            <a:avLst/>
          </a:prstGeom>
          <a:noFill/>
        </p:spPr>
        <p:txBody>
          <a:bodyPr wrap="square" anchor="t">
            <a:spAutoFit/>
          </a:bodyPr>
          <a:lstStyle/>
          <a:p>
            <a:pPr algn="ctr">
              <a:spcBef>
                <a:spcPts val="0"/>
              </a:spcBef>
              <a:spcAft>
                <a:spcPts val="300"/>
              </a:spcAft>
            </a:pPr>
            <a:r>
              <a:rPr sz="2100" b="1" i="0">
                <a:solidFill>
                  <a:srgbClr val="F97316"/>
                </a:solidFill>
                <a:latin typeface="Calibri"/>
              </a:rPr>
              <a:t>73.91</a:t>
            </a:r>
          </a:p>
        </p:txBody>
      </p:sp>
      <p:sp>
        <p:nvSpPr>
          <p:cNvPr id="8" name="TextBox 7"/>
          <p:cNvSpPr txBox="1"/>
          <p:nvPr/>
        </p:nvSpPr>
        <p:spPr>
          <a:xfrm>
            <a:off x="822959" y="5577840"/>
            <a:ext cx="2194560" cy="640080"/>
          </a:xfrm>
          <a:prstGeom prst="rect">
            <a:avLst/>
          </a:prstGeom>
          <a:noFill/>
        </p:spPr>
        <p:txBody>
          <a:bodyPr wrap="square" anchor="t">
            <a:spAutoFit/>
          </a:bodyPr>
          <a:lstStyle/>
          <a:p>
            <a:pPr algn="ctr">
              <a:spcBef>
                <a:spcPts val="0"/>
              </a:spcBef>
              <a:spcAft>
                <a:spcPts val="300"/>
              </a:spcAft>
            </a:pPr>
            <a:r>
              <a:rPr sz="1200" b="0" i="0">
                <a:solidFill>
                  <a:srgbClr val="1F2937"/>
                </a:solidFill>
                <a:latin typeface="Calibri"/>
              </a:rPr>
              <a:t>Toán / Hoá
(quant)</a:t>
            </a:r>
          </a:p>
        </p:txBody>
      </p:sp>
      <p:sp>
        <p:nvSpPr>
          <p:cNvPr id="9" name="Rectangle 8"/>
          <p:cNvSpPr/>
          <p:nvPr/>
        </p:nvSpPr>
        <p:spPr>
          <a:xfrm>
            <a:off x="3474720" y="2848752"/>
            <a:ext cx="1645920" cy="2637647"/>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0" y="2391552"/>
            <a:ext cx="2194560" cy="365760"/>
          </a:xfrm>
          <a:prstGeom prst="rect">
            <a:avLst/>
          </a:prstGeom>
          <a:noFill/>
        </p:spPr>
        <p:txBody>
          <a:bodyPr wrap="square" anchor="t">
            <a:spAutoFit/>
          </a:bodyPr>
          <a:lstStyle/>
          <a:p>
            <a:pPr algn="ctr">
              <a:spcBef>
                <a:spcPts val="0"/>
              </a:spcBef>
              <a:spcAft>
                <a:spcPts val="300"/>
              </a:spcAft>
            </a:pPr>
            <a:r>
              <a:rPr sz="2100" b="1" i="0">
                <a:solidFill>
                  <a:srgbClr val="F97316"/>
                </a:solidFill>
                <a:latin typeface="Calibri"/>
              </a:rPr>
              <a:t>78.67</a:t>
            </a:r>
          </a:p>
        </p:txBody>
      </p:sp>
      <p:sp>
        <p:nvSpPr>
          <p:cNvPr id="11" name="TextBox 10"/>
          <p:cNvSpPr txBox="1"/>
          <p:nvPr/>
        </p:nvSpPr>
        <p:spPr>
          <a:xfrm>
            <a:off x="3200400" y="5577840"/>
            <a:ext cx="2194560" cy="640080"/>
          </a:xfrm>
          <a:prstGeom prst="rect">
            <a:avLst/>
          </a:prstGeom>
          <a:noFill/>
        </p:spPr>
        <p:txBody>
          <a:bodyPr wrap="square" anchor="t">
            <a:spAutoFit/>
          </a:bodyPr>
          <a:lstStyle/>
          <a:p>
            <a:pPr algn="ctr">
              <a:spcBef>
                <a:spcPts val="0"/>
              </a:spcBef>
              <a:spcAft>
                <a:spcPts val="300"/>
              </a:spcAft>
            </a:pPr>
            <a:r>
              <a:rPr sz="1200" b="0" i="0">
                <a:solidFill>
                  <a:srgbClr val="1F2937"/>
                </a:solidFill>
                <a:latin typeface="Calibri"/>
              </a:rPr>
              <a:t>Giáo dục CD
(civics)</a:t>
            </a:r>
          </a:p>
        </p:txBody>
      </p:sp>
      <p:sp>
        <p:nvSpPr>
          <p:cNvPr id="12" name="Rectangle 11"/>
          <p:cNvSpPr/>
          <p:nvPr/>
        </p:nvSpPr>
        <p:spPr>
          <a:xfrm>
            <a:off x="5852160" y="2622773"/>
            <a:ext cx="1645920" cy="2863626"/>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2165573"/>
            <a:ext cx="2194560" cy="365760"/>
          </a:xfrm>
          <a:prstGeom prst="rect">
            <a:avLst/>
          </a:prstGeom>
          <a:noFill/>
        </p:spPr>
        <p:txBody>
          <a:bodyPr wrap="square" anchor="t">
            <a:spAutoFit/>
          </a:bodyPr>
          <a:lstStyle/>
          <a:p>
            <a:pPr algn="ctr">
              <a:spcBef>
                <a:spcPts val="0"/>
              </a:spcBef>
              <a:spcAft>
                <a:spcPts val="300"/>
              </a:spcAft>
            </a:pPr>
            <a:r>
              <a:rPr sz="2100" b="1" i="0">
                <a:solidFill>
                  <a:srgbClr val="15803D"/>
                </a:solidFill>
                <a:latin typeface="Calibri"/>
              </a:rPr>
              <a:t>85.41</a:t>
            </a:r>
          </a:p>
        </p:txBody>
      </p:sp>
      <p:sp>
        <p:nvSpPr>
          <p:cNvPr id="14" name="TextBox 13"/>
          <p:cNvSpPr txBox="1"/>
          <p:nvPr/>
        </p:nvSpPr>
        <p:spPr>
          <a:xfrm>
            <a:off x="5577840" y="5577840"/>
            <a:ext cx="2194560" cy="640080"/>
          </a:xfrm>
          <a:prstGeom prst="rect">
            <a:avLst/>
          </a:prstGeom>
          <a:noFill/>
        </p:spPr>
        <p:txBody>
          <a:bodyPr wrap="square" anchor="t">
            <a:spAutoFit/>
          </a:bodyPr>
          <a:lstStyle/>
          <a:p>
            <a:pPr algn="ctr">
              <a:spcBef>
                <a:spcPts val="0"/>
              </a:spcBef>
              <a:spcAft>
                <a:spcPts val="300"/>
              </a:spcAft>
            </a:pPr>
            <a:r>
              <a:rPr sz="1200" b="0" i="0">
                <a:solidFill>
                  <a:srgbClr val="1F2937"/>
                </a:solidFill>
                <a:latin typeface="Calibri"/>
              </a:rPr>
              <a:t>Khoa học
(Lý…)</a:t>
            </a:r>
          </a:p>
        </p:txBody>
      </p:sp>
      <p:sp>
        <p:nvSpPr>
          <p:cNvPr id="15" name="Rectangle 14"/>
          <p:cNvSpPr/>
          <p:nvPr/>
        </p:nvSpPr>
        <p:spPr>
          <a:xfrm>
            <a:off x="8778240" y="2194560"/>
            <a:ext cx="2834640" cy="329184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06840" y="2423160"/>
            <a:ext cx="2423160" cy="2926080"/>
          </a:xfrm>
          <a:prstGeom prst="rect">
            <a:avLst/>
          </a:prstGeom>
          <a:noFill/>
        </p:spPr>
        <p:txBody>
          <a:bodyPr wrap="square" anchor="t">
            <a:spAutoFit/>
          </a:bodyPr>
          <a:lstStyle/>
          <a:p>
            <a:pPr algn="l">
              <a:spcBef>
                <a:spcPts val="0"/>
              </a:spcBef>
              <a:spcAft>
                <a:spcPts val="300"/>
              </a:spcAft>
            </a:pPr>
            <a:r>
              <a:rPr sz="3400" b="1" i="0">
                <a:solidFill>
                  <a:srgbClr val="FFFFFF"/>
                </a:solidFill>
                <a:latin typeface="Calibri"/>
              </a:rPr>
              <a:t>83.59</a:t>
            </a:r>
          </a:p>
          <a:p>
            <a:pPr algn="l">
              <a:spcBef>
                <a:spcPts val="0"/>
              </a:spcBef>
              <a:spcAft>
                <a:spcPts val="300"/>
              </a:spcAft>
            </a:pPr>
            <a:r>
              <a:rPr sz="1150" b="0" i="0">
                <a:solidFill>
                  <a:srgbClr val="FAF5EE"/>
                </a:solidFill>
                <a:latin typeface="Calibri"/>
              </a:rPr>
              <a:t>leaderboard public‑463</a:t>
            </a:r>
          </a:p>
          <a:p>
            <a:pPr algn="l">
              <a:spcBef>
                <a:spcPts val="0"/>
              </a:spcBef>
              <a:spcAft>
                <a:spcPts val="300"/>
              </a:spcAft>
            </a:pPr>
            <a:r>
              <a:rPr sz="800" b="0" i="0">
                <a:solidFill>
                  <a:srgbClr val="1F2937"/>
                </a:solidFill>
                <a:latin typeface="Calibri"/>
              </a:rPr>
              <a:t/>
            </a:r>
          </a:p>
          <a:p>
            <a:pPr algn="l">
              <a:spcBef>
                <a:spcPts val="0"/>
              </a:spcBef>
              <a:spcAft>
                <a:spcPts val="300"/>
              </a:spcAft>
            </a:pPr>
            <a:r>
              <a:rPr sz="2200" b="1" i="0">
                <a:solidFill>
                  <a:srgbClr val="F97316"/>
                </a:solidFill>
                <a:latin typeface="Calibri"/>
              </a:rPr>
              <a:t>80.22</a:t>
            </a:r>
          </a:p>
          <a:p>
            <a:pPr algn="l">
              <a:spcBef>
                <a:spcPts val="0"/>
              </a:spcBef>
              <a:spcAft>
                <a:spcPts val="300"/>
              </a:spcAft>
            </a:pPr>
            <a:r>
              <a:rPr sz="1100" b="0" i="0">
                <a:solidFill>
                  <a:srgbClr val="C9CED6"/>
                </a:solidFill>
                <a:latin typeface="Calibri"/>
              </a:rPr>
              <a:t>proxy 450 câu (đo nội bộ)</a:t>
            </a:r>
          </a:p>
        </p:txBody>
      </p:sp>
      <p:sp>
        <p:nvSpPr>
          <p:cNvPr id="17" name="TextBox 16"/>
          <p:cNvSpPr txBox="1"/>
          <p:nvPr/>
        </p:nvSpPr>
        <p:spPr>
          <a:xfrm>
            <a:off x="640080" y="6126480"/>
            <a:ext cx="10789920" cy="365760"/>
          </a:xfrm>
          <a:prstGeom prst="rect">
            <a:avLst/>
          </a:prstGeom>
          <a:noFill/>
        </p:spPr>
        <p:txBody>
          <a:bodyPr wrap="square" anchor="t">
            <a:spAutoFit/>
          </a:bodyPr>
          <a:lstStyle/>
          <a:p>
            <a:pPr algn="l">
              <a:spcBef>
                <a:spcPts val="0"/>
              </a:spcBef>
              <a:spcAft>
                <a:spcPts val="300"/>
              </a:spcAft>
            </a:pPr>
            <a:r>
              <a:rPr sz="1150" b="0" i="1">
                <a:solidFill>
                  <a:srgbClr val="6B7280"/>
                </a:solidFill>
                <a:latin typeface="Calibri"/>
              </a:rPr>
              <a:t>Lỗi của một mô hình 4B trên đề THPT chủ yếu là sai suy luận/tính toán (cụm quant thấp nhất), không phải thiếu dữ kiện tra‑cứu được — định hướng việc chọn và loại đòn bẩy.</a:t>
            </a:r>
          </a:p>
        </p:txBody>
      </p:sp>
      <p:sp>
        <p:nvSpPr>
          <p:cNvPr id="18" name="TextBox 17"/>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06 · Đòn bẩy đang triển khai</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Bốn kỹ thuật ngoại tuyến, một mô hình; mỗi kỹ thuật giữ lại sau khi đo xác nhận hiệu quả.</a:t>
            </a:r>
          </a:p>
        </p:txBody>
      </p:sp>
      <p:sp>
        <p:nvSpPr>
          <p:cNvPr id="6" name="Rectangle 5"/>
          <p:cNvSpPr/>
          <p:nvPr/>
        </p:nvSpPr>
        <p:spPr>
          <a:xfrm>
            <a:off x="640080" y="2103120"/>
            <a:ext cx="5349240" cy="1737360"/>
          </a:xfrm>
          <a:prstGeom prst="rect">
            <a:avLst/>
          </a:prstGeom>
          <a:solidFill>
            <a:srgbClr val="FFFFFF"/>
          </a:solidFill>
          <a:ln w="12700">
            <a:solidFill>
              <a:srgbClr val="F3F4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03120"/>
            <a:ext cx="5349240" cy="9144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12848"/>
            <a:ext cx="4846320" cy="1554480"/>
          </a:xfrm>
          <a:prstGeom prst="rect">
            <a:avLst/>
          </a:prstGeom>
          <a:noFill/>
        </p:spPr>
        <p:txBody>
          <a:bodyPr wrap="square" anchor="ctr">
            <a:spAutoFit/>
          </a:bodyPr>
          <a:lstStyle/>
          <a:p>
            <a:pPr algn="l">
              <a:spcBef>
                <a:spcPts val="0"/>
              </a:spcBef>
              <a:spcAft>
                <a:spcPts val="400"/>
              </a:spcAft>
            </a:pPr>
            <a:r>
              <a:rPr sz="1500" b="1" i="0">
                <a:solidFill>
                  <a:srgbClr val="C2550B"/>
                </a:solidFill>
                <a:latin typeface="Calibri"/>
              </a:rPr>
              <a:t>Chain‑of‑thought tự nhất quán</a:t>
            </a:r>
          </a:p>
          <a:p>
            <a:pPr algn="l">
              <a:spcBef>
                <a:spcPts val="0"/>
              </a:spcBef>
              <a:spcAft>
                <a:spcPts val="400"/>
              </a:spcAft>
            </a:pPr>
            <a:r>
              <a:rPr sz="600" b="0" i="0">
                <a:solidFill>
                  <a:srgbClr val="1F2937"/>
                </a:solidFill>
                <a:latin typeface="Calibri"/>
              </a:rPr>
              <a:t/>
            </a:r>
          </a:p>
          <a:p>
            <a:pPr algn="l">
              <a:spcBef>
                <a:spcPts val="0"/>
              </a:spcBef>
              <a:spcAft>
                <a:spcPts val="400"/>
              </a:spcAft>
            </a:pPr>
            <a:r>
              <a:rPr sz="1250" b="0" i="0">
                <a:solidFill>
                  <a:srgbClr val="1F2937"/>
                </a:solidFill>
                <a:latin typeface="Calibri"/>
              </a:rPr>
              <a:t>Cho mô hình lập luận rồi trích chữ cái cuối; lấy mẫu, bỏ phiếu, và đặt độ tin cậy bằng tỉ lệ đồng thuận. Đây là engine cốt lõi.</a:t>
            </a:r>
          </a:p>
        </p:txBody>
      </p:sp>
      <p:sp>
        <p:nvSpPr>
          <p:cNvPr id="9" name="Rectangle 8"/>
          <p:cNvSpPr/>
          <p:nvPr/>
        </p:nvSpPr>
        <p:spPr>
          <a:xfrm>
            <a:off x="6263640" y="2103120"/>
            <a:ext cx="5349240" cy="1737360"/>
          </a:xfrm>
          <a:prstGeom prst="rect">
            <a:avLst/>
          </a:prstGeom>
          <a:solidFill>
            <a:srgbClr val="FFFFFF"/>
          </a:solidFill>
          <a:ln w="12700">
            <a:solidFill>
              <a:srgbClr val="F3F4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03120"/>
            <a:ext cx="5349240" cy="9144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2212848"/>
            <a:ext cx="4846320" cy="1554480"/>
          </a:xfrm>
          <a:prstGeom prst="rect">
            <a:avLst/>
          </a:prstGeom>
          <a:noFill/>
        </p:spPr>
        <p:txBody>
          <a:bodyPr wrap="square" anchor="ctr">
            <a:spAutoFit/>
          </a:bodyPr>
          <a:lstStyle/>
          <a:p>
            <a:pPr algn="l">
              <a:spcBef>
                <a:spcPts val="0"/>
              </a:spcBef>
              <a:spcAft>
                <a:spcPts val="400"/>
              </a:spcAft>
            </a:pPr>
            <a:r>
              <a:rPr sz="1500" b="1" i="0">
                <a:solidFill>
                  <a:srgbClr val="C2550B"/>
                </a:solidFill>
                <a:latin typeface="Calibri"/>
              </a:rPr>
              <a:t>Phán đoán an‑toàn‑từ‑chối</a:t>
            </a:r>
          </a:p>
          <a:p>
            <a:pPr algn="l">
              <a:spcBef>
                <a:spcPts val="0"/>
              </a:spcBef>
              <a:spcAft>
                <a:spcPts val="400"/>
              </a:spcAft>
            </a:pPr>
            <a:r>
              <a:rPr sz="600" b="0" i="0">
                <a:solidFill>
                  <a:srgbClr val="1F2937"/>
                </a:solidFill>
                <a:latin typeface="Calibri"/>
              </a:rPr>
              <a:t/>
            </a:r>
          </a:p>
          <a:p>
            <a:pPr algn="l">
              <a:spcBef>
                <a:spcPts val="0"/>
              </a:spcBef>
              <a:spcAft>
                <a:spcPts val="400"/>
              </a:spcAft>
            </a:pPr>
            <a:r>
              <a:rPr sz="1250" b="0" i="0">
                <a:solidFill>
                  <a:srgbClr val="1F2937"/>
                </a:solidFill>
                <a:latin typeface="Calibri"/>
              </a:rPr>
              <a:t>Nhóm câu 'làm thế nào để [hành vi hại]' có đáp đúng là từ chối; phán đoán theo ngữ nghĩa, không khớp từ khóa nên tổng quát đa ngôn ngữ.</a:t>
            </a:r>
          </a:p>
        </p:txBody>
      </p:sp>
      <p:sp>
        <p:nvSpPr>
          <p:cNvPr id="12" name="Rectangle 11"/>
          <p:cNvSpPr/>
          <p:nvPr/>
        </p:nvSpPr>
        <p:spPr>
          <a:xfrm>
            <a:off x="640080" y="4069079"/>
            <a:ext cx="5349240" cy="1737360"/>
          </a:xfrm>
          <a:prstGeom prst="rect">
            <a:avLst/>
          </a:prstGeom>
          <a:solidFill>
            <a:srgbClr val="FFFFFF"/>
          </a:solidFill>
          <a:ln w="12700">
            <a:solidFill>
              <a:srgbClr val="F3F4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069079"/>
            <a:ext cx="5349240" cy="9144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178807"/>
            <a:ext cx="4846320" cy="1554480"/>
          </a:xfrm>
          <a:prstGeom prst="rect">
            <a:avLst/>
          </a:prstGeom>
          <a:noFill/>
        </p:spPr>
        <p:txBody>
          <a:bodyPr wrap="square" anchor="ctr">
            <a:spAutoFit/>
          </a:bodyPr>
          <a:lstStyle/>
          <a:p>
            <a:pPr algn="l">
              <a:spcBef>
                <a:spcPts val="0"/>
              </a:spcBef>
              <a:spcAft>
                <a:spcPts val="400"/>
              </a:spcAft>
            </a:pPr>
            <a:r>
              <a:rPr sz="1500" b="1" i="0">
                <a:solidFill>
                  <a:srgbClr val="C2550B"/>
                </a:solidFill>
                <a:latin typeface="Calibri"/>
              </a:rPr>
              <a:t>Constrained decoding (GBNF)</a:t>
            </a:r>
          </a:p>
          <a:p>
            <a:pPr algn="l">
              <a:spcBef>
                <a:spcPts val="0"/>
              </a:spcBef>
              <a:spcAft>
                <a:spcPts val="400"/>
              </a:spcAft>
            </a:pPr>
            <a:r>
              <a:rPr sz="600" b="0" i="0">
                <a:solidFill>
                  <a:srgbClr val="1F2937"/>
                </a:solidFill>
                <a:latin typeface="Calibri"/>
              </a:rPr>
              <a:t/>
            </a:r>
          </a:p>
          <a:p>
            <a:pPr algn="l">
              <a:spcBef>
                <a:spcPts val="0"/>
              </a:spcBef>
              <a:spcAft>
                <a:spcPts val="400"/>
              </a:spcAft>
            </a:pPr>
            <a:r>
              <a:rPr sz="1250" b="0" i="0">
                <a:solidFill>
                  <a:srgbClr val="1F2937"/>
                </a:solidFill>
                <a:latin typeface="Calibri"/>
              </a:rPr>
              <a:t>Ở bước hiệu chỉnh, văn phạm ràng buộc đầu ra về đúng một chữ cái hợp lệ — loại bỏ phỏng đoán heuristic khi một mẫu trôi định dạng.</a:t>
            </a:r>
          </a:p>
        </p:txBody>
      </p:sp>
      <p:sp>
        <p:nvSpPr>
          <p:cNvPr id="15" name="Rectangle 14"/>
          <p:cNvSpPr/>
          <p:nvPr/>
        </p:nvSpPr>
        <p:spPr>
          <a:xfrm>
            <a:off x="6263640" y="4069079"/>
            <a:ext cx="5349240" cy="1737360"/>
          </a:xfrm>
          <a:prstGeom prst="rect">
            <a:avLst/>
          </a:prstGeom>
          <a:solidFill>
            <a:srgbClr val="FFFFFF"/>
          </a:solidFill>
          <a:ln w="12700">
            <a:solidFill>
              <a:srgbClr val="F3F4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4069079"/>
            <a:ext cx="5349240" cy="9144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4178807"/>
            <a:ext cx="4846320" cy="1554480"/>
          </a:xfrm>
          <a:prstGeom prst="rect">
            <a:avLst/>
          </a:prstGeom>
          <a:noFill/>
        </p:spPr>
        <p:txBody>
          <a:bodyPr wrap="square" anchor="ctr">
            <a:spAutoFit/>
          </a:bodyPr>
          <a:lstStyle/>
          <a:p>
            <a:pPr algn="l">
              <a:spcBef>
                <a:spcPts val="0"/>
              </a:spcBef>
              <a:spcAft>
                <a:spcPts val="400"/>
              </a:spcAft>
            </a:pPr>
            <a:r>
              <a:rPr sz="1500" b="1" i="0">
                <a:solidFill>
                  <a:srgbClr val="C2550B"/>
                </a:solidFill>
                <a:latin typeface="Calibri"/>
              </a:rPr>
              <a:t>Khử thiên lệch vị trí</a:t>
            </a:r>
          </a:p>
          <a:p>
            <a:pPr algn="l">
              <a:spcBef>
                <a:spcPts val="0"/>
              </a:spcBef>
              <a:spcAft>
                <a:spcPts val="400"/>
              </a:spcAft>
            </a:pPr>
            <a:r>
              <a:rPr sz="600" b="0" i="0">
                <a:solidFill>
                  <a:srgbClr val="1F2937"/>
                </a:solidFill>
                <a:latin typeface="Calibri"/>
              </a:rPr>
              <a:t/>
            </a:r>
          </a:p>
          <a:p>
            <a:pPr algn="l">
              <a:spcBef>
                <a:spcPts val="0"/>
              </a:spcBef>
              <a:spcAft>
                <a:spcPts val="400"/>
              </a:spcAft>
            </a:pPr>
            <a:r>
              <a:rPr sz="1250" b="0" i="0">
                <a:solidFill>
                  <a:srgbClr val="1F2937"/>
                </a:solidFill>
                <a:latin typeface="Calibri"/>
              </a:rPr>
              <a:t>Hoán vị tuần hoàn thứ tự lựa chọn trước khi bỏ phiếu, trung hòa thiên lệch vị trí ở các câu nhiều phương án.</a:t>
            </a:r>
          </a:p>
        </p:txBody>
      </p:sp>
      <p:sp>
        <p:nvSpPr>
          <p:cNvPr id="18" name="TextBox 17"/>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07 · Chống quá khớp</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Phần lớn kỹ thuật 'ngầu' bị loại bằng đo lường — và đó chính là chống overfit cho 2000 câu private.</a:t>
            </a:r>
          </a:p>
        </p:txBody>
      </p:sp>
      <p:graphicFrame>
        <p:nvGraphicFramePr>
          <p:cNvPr id="6" name="Table 5"/>
          <p:cNvGraphicFramePr>
            <a:graphicFrameLocks noGrp="1"/>
          </p:cNvGraphicFramePr>
          <p:nvPr/>
        </p:nvGraphicFramePr>
        <p:xfrm>
          <a:off x="640080" y="1874519"/>
          <a:ext cx="10972800" cy="3950208"/>
        </p:xfrm>
        <a:graphic>
          <a:graphicData uri="http://schemas.openxmlformats.org/drawingml/2006/table">
            <a:tbl>
              <a:tblPr firstRow="1" bandRow="1">
                <a:tableStyleId>{5C22544A-7EE6-4342-B048-85BDC9FD1C3A}</a:tableStyleId>
              </a:tblPr>
              <a:tblGrid>
                <a:gridCol w="3931920"/>
                <a:gridCol w="1463040"/>
                <a:gridCol w="5577840"/>
              </a:tblGrid>
              <a:tr h="658368">
                <a:tc>
                  <a:txBody>
                    <a:bodyPr/>
                    <a:lstStyle/>
                    <a:p>
                      <a:r>
                        <a:rPr sz="1250" b="1" i="0">
                          <a:solidFill>
                            <a:srgbClr val="FFFFFF"/>
                          </a:solidFill>
                          <a:latin typeface="Calibri"/>
                        </a:rPr>
                        <a:t>Kỹ thuật (đã xây + đo trên Qwen3‑4B)</a:t>
                      </a:r>
                    </a:p>
                  </a:txBody>
                  <a:tcPr marL="91440" marR="54864" marT="18288" marB="18288" anchor="ctr">
                    <a:solidFill>
                      <a:srgbClr val="1F2937"/>
                    </a:solidFill>
                  </a:tcPr>
                </a:tc>
                <a:tc>
                  <a:txBody>
                    <a:bodyPr/>
                    <a:lstStyle/>
                    <a:p>
                      <a:r>
                        <a:rPr sz="1250" b="1" i="0">
                          <a:solidFill>
                            <a:srgbClr val="FFFFFF"/>
                          </a:solidFill>
                          <a:latin typeface="Calibri"/>
                        </a:rPr>
                        <a:t>Kết quả đo</a:t>
                      </a:r>
                    </a:p>
                  </a:txBody>
                  <a:tcPr marL="91440" marR="54864" marT="18288" marB="18288" anchor="ctr">
                    <a:solidFill>
                      <a:srgbClr val="1F2937"/>
                    </a:solidFill>
                  </a:tcPr>
                </a:tc>
                <a:tc>
                  <a:txBody>
                    <a:bodyPr/>
                    <a:lstStyle/>
                    <a:p>
                      <a:r>
                        <a:rPr sz="1250" b="1" i="0">
                          <a:solidFill>
                            <a:srgbClr val="FFFFFF"/>
                          </a:solidFill>
                          <a:latin typeface="Calibri"/>
                        </a:rPr>
                        <a:t>Quyết định / lý do</a:t>
                      </a:r>
                    </a:p>
                  </a:txBody>
                  <a:tcPr marL="91440" marR="54864" marT="18288" marB="18288" anchor="ctr">
                    <a:solidFill>
                      <a:srgbClr val="1F2937"/>
                    </a:solidFill>
                  </a:tcPr>
                </a:tc>
              </a:tr>
              <a:tr h="658368">
                <a:tc>
                  <a:txBody>
                    <a:bodyPr/>
                    <a:lstStyle/>
                    <a:p>
                      <a:r>
                        <a:rPr sz="1150" b="0" i="0">
                          <a:solidFill>
                            <a:srgbClr val="1F2937"/>
                          </a:solidFill>
                          <a:latin typeface="Calibri"/>
                        </a:rPr>
                        <a:t>Fine‑tune v1 (math + legal + MCQ)</a:t>
                      </a:r>
                    </a:p>
                  </a:txBody>
                  <a:tcPr marL="91440" marR="54864" marT="18288" marB="18288" anchor="ctr">
                    <a:solidFill>
                      <a:srgbClr val="FFFFFF"/>
                    </a:solidFill>
                  </a:tcPr>
                </a:tc>
                <a:tc>
                  <a:txBody>
                    <a:bodyPr/>
                    <a:lstStyle/>
                    <a:p>
                      <a:r>
                        <a:rPr sz="1150" b="1" i="0">
                          <a:solidFill>
                            <a:srgbClr val="B91C1C"/>
                          </a:solidFill>
                          <a:latin typeface="Calibri"/>
                        </a:rPr>
                        <a:t>−4.44</a:t>
                      </a:r>
                    </a:p>
                  </a:txBody>
                  <a:tcPr marL="91440" marR="54864" marT="18288" marB="18288" anchor="ctr">
                    <a:solidFill>
                      <a:srgbClr val="FFFFFF"/>
                    </a:solidFill>
                  </a:tcPr>
                </a:tc>
                <a:tc>
                  <a:txBody>
                    <a:bodyPr/>
                    <a:lstStyle/>
                    <a:p>
                      <a:r>
                        <a:rPr sz="1150" b="0" i="0">
                          <a:solidFill>
                            <a:srgbClr val="1F2937"/>
                          </a:solidFill>
                          <a:latin typeface="Calibri"/>
                        </a:rPr>
                        <a:t>Dữ liệu off‑distribution phá định dạng MCQ (quant 73.9→59.1) — catastrophic forgetting.</a:t>
                      </a:r>
                    </a:p>
                  </a:txBody>
                  <a:tcPr marL="91440" marR="54864" marT="18288" marB="18288" anchor="ctr">
                    <a:solidFill>
                      <a:srgbClr val="FFFFFF"/>
                    </a:solidFill>
                  </a:tcPr>
                </a:tc>
              </a:tr>
              <a:tr h="658368">
                <a:tc>
                  <a:txBody>
                    <a:bodyPr/>
                    <a:lstStyle/>
                    <a:p>
                      <a:r>
                        <a:rPr sz="1150" b="0" i="0">
                          <a:solidFill>
                            <a:srgbClr val="1F2937"/>
                          </a:solidFill>
                          <a:latin typeface="Calibri"/>
                        </a:rPr>
                        <a:t>Fine‑tune v2 (chỉ 823 MCQ, hết data)</a:t>
                      </a:r>
                    </a:p>
                  </a:txBody>
                  <a:tcPr marL="91440" marR="54864" marT="18288" marB="18288" anchor="ctr">
                    <a:solidFill>
                      <a:srgbClr val="F3F4F6"/>
                    </a:solidFill>
                  </a:tcPr>
                </a:tc>
                <a:tc>
                  <a:txBody>
                    <a:bodyPr/>
                    <a:lstStyle/>
                    <a:p>
                      <a:r>
                        <a:rPr sz="1150" b="1" i="0">
                          <a:solidFill>
                            <a:srgbClr val="6B7280"/>
                          </a:solidFill>
                          <a:latin typeface="Calibri"/>
                        </a:rPr>
                        <a:t>±0.00</a:t>
                      </a:r>
                    </a:p>
                  </a:txBody>
                  <a:tcPr marL="91440" marR="54864" marT="18288" marB="18288" anchor="ctr">
                    <a:solidFill>
                      <a:srgbClr val="F3F4F6"/>
                    </a:solidFill>
                  </a:tcPr>
                </a:tc>
                <a:tc>
                  <a:txBody>
                    <a:bodyPr/>
                    <a:lstStyle/>
                    <a:p>
                      <a:r>
                        <a:rPr sz="1150" b="0" i="0">
                          <a:solidFill>
                            <a:srgbClr val="1F2937"/>
                          </a:solidFill>
                          <a:latin typeface="Calibri"/>
                        </a:rPr>
                        <a:t>Base đã ở trần; 823 dòng quá ít để dịch chuyển một mô hình instruct mạnh.</a:t>
                      </a:r>
                    </a:p>
                  </a:txBody>
                  <a:tcPr marL="91440" marR="54864" marT="18288" marB="18288" anchor="ctr">
                    <a:solidFill>
                      <a:srgbClr val="F3F4F6"/>
                    </a:solidFill>
                  </a:tcPr>
                </a:tc>
              </a:tr>
              <a:tr h="658368">
                <a:tc>
                  <a:txBody>
                    <a:bodyPr/>
                    <a:lstStyle/>
                    <a:p>
                      <a:r>
                        <a:rPr sz="1150" b="0" i="0">
                          <a:solidFill>
                            <a:srgbClr val="1F2937"/>
                          </a:solidFill>
                          <a:latin typeface="Calibri"/>
                        </a:rPr>
                        <a:t>RAG‑gated (truy hồi tri thức)</a:t>
                      </a:r>
                    </a:p>
                  </a:txBody>
                  <a:tcPr marL="91440" marR="54864" marT="18288" marB="18288" anchor="ctr">
                    <a:solidFill>
                      <a:srgbClr val="FFFFFF"/>
                    </a:solidFill>
                  </a:tcPr>
                </a:tc>
                <a:tc>
                  <a:txBody>
                    <a:bodyPr/>
                    <a:lstStyle/>
                    <a:p>
                      <a:r>
                        <a:rPr sz="1150" b="1" i="0">
                          <a:solidFill>
                            <a:srgbClr val="B91C1C"/>
                          </a:solidFill>
                          <a:latin typeface="Calibri"/>
                        </a:rPr>
                        <a:t>ẢO / cấm</a:t>
                      </a:r>
                    </a:p>
                  </a:txBody>
                  <a:tcPr marL="91440" marR="54864" marT="18288" marB="18288" anchor="ctr">
                    <a:solidFill>
                      <a:srgbClr val="FFFFFF"/>
                    </a:solidFill>
                  </a:tcPr>
                </a:tc>
                <a:tc>
                  <a:txBody>
                    <a:bodyPr/>
                    <a:lstStyle/>
                    <a:p>
                      <a:r>
                        <a:rPr sz="1150" b="0" i="0">
                          <a:solidFill>
                            <a:srgbClr val="1F2937"/>
                          </a:solidFill>
                          <a:latin typeface="Calibri"/>
                        </a:rPr>
                        <a:t>+3.11 trên proxy là variance k=1; battery sạch civics −5. Luật BTC cấm embedding/rerank.</a:t>
                      </a:r>
                    </a:p>
                  </a:txBody>
                  <a:tcPr marL="91440" marR="54864" marT="18288" marB="18288" anchor="ctr">
                    <a:solidFill>
                      <a:srgbClr val="FFFFFF"/>
                    </a:solidFill>
                  </a:tcPr>
                </a:tc>
              </a:tr>
              <a:tr h="658368">
                <a:tc>
                  <a:txBody>
                    <a:bodyPr/>
                    <a:lstStyle/>
                    <a:p>
                      <a:r>
                        <a:rPr sz="1150" b="0" i="0">
                          <a:solidFill>
                            <a:srgbClr val="1F2937"/>
                          </a:solidFill>
                          <a:latin typeface="Calibri"/>
                        </a:rPr>
                        <a:t>TIR — mô hình viết &amp; chạy Python</a:t>
                      </a:r>
                    </a:p>
                  </a:txBody>
                  <a:tcPr marL="91440" marR="54864" marT="18288" marB="18288" anchor="ctr">
                    <a:solidFill>
                      <a:srgbClr val="F3F4F6"/>
                    </a:solidFill>
                  </a:tcPr>
                </a:tc>
                <a:tc>
                  <a:txBody>
                    <a:bodyPr/>
                    <a:lstStyle/>
                    <a:p>
                      <a:r>
                        <a:rPr sz="1150" b="1" i="0">
                          <a:solidFill>
                            <a:srgbClr val="B91C1C"/>
                          </a:solidFill>
                          <a:latin typeface="Calibri"/>
                        </a:rPr>
                        <a:t>−16.52</a:t>
                      </a:r>
                    </a:p>
                  </a:txBody>
                  <a:tcPr marL="91440" marR="54864" marT="18288" marB="18288" anchor="ctr">
                    <a:solidFill>
                      <a:srgbClr val="F3F4F6"/>
                    </a:solidFill>
                  </a:tcPr>
                </a:tc>
                <a:tc>
                  <a:txBody>
                    <a:bodyPr/>
                    <a:lstStyle/>
                    <a:p>
                      <a:r>
                        <a:rPr sz="1150" b="0" i="0">
                          <a:solidFill>
                            <a:srgbClr val="1F2937"/>
                          </a:solidFill>
                          <a:latin typeface="Calibri"/>
                        </a:rPr>
                        <a:t>4B dưới ngưỡng viết Python đúng (41% câu degrade); phá 24 câu suy luận trực tiếp đã đúng.</a:t>
                      </a:r>
                    </a:p>
                  </a:txBody>
                  <a:tcPr marL="91440" marR="54864" marT="18288" marB="18288" anchor="ctr">
                    <a:solidFill>
                      <a:srgbClr val="F3F4F6"/>
                    </a:solidFill>
                  </a:tcPr>
                </a:tc>
              </a:tr>
              <a:tr h="658368">
                <a:tc>
                  <a:txBody>
                    <a:bodyPr/>
                    <a:lstStyle/>
                    <a:p>
                      <a:r>
                        <a:rPr sz="1150" b="0" i="0">
                          <a:solidFill>
                            <a:srgbClr val="1F2937"/>
                          </a:solidFill>
                          <a:latin typeface="Calibri"/>
                        </a:rPr>
                        <a:t>Bỏ phiếu k=5 / tiered</a:t>
                      </a:r>
                    </a:p>
                  </a:txBody>
                  <a:tcPr marL="91440" marR="54864" marT="18288" marB="18288" anchor="ctr">
                    <a:solidFill>
                      <a:srgbClr val="FFFFFF"/>
                    </a:solidFill>
                  </a:tcPr>
                </a:tc>
                <a:tc>
                  <a:txBody>
                    <a:bodyPr/>
                    <a:lstStyle/>
                    <a:p>
                      <a:r>
                        <a:rPr sz="1150" b="1" i="0">
                          <a:solidFill>
                            <a:srgbClr val="6B7280"/>
                          </a:solidFill>
                          <a:latin typeface="Calibri"/>
                        </a:rPr>
                        <a:t>≈ 0</a:t>
                      </a:r>
                    </a:p>
                  </a:txBody>
                  <a:tcPr marL="91440" marR="54864" marT="18288" marB="18288" anchor="ctr">
                    <a:solidFill>
                      <a:srgbClr val="FFFFFF"/>
                    </a:solidFill>
                  </a:tcPr>
                </a:tc>
                <a:tc>
                  <a:txBody>
                    <a:bodyPr/>
                    <a:lstStyle/>
                    <a:p>
                      <a:r>
                        <a:rPr sz="1150" b="0" i="0">
                          <a:solidFill>
                            <a:srgbClr val="1F2937"/>
                          </a:solidFill>
                          <a:latin typeface="Calibri"/>
                        </a:rPr>
                        <a:t>Trong sai số — self‑consistency đã đủ; thêm mẫu không cải thiện mà tốn thời gian.</a:t>
                      </a:r>
                    </a:p>
                  </a:txBody>
                  <a:tcPr marL="91440" marR="54864" marT="18288" marB="18288" anchor="ctr">
                    <a:solidFill>
                      <a:srgbClr val="FFFFFF"/>
                    </a:solidFill>
                  </a:tcPr>
                </a:tc>
              </a:tr>
            </a:tbl>
          </a:graphicData>
        </a:graphic>
      </p:graphicFrame>
      <p:sp>
        <p:nvSpPr>
          <p:cNvPr id="7" name="TextBox 6"/>
          <p:cNvSpPr txBox="1"/>
          <p:nvPr/>
        </p:nvSpPr>
        <p:spPr>
          <a:xfrm>
            <a:off x="640080" y="6126480"/>
            <a:ext cx="10972800" cy="502920"/>
          </a:xfrm>
          <a:prstGeom prst="rect">
            <a:avLst/>
          </a:prstGeom>
          <a:noFill/>
        </p:spPr>
        <p:txBody>
          <a:bodyPr wrap="square" anchor="t">
            <a:spAutoFit/>
          </a:bodyPr>
          <a:lstStyle/>
          <a:p>
            <a:pPr algn="l">
              <a:spcBef>
                <a:spcPts val="0"/>
              </a:spcBef>
              <a:spcAft>
                <a:spcPts val="300"/>
              </a:spcAft>
            </a:pPr>
            <a:r>
              <a:rPr sz="1200" b="0" i="0">
                <a:solidFill>
                  <a:srgbClr val="1F2937"/>
                </a:solidFill>
                <a:latin typeface="Calibri"/>
              </a:rPr>
              <a:t>Vấn đề thật là variance k=1 (~30 câu lật mỗi lần chạy) → điểm proxy là bẫy; ta đánh giá bằng khả năng tổng quát hóa. </a:t>
            </a:r>
            <a:r>
              <a:rPr sz="1200" b="0" i="1">
                <a:solidFill>
                  <a:srgbClr val="C2550B"/>
                </a:solidFill>
                <a:latin typeface="Calibri"/>
              </a:rPr>
              <a:t>Kết quả phủ định có giá trị ngang kết quả khẳng định — chúng ngăn việc ship phức tạp bất lợi cho tập riêng.</a:t>
            </a:r>
          </a:p>
        </p:txBody>
      </p:sp>
      <p:sp>
        <p:nvSpPr>
          <p:cNvPr id="8" name="TextBox 7"/>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08 · Điểm thời gian</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Tối giản chính là nhanh nhất: đường ship một‑mô‑hình vừa thắng độ chính xác vừa thắng thời gian.</a:t>
            </a:r>
          </a:p>
        </p:txBody>
      </p:sp>
      <p:sp>
        <p:nvSpPr>
          <p:cNvPr id="6" name="Rectangle 5"/>
          <p:cNvSpPr/>
          <p:nvPr/>
        </p:nvSpPr>
        <p:spPr>
          <a:xfrm>
            <a:off x="640080" y="2148840"/>
            <a:ext cx="5349240" cy="1783080"/>
          </a:xfrm>
          <a:prstGeom prst="rect">
            <a:avLst/>
          </a:prstGeom>
          <a:solidFill>
            <a:srgbClr val="FAF5EE"/>
          </a:solidFill>
          <a:ln w="1905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86000"/>
            <a:ext cx="4800600" cy="1554480"/>
          </a:xfrm>
          <a:prstGeom prst="rect">
            <a:avLst/>
          </a:prstGeom>
          <a:noFill/>
        </p:spPr>
        <p:txBody>
          <a:bodyPr wrap="square" anchor="ctr">
            <a:spAutoFit/>
          </a:bodyPr>
          <a:lstStyle/>
          <a:p>
            <a:pPr algn="l">
              <a:spcBef>
                <a:spcPts val="0"/>
              </a:spcBef>
              <a:spcAft>
                <a:spcPts val="400"/>
              </a:spcAft>
            </a:pPr>
            <a:r>
              <a:rPr sz="1600" b="1" i="0">
                <a:solidFill>
                  <a:srgbClr val="C2550B"/>
                </a:solidFill>
                <a:latin typeface="Calibri"/>
              </a:rPr>
              <a:t>~3 giây / câu</a:t>
            </a:r>
          </a:p>
          <a:p>
            <a:pPr algn="l">
              <a:spcBef>
                <a:spcPts val="0"/>
              </a:spcBef>
              <a:spcAft>
                <a:spcPts val="400"/>
              </a:spcAft>
            </a:pPr>
            <a:r>
              <a:rPr sz="600" b="0" i="0">
                <a:solidFill>
                  <a:srgbClr val="1F2937"/>
                </a:solidFill>
                <a:latin typeface="Calibri"/>
              </a:rPr>
              <a:t/>
            </a:r>
          </a:p>
          <a:p>
            <a:pPr algn="l">
              <a:spcBef>
                <a:spcPts val="0"/>
              </a:spcBef>
              <a:spcAft>
                <a:spcPts val="400"/>
              </a:spcAft>
            </a:pPr>
            <a:r>
              <a:rPr sz="1250" b="0" i="0">
                <a:solidFill>
                  <a:srgbClr val="1F2937"/>
                </a:solidFill>
                <a:latin typeface="Calibri"/>
              </a:rPr>
              <a:t>≈ 100 phút cho 2000 câu trên một GPU, VRAM ~5GB — không tràn bộ nhớ, không hết giờ trên server 16GB.</a:t>
            </a:r>
          </a:p>
        </p:txBody>
      </p:sp>
      <p:sp>
        <p:nvSpPr>
          <p:cNvPr id="8" name="Rectangle 7"/>
          <p:cNvSpPr/>
          <p:nvPr/>
        </p:nvSpPr>
        <p:spPr>
          <a:xfrm>
            <a:off x="6263640" y="2148840"/>
            <a:ext cx="5349240" cy="1783080"/>
          </a:xfrm>
          <a:prstGeom prst="rect">
            <a:avLst/>
          </a:prstGeom>
          <a:solidFill>
            <a:srgbClr val="FAF5EE"/>
          </a:solidFill>
          <a:ln w="1905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56248" y="2286000"/>
            <a:ext cx="4800600" cy="1554480"/>
          </a:xfrm>
          <a:prstGeom prst="rect">
            <a:avLst/>
          </a:prstGeom>
          <a:noFill/>
        </p:spPr>
        <p:txBody>
          <a:bodyPr wrap="square" anchor="ctr">
            <a:spAutoFit/>
          </a:bodyPr>
          <a:lstStyle/>
          <a:p>
            <a:pPr algn="l">
              <a:spcBef>
                <a:spcPts val="0"/>
              </a:spcBef>
              <a:spcAft>
                <a:spcPts val="400"/>
              </a:spcAft>
            </a:pPr>
            <a:r>
              <a:rPr sz="1600" b="1" i="0">
                <a:solidFill>
                  <a:srgbClr val="C2550B"/>
                </a:solidFill>
                <a:latin typeface="Calibri"/>
              </a:rPr>
              <a:t>Phức tạp = chậm hơn</a:t>
            </a:r>
          </a:p>
          <a:p>
            <a:pPr algn="l">
              <a:spcBef>
                <a:spcPts val="0"/>
              </a:spcBef>
              <a:spcAft>
                <a:spcPts val="400"/>
              </a:spcAft>
            </a:pPr>
            <a:r>
              <a:rPr sz="600" b="0" i="0">
                <a:solidFill>
                  <a:srgbClr val="1F2937"/>
                </a:solidFill>
                <a:latin typeface="Calibri"/>
              </a:rPr>
              <a:t/>
            </a:r>
          </a:p>
          <a:p>
            <a:pPr algn="l">
              <a:spcBef>
                <a:spcPts val="0"/>
              </a:spcBef>
              <a:spcAft>
                <a:spcPts val="400"/>
              </a:spcAft>
            </a:pPr>
            <a:r>
              <a:rPr sz="1250" b="0" i="0">
                <a:solidFill>
                  <a:srgbClr val="1F2937"/>
                </a:solidFill>
                <a:latin typeface="Calibri"/>
              </a:rPr>
              <a:t>TIR (hai lượt + chạy mã), RAG (truy hồi), k&gt;1 (nhiều mẫu) đều chậm hơn — mà đo ra đều không giúp. Loại chúng bảo vệ cả Time lẫn Accuracy.</a:t>
            </a:r>
          </a:p>
        </p:txBody>
      </p:sp>
      <p:sp>
        <p:nvSpPr>
          <p:cNvPr id="10" name="TextBox 9"/>
          <p:cNvSpPr txBox="1"/>
          <p:nvPr/>
        </p:nvSpPr>
        <p:spPr>
          <a:xfrm>
            <a:off x="640080" y="4297680"/>
            <a:ext cx="10972800" cy="1463040"/>
          </a:xfrm>
          <a:prstGeom prst="rect">
            <a:avLst/>
          </a:prstGeom>
          <a:noFill/>
        </p:spPr>
        <p:txBody>
          <a:bodyPr wrap="square" anchor="t">
            <a:spAutoFit/>
          </a:bodyPr>
          <a:lstStyle/>
          <a:p>
            <a:pPr algn="l">
              <a:spcBef>
                <a:spcPts val="0"/>
              </a:spcBef>
              <a:spcAft>
                <a:spcPts val="300"/>
              </a:spcAft>
            </a:pPr>
            <a:r>
              <a:rPr sz="1400" b="1" i="0">
                <a:solidFill>
                  <a:srgbClr val="1F2937"/>
                </a:solidFill>
                <a:latin typeface="Calibri"/>
              </a:rPr>
              <a:t>Bảo vệ thêm điểm thời gian:</a:t>
            </a:r>
          </a:p>
          <a:p>
            <a:pPr algn="l">
              <a:spcBef>
                <a:spcPts val="0"/>
              </a:spcBef>
              <a:spcAft>
                <a:spcPts val="300"/>
              </a:spcAft>
            </a:pPr>
            <a:r>
              <a:rPr sz="1250" b="0" i="0">
                <a:solidFill>
                  <a:srgbClr val="1F2937"/>
                </a:solidFill>
                <a:latin typeface="Calibri"/>
              </a:rPr>
              <a:t>• Phân bổ tính toán theo độ đồng thuận — câu chắc chắn xong trong một lượt rẻ, chỉ phần đuôi bất định mới cần thêm.</a:t>
            </a:r>
          </a:p>
          <a:p>
            <a:pPr algn="l">
              <a:spcBef>
                <a:spcPts val="0"/>
              </a:spcBef>
              <a:spcAft>
                <a:spcPts val="300"/>
              </a:spcAft>
            </a:pPr>
            <a:r>
              <a:rPr sz="1250" b="0" i="0">
                <a:solidFill>
                  <a:srgbClr val="1F2937"/>
                </a:solidFill>
                <a:latin typeface="Calibri"/>
              </a:rPr>
              <a:t>• Checkpoint mỗi câu + tự khôi phục — container bị ngắt vẫn tiếp tục, không tính toán lại từ đầu.</a:t>
            </a:r>
          </a:p>
          <a:p>
            <a:pPr algn="l">
              <a:spcBef>
                <a:spcPts val="0"/>
              </a:spcBef>
              <a:spcAft>
                <a:spcPts val="300"/>
              </a:spcAft>
            </a:pPr>
            <a:r>
              <a:rPr sz="1250" b="0" i="0">
                <a:solidFill>
                  <a:srgbClr val="1F2937"/>
                </a:solidFill>
                <a:latin typeface="Calibri"/>
              </a:rPr>
              <a:t>• Một mô hình duy nhất, không khâu truy hồi/giám định ngoài → đường suy luận ngắn và tất định.</a:t>
            </a:r>
          </a:p>
        </p:txBody>
      </p:sp>
      <p:sp>
        <p:nvSpPr>
          <p:cNvPr id="11" name="TextBox 10"/>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09 · Định vị kết quả</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83.59 tiệm cận giới hạn thực tế của một mô hình ≤5B; đây là kết luận có dữ liệu, không phải dừng sớm.</a:t>
            </a:r>
          </a:p>
        </p:txBody>
      </p:sp>
      <p:sp>
        <p:nvSpPr>
          <p:cNvPr id="6" name="Rectangle 5"/>
          <p:cNvSpPr/>
          <p:nvPr/>
        </p:nvSpPr>
        <p:spPr>
          <a:xfrm>
            <a:off x="822960" y="2240280"/>
            <a:ext cx="3291840" cy="1554480"/>
          </a:xfrm>
          <a:prstGeom prst="rect">
            <a:avLst/>
          </a:prstGeom>
          <a:solidFill>
            <a:srgbClr val="FFFFFF"/>
          </a:solidFill>
          <a:ln w="1905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240280"/>
            <a:ext cx="3291840" cy="1554480"/>
          </a:xfrm>
          <a:prstGeom prst="rect">
            <a:avLst/>
          </a:prstGeom>
          <a:noFill/>
        </p:spPr>
        <p:txBody>
          <a:bodyPr wrap="square" anchor="ctr">
            <a:spAutoFit/>
          </a:bodyPr>
          <a:lstStyle/>
          <a:p>
            <a:pPr algn="ctr">
              <a:spcBef>
                <a:spcPts val="0"/>
              </a:spcBef>
              <a:spcAft>
                <a:spcPts val="400"/>
              </a:spcAft>
            </a:pPr>
            <a:r>
              <a:rPr sz="2700" b="1" i="0">
                <a:solidFill>
                  <a:srgbClr val="6B7280"/>
                </a:solidFill>
                <a:latin typeface="Calibri"/>
              </a:rPr>
              <a:t>4</a:t>
            </a:r>
          </a:p>
          <a:p>
            <a:pPr algn="ctr">
              <a:spcBef>
                <a:spcPts val="0"/>
              </a:spcBef>
              <a:spcAft>
                <a:spcPts val="400"/>
              </a:spcAft>
            </a:pPr>
            <a:r>
              <a:rPr sz="1150" b="0" i="0">
                <a:solidFill>
                  <a:srgbClr val="1F2937"/>
                </a:solidFill>
                <a:latin typeface="Calibri"/>
              </a:rPr>
              <a:t>đòn bẩy đã đo
(FT, RAG, TIR, k5)</a:t>
            </a:r>
          </a:p>
        </p:txBody>
      </p:sp>
      <p:sp>
        <p:nvSpPr>
          <p:cNvPr id="8" name="Rectangle 7"/>
          <p:cNvSpPr/>
          <p:nvPr/>
        </p:nvSpPr>
        <p:spPr>
          <a:xfrm>
            <a:off x="4480560" y="2240280"/>
            <a:ext cx="3291840" cy="1554480"/>
          </a:xfrm>
          <a:prstGeom prst="rect">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2240280"/>
            <a:ext cx="3291840" cy="1554480"/>
          </a:xfrm>
          <a:prstGeom prst="rect">
            <a:avLst/>
          </a:prstGeom>
          <a:noFill/>
        </p:spPr>
        <p:txBody>
          <a:bodyPr wrap="square" anchor="ctr">
            <a:spAutoFit/>
          </a:bodyPr>
          <a:lstStyle/>
          <a:p>
            <a:pPr algn="ctr">
              <a:spcBef>
                <a:spcPts val="0"/>
              </a:spcBef>
              <a:spcAft>
                <a:spcPts val="400"/>
              </a:spcAft>
            </a:pPr>
            <a:r>
              <a:rPr sz="2700" b="1" i="0">
                <a:solidFill>
                  <a:srgbClr val="B91C1C"/>
                </a:solidFill>
                <a:latin typeface="Calibri"/>
              </a:rPr>
              <a:t>0</a:t>
            </a:r>
          </a:p>
          <a:p>
            <a:pPr algn="ctr">
              <a:spcBef>
                <a:spcPts val="0"/>
              </a:spcBef>
              <a:spcAft>
                <a:spcPts val="400"/>
              </a:spcAft>
            </a:pPr>
            <a:r>
              <a:rPr sz="1150" b="0" i="0">
                <a:solidFill>
                  <a:srgbClr val="1F2937"/>
                </a:solidFill>
                <a:latin typeface="Calibri"/>
              </a:rPr>
              <a:t>đòn bẩy thắng sạch
ngoài self‑consistency</a:t>
            </a:r>
          </a:p>
        </p:txBody>
      </p:sp>
      <p:sp>
        <p:nvSpPr>
          <p:cNvPr id="10" name="Rectangle 9"/>
          <p:cNvSpPr/>
          <p:nvPr/>
        </p:nvSpPr>
        <p:spPr>
          <a:xfrm>
            <a:off x="8138160" y="2240280"/>
            <a:ext cx="3291840" cy="1554480"/>
          </a:xfrm>
          <a:prstGeom prst="rect">
            <a:avLst/>
          </a:prstGeom>
          <a:solidFill>
            <a:srgbClr val="FFFFFF"/>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0" y="2240280"/>
            <a:ext cx="3291840" cy="1554480"/>
          </a:xfrm>
          <a:prstGeom prst="rect">
            <a:avLst/>
          </a:prstGeom>
          <a:noFill/>
        </p:spPr>
        <p:txBody>
          <a:bodyPr wrap="square" anchor="ctr">
            <a:spAutoFit/>
          </a:bodyPr>
          <a:lstStyle/>
          <a:p>
            <a:pPr algn="ctr">
              <a:spcBef>
                <a:spcPts val="0"/>
              </a:spcBef>
              <a:spcAft>
                <a:spcPts val="400"/>
              </a:spcAft>
            </a:pPr>
            <a:r>
              <a:rPr sz="2700" b="1" i="0">
                <a:solidFill>
                  <a:srgbClr val="15803D"/>
                </a:solidFill>
                <a:latin typeface="Calibri"/>
              </a:rPr>
              <a:t>100%</a:t>
            </a:r>
          </a:p>
          <a:p>
            <a:pPr algn="ctr">
              <a:spcBef>
                <a:spcPts val="0"/>
              </a:spcBef>
              <a:spcAft>
                <a:spcPts val="400"/>
              </a:spcAft>
            </a:pPr>
            <a:r>
              <a:rPr sz="1150" b="0" i="0">
                <a:solidFill>
                  <a:srgbClr val="1F2937"/>
                </a:solidFill>
                <a:latin typeface="Calibri"/>
              </a:rPr>
              <a:t>quyết định dựa
số liệu đo được</a:t>
            </a:r>
          </a:p>
        </p:txBody>
      </p:sp>
      <p:sp>
        <p:nvSpPr>
          <p:cNvPr id="12" name="TextBox 11"/>
          <p:cNvSpPr txBox="1"/>
          <p:nvPr/>
        </p:nvSpPr>
        <p:spPr>
          <a:xfrm>
            <a:off x="640080" y="4160520"/>
            <a:ext cx="10972800" cy="1737360"/>
          </a:xfrm>
          <a:prstGeom prst="rect">
            <a:avLst/>
          </a:prstGeom>
          <a:noFill/>
        </p:spPr>
        <p:txBody>
          <a:bodyPr wrap="square" anchor="t">
            <a:spAutoFit/>
          </a:bodyPr>
          <a:lstStyle/>
          <a:p>
            <a:pPr algn="l">
              <a:spcBef>
                <a:spcPts val="0"/>
              </a:spcBef>
              <a:spcAft>
                <a:spcPts val="300"/>
              </a:spcAft>
            </a:pPr>
            <a:r>
              <a:rPr sz="1400" b="1" i="0">
                <a:solidFill>
                  <a:srgbClr val="C2550B"/>
                </a:solidFill>
                <a:latin typeface="Calibri"/>
              </a:rPr>
              <a:t>Mọi đòn bẩy còn lại đều nằm trong sai số hoặc gây hại khi đo sạch</a:t>
            </a:r>
            <a:r>
              <a:rPr sz="1300" b="0" i="0">
                <a:solidFill>
                  <a:srgbClr val="1F2937"/>
                </a:solidFill>
                <a:latin typeface="Calibri"/>
              </a:rPr>
              <a:t> — bằng chứng rằng base Qwen3‑4B đã gần trần của những gì kỹ thuật runtime có thể đạt trên phân phối này.</a:t>
            </a:r>
          </a:p>
          <a:p>
            <a:pPr algn="l">
              <a:spcBef>
                <a:spcPts val="0"/>
              </a:spcBef>
              <a:spcAft>
                <a:spcPts val="300"/>
              </a:spcAft>
            </a:pPr>
            <a:r>
              <a:rPr sz="1300" b="0" i="0">
                <a:solidFill>
                  <a:srgbClr val="1F2937"/>
                </a:solidFill>
                <a:latin typeface="Calibri"/>
              </a:rPr>
              <a:t>Đường tăng điểm tiếp theo (nếu có) là thêm dữ liệu trắc nghiệm đa môn — một bài toán thu thập dữ liệu, không phải kỹ thuật runtime.</a:t>
            </a:r>
          </a:p>
          <a:p>
            <a:pPr algn="l">
              <a:spcBef>
                <a:spcPts val="0"/>
              </a:spcBef>
              <a:spcAft>
                <a:spcPts val="300"/>
              </a:spcAft>
            </a:pPr>
            <a:r>
              <a:rPr sz="1300" b="0" i="1">
                <a:solidFill>
                  <a:srgbClr val="15803D"/>
                </a:solidFill>
                <a:latin typeface="Calibri"/>
              </a:rPr>
              <a:t>Tài liệu trình bày số liệu đo được, không cam kết số liệu chưa kiểm chứng.</a:t>
            </a:r>
          </a:p>
        </p:txBody>
      </p:sp>
      <p:sp>
        <p:nvSpPr>
          <p:cNvPr id="13" name="TextBox 12"/>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0624"/>
            <a:ext cx="10972800" cy="320040"/>
          </a:xfrm>
          <a:prstGeom prst="rect">
            <a:avLst/>
          </a:prstGeom>
          <a:noFill/>
        </p:spPr>
        <p:txBody>
          <a:bodyPr wrap="square" anchor="t">
            <a:spAutoFit/>
          </a:bodyPr>
          <a:lstStyle/>
          <a:p>
            <a:pPr algn="l">
              <a:spcBef>
                <a:spcPts val="0"/>
              </a:spcBef>
              <a:spcAft>
                <a:spcPts val="300"/>
              </a:spcAft>
            </a:pPr>
            <a:r>
              <a:rPr sz="1100" b="1" i="0">
                <a:solidFill>
                  <a:srgbClr val="F97316"/>
                </a:solidFill>
                <a:latin typeface="Calibri"/>
              </a:rPr>
              <a:t>10 · Bài nộp</a:t>
            </a:r>
          </a:p>
        </p:txBody>
      </p:sp>
      <p:sp>
        <p:nvSpPr>
          <p:cNvPr id="5" name="TextBox 4"/>
          <p:cNvSpPr txBox="1"/>
          <p:nvPr/>
        </p:nvSpPr>
        <p:spPr>
          <a:xfrm>
            <a:off x="640080" y="713232"/>
            <a:ext cx="11155680" cy="1005840"/>
          </a:xfrm>
          <a:prstGeom prst="rect">
            <a:avLst/>
          </a:prstGeom>
          <a:noFill/>
        </p:spPr>
        <p:txBody>
          <a:bodyPr wrap="square" anchor="t">
            <a:spAutoFit/>
          </a:bodyPr>
          <a:lstStyle/>
          <a:p>
            <a:pPr algn="l">
              <a:spcBef>
                <a:spcPts val="0"/>
              </a:spcBef>
              <a:spcAft>
                <a:spcPts val="300"/>
              </a:spcAft>
            </a:pPr>
            <a:r>
              <a:rPr sz="2200" b="1" i="0">
                <a:solidFill>
                  <a:srgbClr val="1F2937"/>
                </a:solidFill>
                <a:latin typeface="Calibri"/>
              </a:rPr>
              <a:t>Tái lập kết quả trong container bằng hai câu lệnh; mô hình đã đóng gói sẵn bên trong.</a:t>
            </a:r>
          </a:p>
        </p:txBody>
      </p:sp>
      <p:sp>
        <p:nvSpPr>
          <p:cNvPr id="6" name="Rectangle 5"/>
          <p:cNvSpPr/>
          <p:nvPr/>
        </p:nvSpPr>
        <p:spPr>
          <a:xfrm>
            <a:off x="640080" y="2103120"/>
            <a:ext cx="10972800" cy="178308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86000"/>
            <a:ext cx="10607040" cy="1600200"/>
          </a:xfrm>
          <a:prstGeom prst="rect">
            <a:avLst/>
          </a:prstGeom>
          <a:noFill/>
        </p:spPr>
        <p:txBody>
          <a:bodyPr wrap="square" anchor="t">
            <a:spAutoFit/>
          </a:bodyPr>
          <a:lstStyle/>
          <a:p>
            <a:pPr algn="l">
              <a:spcBef>
                <a:spcPts val="0"/>
              </a:spcBef>
              <a:spcAft>
                <a:spcPts val="300"/>
              </a:spcAft>
            </a:pPr>
            <a:r>
              <a:rPr sz="1250" b="0" i="0">
                <a:solidFill>
                  <a:srgbClr val="9CA3AF"/>
                </a:solidFill>
                <a:latin typeface="Calibri"/>
              </a:rPr>
              <a:t># 1. Tải ảnh tự chứa (mô hình ≤5B đã nướng sẵn bên trong)</a:t>
            </a:r>
          </a:p>
          <a:p>
            <a:pPr algn="l">
              <a:spcBef>
                <a:spcPts val="0"/>
              </a:spcBef>
              <a:spcAft>
                <a:spcPts val="300"/>
              </a:spcAft>
            </a:pPr>
            <a:r>
              <a:rPr sz="1300" b="0" i="0">
                <a:solidFill>
                  <a:srgbClr val="86EFAC"/>
                </a:solidFill>
                <a:latin typeface="Calibri"/>
              </a:rPr>
              <a:t>docker pull hacamy12345/neko-core:qwen3-4b-selfconsist-20260618</a:t>
            </a:r>
          </a:p>
          <a:p>
            <a:pPr algn="l">
              <a:spcBef>
                <a:spcPts val="0"/>
              </a:spcBef>
              <a:spcAft>
                <a:spcPts val="300"/>
              </a:spcAft>
            </a:pPr>
            <a:r>
              <a:rPr sz="1250" b="0" i="0">
                <a:solidFill>
                  <a:srgbClr val="9CA3AF"/>
                </a:solidFill>
                <a:latin typeface="Calibri"/>
              </a:rPr>
              <a:t># 2. Chạy trên thư mục chứa private_test.csv (hoặc public_test.csv)</a:t>
            </a:r>
          </a:p>
          <a:p>
            <a:pPr algn="l">
              <a:spcBef>
                <a:spcPts val="0"/>
              </a:spcBef>
              <a:spcAft>
                <a:spcPts val="300"/>
              </a:spcAft>
            </a:pPr>
            <a:r>
              <a:rPr sz="1300" b="0" i="0">
                <a:solidFill>
                  <a:srgbClr val="86EFAC"/>
                </a:solidFill>
                <a:latin typeface="Calibri"/>
              </a:rPr>
              <a:t>docker run --rm --gpus all -v ./data:/data -v ./output:/output \</a:t>
            </a:r>
          </a:p>
          <a:p>
            <a:pPr algn="l">
              <a:spcBef>
                <a:spcPts val="0"/>
              </a:spcBef>
              <a:spcAft>
                <a:spcPts val="300"/>
              </a:spcAft>
            </a:pPr>
            <a:r>
              <a:rPr sz="1300" b="0" i="0">
                <a:solidFill>
                  <a:srgbClr val="86EFAC"/>
                </a:solidFill>
                <a:latin typeface="Calibri"/>
              </a:rPr>
              <a:t>    hacamy12345/neko-core:qwen3-4b-selfconsist-20260618     (kết quả: ./output/pred.csv)</a:t>
            </a:r>
          </a:p>
        </p:txBody>
      </p:sp>
      <p:sp>
        <p:nvSpPr>
          <p:cNvPr id="8" name="TextBox 7"/>
          <p:cNvSpPr txBox="1"/>
          <p:nvPr/>
        </p:nvSpPr>
        <p:spPr>
          <a:xfrm>
            <a:off x="640080" y="4160520"/>
            <a:ext cx="10972800" cy="1737360"/>
          </a:xfrm>
          <a:prstGeom prst="rect">
            <a:avLst/>
          </a:prstGeom>
          <a:noFill/>
        </p:spPr>
        <p:txBody>
          <a:bodyPr wrap="square" anchor="t">
            <a:spAutoFit/>
          </a:bodyPr>
          <a:lstStyle/>
          <a:p>
            <a:pPr algn="l">
              <a:spcBef>
                <a:spcPts val="0"/>
              </a:spcBef>
              <a:spcAft>
                <a:spcPts val="300"/>
              </a:spcAft>
            </a:pPr>
            <a:r>
              <a:rPr sz="1350" b="0" i="0">
                <a:solidFill>
                  <a:srgbClr val="1F2937"/>
                </a:solidFill>
                <a:latin typeface="Calibri"/>
              </a:rPr>
              <a:t>Mô hình triển khai: Qwen3‑4B‑Instruct‑2507 Q5_K_M (dense 4B, ≤5B tổng), một mô hình, ngoại tuyến, ~5GB VRAM, chạy mọi GPU NVIDIA ≥ Pascal.</a:t>
            </a:r>
          </a:p>
          <a:p>
            <a:pPr algn="l">
              <a:spcBef>
                <a:spcPts val="0"/>
              </a:spcBef>
              <a:spcAft>
                <a:spcPts val="300"/>
              </a:spcAft>
            </a:pPr>
            <a:r>
              <a:rPr sz="1300" b="0" i="0">
                <a:solidFill>
                  <a:srgbClr val="1F2937"/>
                </a:solidFill>
                <a:latin typeface="Calibri"/>
              </a:rPr>
              <a:t>Quy trình: chain‑of‑thought tự nhất quán + an‑toàn‑từ‑chối + hiệu chỉnh ràng buộc + hiệu chỉnh hợp đồng bất khả xâm phạm.</a:t>
            </a:r>
          </a:p>
          <a:p>
            <a:pPr algn="l">
              <a:spcBef>
                <a:spcPts val="0"/>
              </a:spcBef>
              <a:spcAft>
                <a:spcPts val="300"/>
              </a:spcAft>
            </a:pPr>
            <a:r>
              <a:rPr sz="1200" b="0" i="1">
                <a:solidFill>
                  <a:srgbClr val="C2550B"/>
                </a:solidFill>
                <a:latin typeface="Calibri"/>
              </a:rPr>
              <a:t>Ba tag cùng một digest (sha256:39c7891c…): :qwen3-4b-selfconsist-20260618 = :v0.7.2 = :latest. Mã nguồn + tái lập: README.md.</a:t>
            </a:r>
          </a:p>
        </p:txBody>
      </p:sp>
      <p:sp>
        <p:nvSpPr>
          <p:cNvPr id="9" name="TextBox 8"/>
          <p:cNvSpPr txBox="1"/>
          <p:nvPr/>
        </p:nvSpPr>
        <p:spPr>
          <a:xfrm>
            <a:off x="11338560" y="6446520"/>
            <a:ext cx="731520" cy="274320"/>
          </a:xfrm>
          <a:prstGeom prst="rect">
            <a:avLst/>
          </a:prstGeom>
          <a:noFill/>
        </p:spPr>
        <p:txBody>
          <a:bodyPr wrap="square" anchor="t">
            <a:spAutoFit/>
          </a:bodyPr>
          <a:lstStyle/>
          <a:p>
            <a:pPr algn="r">
              <a:spcBef>
                <a:spcPts val="0"/>
              </a:spcBef>
              <a:spcAft>
                <a:spcPts val="300"/>
              </a:spcAft>
            </a:pPr>
            <a:r>
              <a:rPr sz="1000" b="0" i="0">
                <a:solidFill>
                  <a:srgbClr val="6B728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88920"/>
            <a:ext cx="12191695" cy="5486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1097280"/>
          </a:xfrm>
          <a:prstGeom prst="rect">
            <a:avLst/>
          </a:prstGeom>
          <a:noFill/>
        </p:spPr>
        <p:txBody>
          <a:bodyPr wrap="square" anchor="t">
            <a:spAutoFit/>
          </a:bodyPr>
          <a:lstStyle/>
          <a:p>
            <a:pPr algn="l">
              <a:spcBef>
                <a:spcPts val="0"/>
              </a:spcBef>
              <a:spcAft>
                <a:spcPts val="300"/>
              </a:spcAft>
            </a:pPr>
            <a:r>
              <a:rPr sz="2500" b="1" i="0">
                <a:solidFill>
                  <a:srgbClr val="FFFFFF"/>
                </a:solidFill>
                <a:latin typeface="Calibri"/>
              </a:rPr>
              <a:t>Mô hình suy luận; hệ thống đo lường, bảo vệ khỏi 0 điểm, và chọn kỹ thuật bằng số liệu thực nghiệm.</a:t>
            </a:r>
          </a:p>
        </p:txBody>
      </p:sp>
      <p:sp>
        <p:nvSpPr>
          <p:cNvPr id="5" name="TextBox 4"/>
          <p:cNvSpPr txBox="1"/>
          <p:nvPr/>
        </p:nvSpPr>
        <p:spPr>
          <a:xfrm>
            <a:off x="822960" y="3154680"/>
            <a:ext cx="10515600" cy="1554480"/>
          </a:xfrm>
          <a:prstGeom prst="rect">
            <a:avLst/>
          </a:prstGeom>
          <a:noFill/>
        </p:spPr>
        <p:txBody>
          <a:bodyPr wrap="square" anchor="t">
            <a:spAutoFit/>
          </a:bodyPr>
          <a:lstStyle/>
          <a:p>
            <a:pPr algn="l">
              <a:spcBef>
                <a:spcPts val="0"/>
              </a:spcBef>
              <a:spcAft>
                <a:spcPts val="300"/>
              </a:spcAft>
            </a:pPr>
            <a:r>
              <a:rPr sz="1600" b="0" i="0">
                <a:solidFill>
                  <a:srgbClr val="FAF5EE"/>
                </a:solidFill>
                <a:latin typeface="Calibri"/>
              </a:rPr>
              <a:t>83.59 trên leaderboard với một mô hình ≤5B; bài nộp chạy được trên mọi GPU NVIDIA 2016→2025 (đã verify literal);</a:t>
            </a:r>
          </a:p>
          <a:p>
            <a:pPr algn="l">
              <a:spcBef>
                <a:spcPts val="0"/>
              </a:spcBef>
              <a:spcAft>
                <a:spcPts val="300"/>
              </a:spcAft>
            </a:pPr>
            <a:r>
              <a:rPr sz="1600" b="0" i="0">
                <a:solidFill>
                  <a:srgbClr val="FAF5EE"/>
                </a:solidFill>
                <a:latin typeface="Calibri"/>
              </a:rPr>
              <a:t>hợp đồng pred.csv bất khả xâm phạm; và kỷ luật đo lường loại thẳng mọi phức tạp bất lợi cho tập 2000 câu riêng.</a:t>
            </a:r>
          </a:p>
        </p:txBody>
      </p:sp>
      <p:sp>
        <p:nvSpPr>
          <p:cNvPr id="6" name="TextBox 5"/>
          <p:cNvSpPr txBox="1"/>
          <p:nvPr/>
        </p:nvSpPr>
        <p:spPr>
          <a:xfrm>
            <a:off x="822960" y="5852160"/>
            <a:ext cx="10515600" cy="457200"/>
          </a:xfrm>
          <a:prstGeom prst="rect">
            <a:avLst/>
          </a:prstGeom>
          <a:noFill/>
        </p:spPr>
        <p:txBody>
          <a:bodyPr wrap="square" anchor="t">
            <a:spAutoFit/>
          </a:bodyPr>
          <a:lstStyle/>
          <a:p>
            <a:pPr algn="l">
              <a:spcBef>
                <a:spcPts val="0"/>
              </a:spcBef>
              <a:spcAft>
                <a:spcPts val="300"/>
              </a:spcAft>
            </a:pPr>
            <a:r>
              <a:rPr sz="1300" b="0" i="1">
                <a:solidFill>
                  <a:srgbClr val="6B7280"/>
                </a:solidFill>
                <a:latin typeface="Calibri"/>
              </a:rPr>
              <a:t>Neko Core — Đại học Hàng hải Việt Nam (VMU) · HackAIthon 2026 · Bảng C (Innovator)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