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FFFFFF"/>
                </a:solidFill>
                <a:latin typeface="Calibri"/>
              </a:rPr>
              <a:t>NEKO 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FAF5EE"/>
                </a:solidFill>
                <a:latin typeface="Calibri"/>
              </a:rPr>
              <a:t>Harness suy luận config‑first cho AI Agent trắc nghiệm — HackAIthon 2026, Bảng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862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97316"/>
                </a:solidFill>
                <a:latin typeface="Calibri"/>
              </a:rPr>
              <a:t>Tài liệu thuyết minh phương pháp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FAF5EE"/>
                </a:solidFill>
                <a:latin typeface="Calibri"/>
              </a:rPr>
              <a:t>Leaderboard đã xác nhận: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88.55</a:t>
            </a:r>
            <a:r>
              <a:rPr sz="1500" b="0" i="0">
                <a:solidFill>
                  <a:srgbClr val="FAF5EE"/>
                </a:solidFill>
                <a:latin typeface="Calibri"/>
              </a:rPr>
              <a:t>   ·   Mô hình: Gemma‑4‑26B‑A4B QAT‑Q4_0 (MoE, offline)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B7280"/>
                </a:solidFill>
                <a:latin typeface="Calibri"/>
              </a:rPr>
              <a:t>Đội: ____________   ·   Trường: ____________   ·   Liên hệ: 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97316"/>
                </a:solidFill>
                <a:latin typeface="Calibri"/>
              </a:rPr>
              <a:t>01 · BÀI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1F2937"/>
                </a:solidFill>
                <a:latin typeface="Calibri"/>
              </a:rPr>
              <a:t>Một Docker offline, tự chứa — đọc /data, ghi /output/pred.csv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17320"/>
            <a:ext cx="182880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67665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Container offline (không web, không API key) đọc </a:t>
            </a:r>
            <a:r>
              <a:rPr sz="1400" b="1" i="0">
                <a:solidFill>
                  <a:srgbClr val="C2550B"/>
                </a:solidFill>
                <a:latin typeface="Calibri"/>
              </a:rPr>
              <a:t>/data/*_test.csv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, ghi </a:t>
            </a:r>
            <a:r>
              <a:rPr sz="1400" b="1" i="0">
                <a:solidFill>
                  <a:srgbClr val="C2550B"/>
                </a:solidFill>
                <a:latin typeface="Calibri"/>
              </a:rPr>
              <a:t>/output/pred.csv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 gồm 2 cột qid,answer (một chữ cái mỗi dòng).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</a:rPr>
              <a:t>Chấm trên 2000 câu private đa lĩnh vực / đa ngôn ngữ.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280"/>
                </a:solidFill>
                <a:latin typeface="Calibri"/>
              </a:rPr>
              <a:t>Mô hình cho phép: Gemma‑4 và Qwen3.5 ≤9B.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280"/>
                </a:solidFill>
                <a:latin typeface="Calibri"/>
              </a:rPr>
              <a:t>Thí sinh ship Gemma‑4‑26B‑A4B — MoE ~4B active, ~15GB, chạy local llama.cpp.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80960" y="1783080"/>
          <a:ext cx="3931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Tiêu chí</a:t>
                      </a:r>
                    </a:p>
                  </a:txBody>
                  <a:tcPr marL="73152" marR="54864" marT="27432" marB="27432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Điểm</a:t>
                      </a:r>
                    </a:p>
                  </a:txBody>
                  <a:tcPr marL="73152" marR="54864" marT="27432" marB="27432" anchor="ctr">
                    <a:solidFill>
                      <a:srgbClr val="1F293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80đ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Thời gian inference</a:t>
                      </a:r>
                    </a:p>
                  </a:txBody>
                  <a:tcPr marL="73152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10đ</a:t>
                      </a:r>
                    </a:p>
                  </a:txBody>
                  <a:tcPr marL="73152" marR="54864" marT="27432" marB="27432" anchor="ctr"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Ý tưởng / tối ưu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10đ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80960" y="429768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1">
                <a:solidFill>
                  <a:srgbClr val="C2550B"/>
                </a:solidFill>
                <a:latin typeface="Calibri"/>
              </a:rPr>
              <a:t>← Tài liệu này ăn điểm Ý tưởng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97316"/>
                </a:solidFill>
                <a:latin typeface="Calibri"/>
              </a:rPr>
              <a:t>02 · TRIẾT LÝ THIẾT KẾ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1F2937"/>
                </a:solidFill>
                <a:latin typeface="Calibri"/>
              </a:rPr>
              <a:t>Để mô hình suy luận; harness điều phối và ĐO LƯỜNG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17320"/>
            <a:ext cx="182880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349240" cy="1874519"/>
          </a:xfrm>
          <a:prstGeom prst="rect">
            <a:avLst/>
          </a:prstGeom>
          <a:solidFill>
            <a:srgbClr val="FAF5EE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29968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C2550B"/>
                </a:solidFill>
                <a:latin typeface="Calibri"/>
              </a:rPr>
              <a:t>1 · Mô hình suy luận, harness đo lường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4846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Không nhồi đáp án/công thức viết tay. Cho mô hình không gian lập luận, rồi đo độ tin cậy.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828800"/>
            <a:ext cx="5349240" cy="1874519"/>
          </a:xfrm>
          <a:prstGeom prst="rect">
            <a:avLst/>
          </a:prstGeom>
          <a:solidFill>
            <a:srgbClr val="FAF5EE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29968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C2550B"/>
                </a:solidFill>
                <a:latin typeface="Calibri"/>
              </a:rPr>
              <a:t>2 · Chống overfit bằng thước đo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606040"/>
            <a:ext cx="4846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Mọi đòn bẩy chỉ ship khi tổng quát hoá — chứng minh bằng đo thật, không phải câu chuyện hợp lý.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977639"/>
            <a:ext cx="5349240" cy="1874519"/>
          </a:xfrm>
          <a:prstGeom prst="rect">
            <a:avLst/>
          </a:prstGeom>
          <a:solidFill>
            <a:srgbClr val="FAF5EE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78807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C2550B"/>
                </a:solidFill>
                <a:latin typeface="Calibri"/>
              </a:rPr>
              <a:t>3 · Đo độ bất định thật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54879"/>
            <a:ext cx="4846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Confidence = mức đồng thuận khi lấy mẫu → harness 'nhìn thấy' chỗ dễ sai, chỉ tốn compute ở đó.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3977639"/>
            <a:ext cx="5349240" cy="1874519"/>
          </a:xfrm>
          <a:prstGeom prst="rect">
            <a:avLst/>
          </a:prstGeom>
          <a:solidFill>
            <a:srgbClr val="FAF5EE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4178807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C2550B"/>
                </a:solidFill>
                <a:latin typeface="Calibri"/>
              </a:rPr>
              <a:t>4 · Ranh giới runtime/dev CỨNG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4754879"/>
            <a:ext cx="4846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Container offline tự chứa. Trace/review/phân tích chỉ ở khâu phát triển, không bao giờ ship.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97316"/>
                </a:solidFill>
                <a:latin typeface="Calibri"/>
              </a:rPr>
              <a:t>03 · KIẾN TRÚC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1F2937"/>
                </a:solidFill>
                <a:latin typeface="Calibri"/>
              </a:rPr>
              <a:t>Đường ống phân tầng, config‑first (configs/default.json)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17320"/>
            <a:ext cx="182880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5669280" cy="493776"/>
          </a:xfrm>
          <a:prstGeom prst="rect">
            <a:avLst/>
          </a:prstGeom>
          <a:solidFill>
            <a:srgbClr val="FAF5EE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84248"/>
            <a:ext cx="5303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/data CSV·JSON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377440"/>
            <a:ext cx="914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97316"/>
                </a:solidFill>
                <a:latin typeface="Calibri"/>
              </a:rPr>
              <a:t>▼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523744"/>
            <a:ext cx="5669280" cy="493776"/>
          </a:xfrm>
          <a:prstGeom prst="rect">
            <a:avLst/>
          </a:prstGeom>
          <a:solidFill>
            <a:srgbClr val="FAF5EE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87752"/>
            <a:ext cx="5303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loader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980944"/>
            <a:ext cx="914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97316"/>
                </a:solidFill>
                <a:latin typeface="Calibri"/>
              </a:rPr>
              <a:t>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127248"/>
            <a:ext cx="5669280" cy="493776"/>
          </a:xfrm>
          <a:prstGeom prst="rect">
            <a:avLst/>
          </a:prstGeom>
          <a:solidFill>
            <a:srgbClr val="FAF5EE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191256"/>
            <a:ext cx="5303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router / classifier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584448"/>
            <a:ext cx="914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97316"/>
                </a:solidFill>
                <a:latin typeface="Calibri"/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30752"/>
            <a:ext cx="5669280" cy="493776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794760"/>
            <a:ext cx="5303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solver (self‑consistency CoT)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187952"/>
            <a:ext cx="914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97316"/>
                </a:solidFill>
                <a:latin typeface="Calibri"/>
              </a:rPr>
              <a:t>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334256"/>
            <a:ext cx="5669280" cy="493776"/>
          </a:xfrm>
          <a:prstGeom prst="rect">
            <a:avLst/>
          </a:prstGeom>
          <a:solidFill>
            <a:srgbClr val="FAF5EE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398264"/>
            <a:ext cx="5303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answer normalizer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791456"/>
            <a:ext cx="914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97316"/>
                </a:solidFill>
                <a:latin typeface="Calibri"/>
              </a:rPr>
              <a:t>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937760"/>
            <a:ext cx="5669280" cy="493776"/>
          </a:xfrm>
          <a:prstGeom prst="rect">
            <a:avLst/>
          </a:prstGeom>
          <a:solidFill>
            <a:srgbClr val="FAF5EE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001768"/>
            <a:ext cx="5303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constrained + contract repair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394960"/>
            <a:ext cx="914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97316"/>
                </a:solidFill>
                <a:latin typeface="Calibri"/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541264"/>
            <a:ext cx="5669280" cy="493776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605272"/>
            <a:ext cx="5303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/output/pred.csv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0880" y="1920240"/>
            <a:ext cx="4572000" cy="36576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69480" y="2103120"/>
            <a:ext cx="420624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Vì sao kiến trúc này 'sáng tạo':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• Tầng provider sau 1 hợp đồng complete() → Gemma/Qwen hoán đổi không sửa solver.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• Policy gate + registry chặn khả năng 'chỉ‑dev' lọt vào container thi.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• Thêm ngôn ngữ / loại câu = 1 dòng config, không sửa mã.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• Trace / review / checkpoint chỉ ở dev — image nộp luôn nhỏ gọn.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97316"/>
                </a:solidFill>
                <a:latin typeface="Calibri"/>
              </a:rPr>
              <a:t>04 · HÀNH TRÌNH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1F2937"/>
                </a:solidFill>
                <a:latin typeface="Calibri"/>
              </a:rPr>
              <a:t>Đo trên leaderboard — thước đo duy nhất chúng tôi tin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17320"/>
            <a:ext cx="182880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2731272"/>
            <a:ext cx="1828800" cy="2663687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74072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6B7280"/>
                </a:solidFill>
                <a:latin typeface="Calibri"/>
              </a:rPr>
              <a:t>77.11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486400"/>
            <a:ext cx="2194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Letter‑only
(baseline)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2380650"/>
            <a:ext cx="1828800" cy="3014309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59" y="192345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97316"/>
                </a:solidFill>
                <a:latin typeface="Calibri"/>
              </a:rPr>
              <a:t>87.26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5486400"/>
            <a:ext cx="2194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Self‑consistency
CoT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2336088"/>
            <a:ext cx="1828800" cy="3058871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1878888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803D"/>
                </a:solidFill>
                <a:latin typeface="Calibri"/>
              </a:rPr>
              <a:t>88.55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5486400"/>
            <a:ext cx="2194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+ An‑toàn
từ chối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011680"/>
            <a:ext cx="2286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97316"/>
                </a:solidFill>
                <a:latin typeface="Calibri"/>
              </a:rPr>
              <a:t>+10.15pp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cho mô hình lập luận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803D"/>
                </a:solidFill>
                <a:latin typeface="Calibri"/>
              </a:rPr>
              <a:t>+1.29pp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đòn bẩy an‑toàn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6172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6B7280"/>
                </a:solidFill>
                <a:latin typeface="Calibri"/>
              </a:rPr>
              <a:t>Trần frontier (giải tay, chỉ làm mốc — không ship): 91.79. Phần còn lại = kiến‑thức‑VN + defective gold.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97316"/>
                </a:solidFill>
                <a:latin typeface="Calibri"/>
              </a:rPr>
              <a:t>05 · CÁC ĐÒN BẨY THẮNG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1F2937"/>
                </a:solidFill>
                <a:latin typeface="Calibri"/>
              </a:rPr>
              <a:t>Sáu kỹ thuật — mỗi cái đo thật, giữ lại cái sinh lời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17320"/>
            <a:ext cx="182880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35204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3520440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2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Chain‑of‑thought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+10pp. Token lập luận chính là phép tính tạo ra đáp án.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1688" y="1828800"/>
            <a:ext cx="35204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61688" y="1828800"/>
            <a:ext cx="3520440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084832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Self‑consistency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6060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Bỏ phiếu đa số + confidence = tỉ lệ đồng thuận (thật).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3296" y="1828800"/>
            <a:ext cx="35204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3296" y="1828800"/>
            <a:ext cx="3520440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2084832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An‑toàn‑từ‑chối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26060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+1.29pp. Phán đoán theo nghĩa, không từ khoá → tổng quát.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886200"/>
            <a:ext cx="35204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3520440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142232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TIR (chạy Python)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Lát toán ~25‑30%: sandbox offline, vote trên thiết lập bài.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1688" y="3886200"/>
            <a:ext cx="35204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1688" y="3886200"/>
            <a:ext cx="3520440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0288" y="4142232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Constrained decoding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0288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GBNF grammar ép chữ cái hợp lệ ở lượt sửa → 0 đoán mò.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83296" y="3886200"/>
            <a:ext cx="35204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83296" y="3886200"/>
            <a:ext cx="3520440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1896" y="4142232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Khử thiên lệch vị trí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1896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F2937"/>
                </a:solidFill>
                <a:latin typeface="Calibri"/>
              </a:rPr>
              <a:t>Hoán vị xoay vòng lựa chọn (29% câu là 10‑lựa‑chọn).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97316"/>
                </a:solidFill>
                <a:latin typeface="Calibri"/>
              </a:rPr>
              <a:t>06 · ROBUSTNESS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1F2937"/>
                </a:solidFill>
                <a:latin typeface="Calibri"/>
              </a:rPr>
              <a:t>Hợp đồng pred.csv bất khả xâm phạm — chống 0 điểm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17320"/>
            <a:ext cx="182880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Lỗi tệ nhất của bài thi: file thiếu/sót = 0 điểm cả 2000 câu. Hai đảm bảo loại bỏ khả năng đó: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14600"/>
            <a:ext cx="5349240" cy="2011680"/>
          </a:xfrm>
          <a:prstGeom prst="rect">
            <a:avLst/>
          </a:prstGeom>
          <a:solidFill>
            <a:srgbClr val="FAF5EE"/>
          </a:solidFill>
          <a:ln w="1587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724912"/>
            <a:ext cx="4846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803D"/>
                </a:solidFill>
                <a:latin typeface="Calibri"/>
              </a:rPr>
              <a:t>✓ Mọi câu đều trả lời được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29000"/>
            <a:ext cx="4846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Exception khi giải được bắt từng‑câu → thay bằng fallback tất định. Một câu lỗi không thể làm sập cả lần chạy.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514600"/>
            <a:ext cx="5349240" cy="2011680"/>
          </a:xfrm>
          <a:prstGeom prst="rect">
            <a:avLst/>
          </a:prstGeom>
          <a:solidFill>
            <a:srgbClr val="FAF5EE"/>
          </a:solidFill>
          <a:ln w="1587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724912"/>
            <a:ext cx="4846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803D"/>
                </a:solidFill>
                <a:latin typeface="Calibri"/>
              </a:rPr>
              <a:t>✓ Ghi pred.csv TRƯỚC mọi thứ có thể raise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429000"/>
            <a:ext cx="4846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Bước contract‑repair phủ đúng mọi qid với chữ cái hợp lệ (giữ nguyên dự đoán tốt). Ghi trước, validate chỉ cảnh báo.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2550B"/>
                </a:solidFill>
                <a:latin typeface="Calibri"/>
              </a:rPr>
              <a:t>Đã smoke đúng entrypoint Docker trên GPU thật: pred.csv hợp lệ, contract 40/40 · 211 test đơn vị xanh.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Loader khoan dung input: BOM‑safe, NFC dấu tiếng Việt, tên cột linh hoạt, số lựa chọn động (không gắn cứng A–D).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97316"/>
                </a:solidFill>
                <a:latin typeface="Calibri"/>
              </a:rPr>
              <a:t>07 · KỶ LUẬT CHỐNG OVERFIT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1F2937"/>
                </a:solidFill>
                <a:latin typeface="Calibri"/>
              </a:rPr>
              <a:t>Đã LOẠI gì — và vì sao (mỗi đòn bị một phép ĐO giết)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17320"/>
            <a:ext cx="182880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37360"/>
          <a:ext cx="109728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737360"/>
                <a:gridCol w="6400800"/>
              </a:tblGrid>
              <a:tr h="713232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Đòn bẩy</a:t>
                      </a:r>
                    </a:p>
                  </a:txBody>
                  <a:tcPr marL="73152" marR="54864" marT="27432" marB="27432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Kết quả đo</a:t>
                      </a:r>
                    </a:p>
                  </a:txBody>
                  <a:tcPr marL="73152" marR="54864" marT="27432" marB="27432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Vì sao loại</a:t>
                      </a:r>
                    </a:p>
                  </a:txBody>
                  <a:tcPr marL="73152" marR="54864" marT="27432" marB="27432" anchor="ctr">
                    <a:solidFill>
                      <a:srgbClr val="1F2937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RAG luật/hành chính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B91C1C"/>
                          </a:solidFill>
                          <a:latin typeface="Calibri"/>
                        </a:rPr>
                        <a:t>ÂM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civics −5pp, quant −7.5pp; trắc nghiệm đóng không có corpus để truy xuất.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maj@k voting (k=5)</a:t>
                      </a:r>
                    </a:p>
                  </a:txBody>
                  <a:tcPr marL="73152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6B7280"/>
                          </a:solidFill>
                          <a:latin typeface="Calibri"/>
                        </a:rPr>
                        <a:t>HOÀ</a:t>
                      </a:r>
                    </a:p>
                  </a:txBody>
                  <a:tcPr marL="73152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Lỗi Gemma hệ thống → mẫu đa dạng cùng đồng thuận cái SAI.</a:t>
                      </a:r>
                    </a:p>
                  </a:txBody>
                  <a:tcPr marL="73152" marR="54864" marT="27432" marB="27432" anchor="ctr">
                    <a:solidFill>
                      <a:srgbClr val="F3F4F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Quant cao hơn (Q6/Q8)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6B7280"/>
                          </a:solidFill>
                          <a:latin typeface="Calibri"/>
                        </a:rPr>
                        <a:t>HOÀ/kém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Q4 là QAT (tối ưu sẵn 4‑bit); Q6/Q8 không hơn, 2× thời gian + VRAM.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Mô hình dense 31B</a:t>
                      </a:r>
                    </a:p>
                  </a:txBody>
                  <a:tcPr marL="73152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B91C1C"/>
                          </a:solidFill>
                          <a:latin typeface="Calibri"/>
                        </a:rPr>
                        <a:t>LOẠI (Time)</a:t>
                      </a:r>
                    </a:p>
                  </a:txBody>
                  <a:tcPr marL="73152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~90s/câu → ~50h cho 2000 câu, mất trắng 10đ Time; chỉ hơn ~0.7pp.</a:t>
                      </a:r>
                    </a:p>
                  </a:txBody>
                  <a:tcPr marL="73152" marR="54864" marT="27432" marB="27432" anchor="ctr">
                    <a:solidFill>
                      <a:srgbClr val="F3F4F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Qwen3.5‑9B adjudicator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6B7280"/>
                          </a:solidFill>
                          <a:latin typeface="Calibri"/>
                        </a:rPr>
                        <a:t>không nhận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Standalone kém hơn; vote chéo là tung đồng xu + rủi ro lật câu đúng.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80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1">
                <a:solidFill>
                  <a:srgbClr val="C2550B"/>
                </a:solidFill>
                <a:latin typeface="Calibri"/>
              </a:rPr>
              <a:t>Kết quả âm cũng giá trị như kết quả dương — chúng ngăn ta ship tính năng có hại cho 2000 câu private.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97316"/>
                </a:solidFill>
                <a:latin typeface="Calibri"/>
              </a:rPr>
              <a:t>08 · TỐI ƯU ĐIỂM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1F2937"/>
                </a:solidFill>
                <a:latin typeface="Calibri"/>
              </a:rPr>
              <a:t>MoE + núm token phẳng + MTP lossless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17320"/>
            <a:ext cx="182880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59436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286000"/>
              </a:tblGrid>
              <a:tr h="47548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reasoning_max_tokens</a:t>
                      </a:r>
                    </a:p>
                  </a:txBody>
                  <a:tcPr marL="73152" marR="54864" marT="27432" marB="27432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Thời gian 463</a:t>
                      </a:r>
                    </a:p>
                  </a:txBody>
                  <a:tcPr marL="73152" marR="54864" marT="27432" marB="27432" anchor="ctr">
                    <a:solidFill>
                      <a:srgbClr val="1F293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768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21.2 phút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1280</a:t>
                      </a:r>
                    </a:p>
                  </a:txBody>
                  <a:tcPr marL="73152" marR="54864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22.1 phút</a:t>
                      </a:r>
                    </a:p>
                  </a:txBody>
                  <a:tcPr marL="73152" marR="54864" marT="27432" marB="27432" anchor="ctr">
                    <a:solidFill>
                      <a:srgbClr val="F3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C2550B"/>
                          </a:solidFill>
                          <a:latin typeface="Calibri"/>
                        </a:rPr>
                        <a:t>2048  (ship)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22.6 phút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160520"/>
            <a:ext cx="6035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Núm token gần như PHẲNG: 2048 chỉ chậm hơn 768 +6.7% (MoE tự dừng sớm).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F2937"/>
                </a:solidFill>
                <a:latin typeface="Calibri"/>
              </a:rPr>
              <a:t>→ Trần token gần như miễn phí; 2000 câu private chạy ~1.5–1.6h ở mọi mức.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1828800"/>
            <a:ext cx="4663440" cy="3840480"/>
          </a:xfrm>
          <a:prstGeom prst="rect">
            <a:avLst/>
          </a:prstGeom>
          <a:solidFill>
            <a:srgbClr val="FAF5EE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78040" y="2057400"/>
            <a:ext cx="42062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C2550B"/>
                </a:solidFill>
                <a:latin typeface="Calibri"/>
              </a:rPr>
              <a:t>MTP — Multi‑Token Prediction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Speculative decoding: mô hình phác thảo token, mô hình gốc verify.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803D"/>
                </a:solidFill>
                <a:latin typeface="Calibri"/>
              </a:rPr>
              <a:t>→ Output GIỐNG HỆT — 0 mất accuracy.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803D"/>
                </a:solidFill>
                <a:latin typeface="Calibri"/>
              </a:rPr>
              <a:t>→ Nhanh 1.4–2.2× (thuần tốc độ).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Trực giao với quant → ship cả hai.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B7280"/>
                </a:solidFill>
                <a:latin typeface="Calibri"/>
              </a:rPr>
              <a:t>Đã hợp nhất llama.cpp; offload GPU xác nhận; đường Docker = provider local_server.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97316"/>
                </a:solidFill>
                <a:latin typeface="Calibri"/>
              </a:rPr>
              <a:t>09 · PHÂN TÍCH CẤU TRÚC LỖI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1F2937"/>
                </a:solidFill>
                <a:latin typeface="Calibri"/>
              </a:rPr>
              <a:t>88.55 gần trần thật — và phần gỡ được là TIR, không phải Qwen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17320"/>
            <a:ext cx="182880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1F2937"/>
                </a:solidFill>
                <a:latin typeface="Calibri"/>
              </a:rPr>
              <a:t>Phân tích 31 câu mà bản 88.55 khác bản tham chiếu 91.79 (giám định độc lập + phản biện hoài nghi):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468880"/>
            <a:ext cx="329184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6B7280"/>
                </a:solidFill>
                <a:latin typeface="Calibri"/>
              </a:rPr>
              <a:t>27/31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frontier đúng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2468880"/>
            <a:ext cx="329184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260604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803D"/>
                </a:solidFill>
                <a:latin typeface="Calibri"/>
              </a:rPr>
              <a:t>16/463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24612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xác nhận gỡ được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2468880"/>
            <a:ext cx="329184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60604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B91C1C"/>
                </a:solidFill>
                <a:latin typeface="Calibri"/>
              </a:rPr>
              <a:t>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24612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knowledge‑gap
không gỡ được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60520"/>
            <a:ext cx="10972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C2550B"/>
                </a:solidFill>
                <a:latin typeface="Calibri"/>
              </a:rPr>
              <a:t>Phần gỡ được là TOÁN/LÝ xác định + suy luận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 (Henderson‑Hasselbalch, RPM động cơ, eigenvalue, kinh tế‑địa lý)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F2937"/>
                </a:solidFill>
                <a:latin typeface="Calibri"/>
              </a:rPr>
              <a:t>→ đúng thứ đòn bẩy TIR + CoT (đã xây) nhắm tới — KHÔNG phải thứ adjudicator Qwen mở khoá.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280"/>
                </a:solidFill>
                <a:latin typeface="Calibri"/>
              </a:rPr>
              <a:t>13 câu là fact hành chính VN‑2025 / trivia địa phương → xác nhận 88.55 gần trần thật của Gemma offline.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803D"/>
                </a:solidFill>
                <a:latin typeface="Calibri"/>
              </a:rPr>
              <a:t>Định vị trung thực: chúng tôi báo SỐ ĐO THẬT, không hứa số.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97316"/>
                </a:solidFill>
                <a:latin typeface="Calibri"/>
              </a:rPr>
              <a:t>10 · BÀI NỘP CUỐI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1F2937"/>
                </a:solidFill>
                <a:latin typeface="Calibri"/>
              </a:rPr>
              <a:t>Reproduce trong container — 2 lệnh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17320"/>
            <a:ext cx="182880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73736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6070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Calibri"/>
              </a:rPr>
              <a:t># 1 · kéo image tự chứa (model nướng sẵn bên trong)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86EFAC"/>
                </a:solidFill>
                <a:latin typeface="Calibri"/>
              </a:rPr>
              <a:t>docker pull hacamy12345/neko-core:gemma26b-q4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Calibri"/>
              </a:rPr>
              <a:t># 2 · chạy trên thư mục chứa public_test.csv / private_test.csv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86EFAC"/>
                </a:solidFill>
                <a:latin typeface="Calibri"/>
              </a:rPr>
              <a:t>docker run --rm --gpus all -v ./data:/data -v ./out:/output \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86EFAC"/>
                </a:solidFill>
                <a:latin typeface="Calibri"/>
              </a:rPr>
              <a:t>    hacamy12345/neko-core:gemma26b-q4   →  ./out/pred.csv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F2937"/>
                </a:solidFill>
                <a:latin typeface="Calibri"/>
              </a:rPr>
              <a:t>Mô hình ship: Gemma‑4‑26B‑A4B QAT‑Q4_0 (MoE ~15GB) — chạy mọi GPU, 0 rủi ro OOM.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Đường chạy: self‑consistency CoT (k=1, 2048) + an‑toàn‑từ‑chối + constrained‑repair + contract‑repair, gated TIR.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280"/>
                </a:solidFill>
                <a:latin typeface="Calibri"/>
              </a:rPr>
              <a:t>Leaderboard 88.55. Mọi đòn bẩy âm giữ OFF — anti‑overfit cho 2000 câu private.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C2550B"/>
                </a:solidFill>
                <a:latin typeface="Calibri"/>
              </a:rPr>
              <a:t>Tài liệu đầy đủ: docs/method-writeup-vi.md · Code + reproduce: README.md · 211 test xanh.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Mô hình suy luận. Harness đo lường. Số liệu quyết định.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AF5EE"/>
                </a:solidFill>
                <a:latin typeface="Calibri"/>
              </a:rPr>
              <a:t>Neko Core = </a:t>
            </a:r>
            <a:r>
              <a:rPr sz="1800" b="1" i="0">
                <a:solidFill>
                  <a:srgbClr val="F97316"/>
                </a:solidFill>
                <a:latin typeface="Calibri"/>
              </a:rPr>
              <a:t>88.55</a:t>
            </a:r>
            <a:r>
              <a:rPr sz="1600" b="0" i="0">
                <a:solidFill>
                  <a:srgbClr val="FAF5EE"/>
                </a:solidFill>
                <a:latin typeface="Calibri"/>
              </a:rPr>
              <a:t> trên leaderboard, hợp đồng pred.csv bất khả xâm phạm, điểm Time bảo vệ bằng MoE + MTP,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AF5EE"/>
                </a:solidFill>
                <a:latin typeface="Calibri"/>
              </a:rPr>
              <a:t>và một kỷ luật chống overfit đo‑thật cho 2000 câu private.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6B7280"/>
                </a:solidFill>
                <a:latin typeface="Calibri"/>
              </a:rPr>
              <a:t>HackAIthon 2026 · Bảng C — Innovator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