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NEKO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 i="0">
                <a:solidFill>
                  <a:srgbClr val="FAF5EE"/>
                </a:solidFill>
                <a:latin typeface="Calibri"/>
              </a:rPr>
              <a:t>AI Agent trắc nghiệm offline — thắng bằng kỷ luật đo‑thật, không bằng mô hình to hơn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97316"/>
                </a:solidFill>
                <a:latin typeface="Calibri"/>
              </a:rPr>
              <a:t>Tài liệu thuyết minh phương pháp · HackAIthon 2026 — Bảng C (Innovator)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FAF5EE"/>
                </a:solidFill>
                <a:latin typeface="Calibri"/>
              </a:rPr>
              <a:t>Leaderboard: </a:t>
            </a:r>
            <a:r>
              <a:rPr sz="1900" b="1" i="0">
                <a:solidFill>
                  <a:srgbClr val="FFFFFF"/>
                </a:solidFill>
                <a:latin typeface="Calibri"/>
              </a:rPr>
              <a:t>88.55</a:t>
            </a:r>
            <a:r>
              <a:rPr sz="1500" b="0" i="0">
                <a:solidFill>
                  <a:srgbClr val="FAF5EE"/>
                </a:solidFill>
                <a:latin typeface="Calibri"/>
              </a:rPr>
              <a:t>   ·   Mô hình: Gemma‑4‑26B‑A4B QAT‑Q4_0 (MoE ~15GB, offline)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9CED6"/>
                </a:solidFill>
                <a:latin typeface="Calibri"/>
              </a:rPr>
              <a:t>Đội: ____________   ·   Trường: ____________   ·   Liên hệ: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TÓM TẮT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Một Gemma offline 15GB đạt 88.55 nhờ ba thế mạnh — không phải nhờ mô hình lớn hơn.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3520440" cy="2880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3520440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40280"/>
            <a:ext cx="297180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97316"/>
                </a:solidFill>
                <a:latin typeface="Calibri"/>
              </a:rPr>
              <a:t>Engine đo‑thật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Self‑consistency CoT đưa accuracy 77.11 → 88.55 trên leaderboard. Mỗi đòn bẩy chỉ giữ khi đo được nó sinh lời.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057400"/>
            <a:ext cx="3520440" cy="2880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2057400"/>
            <a:ext cx="3520440" cy="14630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240280"/>
            <a:ext cx="297180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5803D"/>
                </a:solidFill>
                <a:latin typeface="Calibri"/>
              </a:rPr>
              <a:t>Bất khả xâm phạm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Hợp đồng pred.csv: một câu lỗi không thể làm mất trắng 2000 câu. Retry → fallback → checkpoint‑resume ba lớp.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2057400"/>
            <a:ext cx="3520440" cy="2880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2057400"/>
            <a:ext cx="3520440" cy="1463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2240280"/>
            <a:ext cx="297180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C2550B"/>
                </a:solidFill>
                <a:latin typeface="Calibri"/>
              </a:rPr>
              <a:t>Nhanh &amp; khả thi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MoE ~4B active + núm token phẳng → 2000 câu ~1.5h, điểm Time an toàn. MTP lossless để dành tăng tốc 1.4–2.2×.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1">
                <a:solidFill>
                  <a:srgbClr val="6B7280"/>
                </a:solidFill>
                <a:latin typeface="Calibri"/>
              </a:rPr>
              <a:t>Định vị trung thực: 88.55 là gần trần thật của một Gemma offline; phần còn lại là kiến‑thức‑VN không retrieval được. Chúng tôi báo số đo thật, không hứa số.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01 · BÀI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Chấm 2000 câu private theo Accuracy 80 / Time 10 / Ý tưởng 10 — nên mọi đòn bẩy phải TỔNG QUÁT HOÁ.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6751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Container </a:t>
            </a:r>
            <a:r>
              <a:rPr sz="1400" b="1" i="0">
                <a:solidFill>
                  <a:srgbClr val="C2550B"/>
                </a:solidFill>
                <a:latin typeface="Calibri"/>
              </a:rPr>
              <a:t>offline, tự chứa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 (không web, không API key) đọc </a:t>
            </a:r>
            <a:r>
              <a:rPr sz="1400" b="1" i="0">
                <a:solidFill>
                  <a:srgbClr val="C2550B"/>
                </a:solidFill>
                <a:latin typeface="Calibri"/>
              </a:rPr>
              <a:t>/data/*_test.csv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 → ghi </a:t>
            </a:r>
            <a:r>
              <a:rPr sz="1400" b="1" i="0">
                <a:solidFill>
                  <a:srgbClr val="C2550B"/>
                </a:solidFill>
                <a:latin typeface="Calibri"/>
              </a:rPr>
              <a:t>/output/pred.csv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 (qid,answer).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Bộ private đa lĩnh vực / đa ngôn ngữ → bất cứ thứ gì gắn cứng vào một câu hay một ngôn ngữ là gánh nặng, sẽ bị loại bỏ hoặc tổng quát hoá qua config.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0" y="2011680"/>
          <a:ext cx="4023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Tiêu chí Vòng‑2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80đ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Thời gian inference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10đ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C2550B"/>
                          </a:solidFill>
                          <a:latin typeface="Calibri"/>
                        </a:rPr>
                        <a:t>Ý tưởng / tối ưu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10đ ←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457200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1">
                <a:solidFill>
                  <a:srgbClr val="C2550B"/>
                </a:solidFill>
                <a:latin typeface="Calibri"/>
              </a:rPr>
              <a:t>Tài liệu này ăn điểm Ý tưởng.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02 · TRIẾT LÝ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Để mô hình SUY LUẬN; harness chỉ điều phối và ĐO LƯỜNG.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349240" cy="178308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91440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28600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1 · Mô hình suy luận, harness đo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80720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Không nhồi đáp án/công thức viết tay — cho mô hình không gian lập luận rồi đo độ tin cậy.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57400"/>
            <a:ext cx="5349240" cy="178308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91440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2 · Chống overfit bằng thước đo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80720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Một đòn bẩy chỉ ship khi tổng quát hoá, chứng minh bằng đo thật — không phải bằng một câu chuyện hợp lý.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69080"/>
            <a:ext cx="5349240" cy="178308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91440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3 · Đo độ bất định thật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81888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Confidence = mức đồng thuận khi lấy mẫu → harness 'nhìn thấy' chỗ dễ sai, chỉ tốn compute ở đó.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069080"/>
            <a:ext cx="5349240" cy="178308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4069080"/>
            <a:ext cx="91440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4 · Ranh giới runtime/dev cứng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1888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Container offline tự chứa; trace/review/phân tích chỉ ở dev, không bao giờ ship.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03 ·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Một đường ống config‑first: thêm ngôn ngữ hay loại câu chỉ tốn MỘT dòng config.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66544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/data CSV·JSON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432304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578608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334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loader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999232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145536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router / classifier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566160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712464"/>
            <a:ext cx="5486400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solver — self‑consistency CoT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133088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279392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33425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answer normalizer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700016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846320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01184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constrained + contract repair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266944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413248"/>
            <a:ext cx="5486400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46811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/output/pred.csv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2011680"/>
            <a:ext cx="4754880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0" y="2011680"/>
            <a:ext cx="4754880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2240280"/>
            <a:ext cx="42976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Vì sao thiết kế này thắng: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Một hợp đồng complete() duy nhất → Gemma/Qwen hoán đổi, không sửa solver.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Policy gate + registry → không khả năng 'chỉ‑dev' nào lọt vào container thi.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Trace/review/checkpoint chỉ ở dev → image nộp luôn nhỏ gọn, tái lập.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04 · KẾT QUẢ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Cho mô hình lập luận đưa accuracy 77.11 → 88.55 — đo thật trên leaderboard.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901055"/>
            <a:ext cx="1737360" cy="258534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43855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6B7280"/>
                </a:solidFill>
                <a:latin typeface="Calibri"/>
              </a:rPr>
              <a:t>77.11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7784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Letter‑only
(baseline)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560746"/>
            <a:ext cx="1737360" cy="2925653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10354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F97316"/>
                </a:solidFill>
                <a:latin typeface="Calibri"/>
              </a:rPr>
              <a:t>87.26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557784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Self‑consistency
CoT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79" y="2517495"/>
            <a:ext cx="1737360" cy="296890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79" y="2060295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5803D"/>
                </a:solidFill>
                <a:latin typeface="Calibri"/>
              </a:rPr>
              <a:t>88.55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79" y="557784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+ An‑toàn
từ chối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48840"/>
            <a:ext cx="2560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F97316"/>
                </a:solidFill>
                <a:latin typeface="Calibri"/>
              </a:rPr>
              <a:t>+10.15pp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cho mô hình lập luận (CoT)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15803D"/>
                </a:solidFill>
                <a:latin typeface="Calibri"/>
              </a:rPr>
              <a:t>+1.29pp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đòn bẩy an‑toàn‑từ‑chối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12648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Mốc trần frontier (giải tay, chỉ làm tham chiếu — không ship): 91.79. Phần còn lại = kiến‑thức‑VN + defective gold.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05 · PHƯƠNG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Sáu đòn bẩy — mỗi cái được giữ lại vì ĐO ĐƯỢC nó sinh lời.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35204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240280"/>
            <a:ext cx="3035808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Chain‑of‑thought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+10pp. Token lập luận chính là phép tính tạo ra đáp án.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148840"/>
            <a:ext cx="35204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214884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3035808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Self‑consistency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Bỏ phiếu đa số + confidence = tỉ lệ đồng thuận (thật).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2148840"/>
            <a:ext cx="35204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214884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2240280"/>
            <a:ext cx="3035808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An‑toàn‑từ‑chối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+1.29pp. Phán đoán theo nghĩa, không từ khoá → tổng quát.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35204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114800"/>
            <a:ext cx="3035808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TIR — chạy Python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Lát toán ~25‑30%: sandbox offline, vote trên thiết lập bài.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4023360"/>
            <a:ext cx="35204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402336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4114800"/>
            <a:ext cx="3035808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Constrained decoding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GBNF grammar ép chữ cái hợp lệ ở lượt sửa → 0 đoán mò.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4023360"/>
            <a:ext cx="35204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402336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4114800"/>
            <a:ext cx="3035808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Khử thiên lệch vị trí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Hoán vị xoay vòng lựa chọn (29% câu là 10‑lựa‑chọn).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06 ·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pred.csv không bao giờ trống: một câu lỗi không thể làm mất trắng 2000 câu.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5349240" cy="1554480"/>
          </a:xfrm>
          <a:prstGeom prst="rect">
            <a:avLst/>
          </a:prstGeom>
          <a:solidFill>
            <a:srgbClr val="FAF5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94560"/>
            <a:ext cx="4800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5803D"/>
                </a:solidFill>
                <a:latin typeface="Calibri"/>
              </a:rPr>
              <a:t>✓ Mọi câu đều có đáp án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Exception khi giải được bắt từng‑câu → thay bằng fallback tất định. Một câu lỗi không thể làm sập cả lần chạy.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103120"/>
            <a:ext cx="5349240" cy="1554480"/>
          </a:xfrm>
          <a:prstGeom prst="rect">
            <a:avLst/>
          </a:prstGeom>
          <a:solidFill>
            <a:srgbClr val="FAF5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6248" y="2194560"/>
            <a:ext cx="4800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5803D"/>
                </a:solidFill>
                <a:latin typeface="Calibri"/>
              </a:rPr>
              <a:t>✓ Ghi pred.csv TRƯỚC mọi thứ có thể lỗi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contract‑repair phủ đúng mọi qid với chữ cái hợp lệ (giữ nguyên dự đoán tốt); ghi trước, validate chỉ cảnh báo.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</a:rPr>
              <a:t>Tự động tiếp tục khi gặp sự cố — ba lớp: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720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2550B"/>
                </a:solidFill>
                <a:latin typeface="Calibri"/>
              </a:rPr>
              <a:t>①  Retry từng câu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  — lỗi tạm thời (timeout/connection) thử lại với backoff lũy thừa.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2550B"/>
                </a:solidFill>
                <a:latin typeface="Calibri"/>
              </a:rPr>
              <a:t>②  Fallback từng câu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  — lỗi bất kỳ → đáp án heuristic tất định, không crash.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2550B"/>
                </a:solidFill>
                <a:latin typeface="Calibri"/>
              </a:rPr>
              <a:t>③  Checkpoint + auto‑resume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  — container restart → tiếp tục từ câu cuối, không tính lại (cứu cả Time).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Đã smoke đúng entrypoint Docker trên GPU thật: pred.csv hợp lệ, contract 40/40 · 211 test đơn vị xanh.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07 · KỶ LUẬT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Chúng tôi LOẠI nhiều đòn bẩy hơn là giữ — mỗi cái bị một phép ĐO giết.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783080"/>
                <a:gridCol w="6355080"/>
              </a:tblGrid>
              <a:tr h="6858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Đòn bẩy đã thử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Kết quả đo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Vì sao loại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RAG luật/hành chính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B91C1C"/>
                          </a:solidFill>
                          <a:latin typeface="Calibri"/>
                        </a:rPr>
                        <a:t>ÂM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civics −5pp, quant −7.5pp; trắc nghiệm đóng không có corpus để truy xuất.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maj@k voting (k=5)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6B7280"/>
                          </a:solidFill>
                          <a:latin typeface="Calibri"/>
                        </a:rPr>
                        <a:t>HOÀ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Lỗi Gemma hệ thống → các mẫu đa dạng cùng đồng thuận cái SAI.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Quant cao hơn (Q6/Q8)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6B7280"/>
                          </a:solidFill>
                          <a:latin typeface="Calibri"/>
                        </a:rPr>
                        <a:t>HOÀ/kém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Q4 là QAT (tối ưu sẵn 4‑bit); Q6/Q8 không hơn, 2× thời gian + VRAM.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Mô hình dense 31B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B91C1C"/>
                          </a:solidFill>
                          <a:latin typeface="Calibri"/>
                        </a:rPr>
                        <a:t>LOẠI: Time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~90s/câu → ~50h cho 2000 câu, mất trắng 10đ Time; chỉ hơn ~0.7pp.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Qwen3.5‑9B adjudicator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6B7280"/>
                          </a:solidFill>
                          <a:latin typeface="Calibri"/>
                        </a:rPr>
                        <a:t>không nhận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Standalone kém hơn; vote chéo là tung đồng xu + rủi ro lật câu đang đúng.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1">
                <a:solidFill>
                  <a:srgbClr val="C2550B"/>
                </a:solidFill>
                <a:latin typeface="Calibri"/>
              </a:rPr>
              <a:t>Kết quả âm cũng giá trị như kết quả dương — chúng ngăn ta ship tính năng có hại cho 2000 câu private.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08 · ĐIỂM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Điểm Time an toàn ở độ sâu suy luận tối đa: núm token gần như PHẲNG.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5852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28600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reasoning_max_tokens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Thời gian 463 câu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21.2 phút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1280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22.1 phút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C2550B"/>
                          </a:solidFill>
                          <a:latin typeface="Calibri"/>
                        </a:rPr>
                        <a:t>2048  (ship)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22.6 phút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480560"/>
            <a:ext cx="6035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2048 chỉ chậm hơn 768 </a:t>
            </a:r>
            <a:r>
              <a:rPr sz="1300" b="1" i="0">
                <a:solidFill>
                  <a:srgbClr val="C2550B"/>
                </a:solidFill>
                <a:latin typeface="Calibri"/>
              </a:rPr>
              <a:t>+6.7%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 (MoE tự dừng sớm) → trần token gần như miễn phí.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F2937"/>
                </a:solidFill>
                <a:latin typeface="Calibri"/>
              </a:rPr>
              <a:t>2000 câu private chạy ~1.5–1.6h ở mọi mức.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2103120"/>
            <a:ext cx="4754880" cy="3657600"/>
          </a:xfrm>
          <a:prstGeom prst="rect">
            <a:avLst/>
          </a:prstGeom>
          <a:solidFill>
            <a:srgbClr val="FAF5EE"/>
          </a:solidFill>
          <a:ln w="1587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4032" y="2331720"/>
            <a:ext cx="42976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MTP — Multi‑Token Prediction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Mô hình phác thảo token, mô hình gốc verify → output GIỐNG HỆT.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5803D"/>
                </a:solidFill>
                <a:latin typeface="Calibri"/>
              </a:rPr>
              <a:t>→ 0 mất accuracy.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5803D"/>
                </a:solidFill>
                <a:latin typeface="Calibri"/>
              </a:rPr>
              <a:t>→ Nhanh 1.4–2.2× (thuần tốc độ).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6B7280"/>
                </a:solidFill>
                <a:latin typeface="Calibri"/>
              </a:rPr>
              <a:t>Trực giao với quant → ship cả hai; đường Docker = provider local_server.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09 · ĐỊNH VỊ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88.55 là gần trần thật của Gemma offline — phần gỡ được là TOÁN (TIR), không phải kiến thức.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2918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B7280"/>
                </a:solidFill>
                <a:latin typeface="Calibri"/>
              </a:rPr>
              <a:t>27/31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frontier đúng
(Gemma sai thật)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194560"/>
            <a:ext cx="32918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3317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15803D"/>
                </a:solidFill>
                <a:latin typeface="Calibri"/>
              </a:rPr>
              <a:t>16/463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0175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xác nhận gỡ được
(toán + suy luận)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194560"/>
            <a:ext cx="32918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3317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B91C1C"/>
                </a:solidFill>
                <a:latin typeface="Calibri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0175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knowledge‑gap
không gỡ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Phần gỡ được là TOÁN/LÝ xác định + suy luận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 (Henderson‑Hasselbalch, RPM động cơ, eigenvalue, kinh tế‑địa lý)…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2937"/>
                </a:solidFill>
                <a:latin typeface="Calibri"/>
              </a:rPr>
              <a:t>→ đúng thứ đòn bẩy TIR + CoT (đã xây) nhắm tới — KHÔNG phải thứ một adjudicator Qwen mở khoá.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6B7280"/>
                </a:solidFill>
                <a:latin typeface="Calibri"/>
              </a:rPr>
              <a:t>13 câu là fact hành chính VN‑2025 / trivia địa phương → không mô hình hợp lệ nào phá được rẻ.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5803D"/>
                </a:solidFill>
                <a:latin typeface="Calibri"/>
              </a:rPr>
              <a:t>Chúng tôi báo SỐ ĐO THẬT, không hứa số.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10 · BÀI NỘP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Tái lập kết quả trong container chỉ với HAI lệnh.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00" cy="17830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106070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CA3AF"/>
                </a:solidFill>
                <a:latin typeface="Calibri"/>
              </a:rPr>
              <a:t># 1 · kéo image tự chứa (model nướng sẵn bên trong)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86EFAC"/>
                </a:solidFill>
                <a:latin typeface="Calibri"/>
              </a:rPr>
              <a:t>docker pull hacamy12345/neko-core:gemma26b-q4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CA3AF"/>
                </a:solidFill>
                <a:latin typeface="Calibri"/>
              </a:rPr>
              <a:t># 2 · chạy trên thư mục chứa public_test.csv / private_test.csv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86EFAC"/>
                </a:solidFill>
                <a:latin typeface="Calibri"/>
              </a:rPr>
              <a:t>docker run --rm --gpus all -v ./data:/data -v ./out:/output 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86EFAC"/>
                </a:solidFill>
                <a:latin typeface="Calibri"/>
              </a:rPr>
              <a:t>    hacamy12345/neko-core:gemma26b-q4   →  ./out/pred.csv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2937"/>
                </a:solidFill>
                <a:latin typeface="Calibri"/>
              </a:rPr>
              <a:t>Mô hình ship: Gemma‑4‑26B‑A4B QAT‑Q4_0 (MoE ~15GB) — chạy mọi GPU, 0 rủi ro OOM.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Đường chạy: self‑consistency CoT (k=1, 2048) + an‑toàn‑từ‑chối + constrained‑repair + contract‑repair, gated TIR.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2550B"/>
                </a:solidFill>
                <a:latin typeface="Calibri"/>
              </a:rPr>
              <a:t>Code + reproduce: README.md · Tài liệu đầy đủ: docs/method-writeup-vi.md · 211 test xanh.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Mô hình suy luận. Harness đo lường. Số liệu quyết định.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FAF5EE"/>
                </a:solidFill>
                <a:latin typeface="Calibri"/>
              </a:rPr>
              <a:t>88.55 trên leaderboard · hợp đồng pred.csv bất khả xâm phạm · điểm Time bảo vệ bằng MoE + MTP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FAF5EE"/>
                </a:solidFill>
                <a:latin typeface="Calibri"/>
              </a:rPr>
              <a:t>· và một kỷ luật chống overfit đo‑thật cho 2000 câu private.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1">
                <a:solidFill>
                  <a:srgbClr val="6B7280"/>
                </a:solidFill>
                <a:latin typeface="Calibri"/>
              </a:rPr>
              <a:t>Neko Core — HackAIthon 2026 · Bảng C (Innovator)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