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126480"/>
            <a:ext cx="12191695" cy="7315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011680"/>
            <a:ext cx="10515600" cy="914400"/>
          </a:xfrm>
          <a:prstGeom prst="rect">
            <a:avLst/>
          </a:prstGeom>
          <a:noFill/>
        </p:spPr>
        <p:txBody>
          <a:bodyPr wrap="square" anchor="t">
            <a:spAutoFit/>
          </a:bodyPr>
          <a:lstStyle/>
          <a:p>
            <a:pPr algn="l">
              <a:spcBef>
                <a:spcPts val="0"/>
              </a:spcBef>
              <a:spcAft>
                <a:spcPts val="300"/>
              </a:spcAft>
            </a:pPr>
            <a:r>
              <a:rPr sz="5200" b="1" i="0">
                <a:solidFill>
                  <a:srgbClr val="FFFFFF"/>
                </a:solidFill>
                <a:latin typeface="Calibri"/>
              </a:rPr>
              <a:t>NEKO CORE</a:t>
            </a:r>
          </a:p>
        </p:txBody>
      </p:sp>
      <p:sp>
        <p:nvSpPr>
          <p:cNvPr id="6" name="TextBox 5"/>
          <p:cNvSpPr txBox="1"/>
          <p:nvPr/>
        </p:nvSpPr>
        <p:spPr>
          <a:xfrm>
            <a:off x="822960" y="3017520"/>
            <a:ext cx="10607040" cy="640080"/>
          </a:xfrm>
          <a:prstGeom prst="rect">
            <a:avLst/>
          </a:prstGeom>
          <a:noFill/>
        </p:spPr>
        <p:txBody>
          <a:bodyPr wrap="square" anchor="t">
            <a:spAutoFit/>
          </a:bodyPr>
          <a:lstStyle/>
          <a:p>
            <a:pPr algn="l">
              <a:spcBef>
                <a:spcPts val="0"/>
              </a:spcBef>
              <a:spcAft>
                <a:spcPts val="300"/>
              </a:spcAft>
            </a:pPr>
            <a:r>
              <a:rPr sz="1700" b="0" i="0">
                <a:solidFill>
                  <a:srgbClr val="FAF5EE"/>
                </a:solidFill>
                <a:latin typeface="Calibri"/>
              </a:rPr>
              <a:t>Hệ thống suy luận trắc nghiệm vận hành ngoại tuyến, tối ưu theo phương pháp luận đo lường thực nghiệm</a:t>
            </a:r>
          </a:p>
        </p:txBody>
      </p:sp>
      <p:sp>
        <p:nvSpPr>
          <p:cNvPr id="7" name="TextBox 6"/>
          <p:cNvSpPr txBox="1"/>
          <p:nvPr/>
        </p:nvSpPr>
        <p:spPr>
          <a:xfrm>
            <a:off x="822960" y="3931920"/>
            <a:ext cx="10515600" cy="548640"/>
          </a:xfrm>
          <a:prstGeom prst="rect">
            <a:avLst/>
          </a:prstGeom>
          <a:noFill/>
        </p:spPr>
        <p:txBody>
          <a:bodyPr wrap="square" anchor="t">
            <a:spAutoFit/>
          </a:bodyPr>
          <a:lstStyle/>
          <a:p>
            <a:pPr algn="l">
              <a:spcBef>
                <a:spcPts val="0"/>
              </a:spcBef>
              <a:spcAft>
                <a:spcPts val="300"/>
              </a:spcAft>
            </a:pPr>
            <a:r>
              <a:rPr sz="1600" b="1" i="0">
                <a:solidFill>
                  <a:srgbClr val="F97316"/>
                </a:solidFill>
                <a:latin typeface="Calibri"/>
              </a:rPr>
              <a:t>Tài liệu thuyết minh phương pháp · HackAIthon 2026 — Bảng C (Innovator)</a:t>
            </a:r>
          </a:p>
        </p:txBody>
      </p:sp>
      <p:sp>
        <p:nvSpPr>
          <p:cNvPr id="8" name="TextBox 7"/>
          <p:cNvSpPr txBox="1"/>
          <p:nvPr/>
        </p:nvSpPr>
        <p:spPr>
          <a:xfrm>
            <a:off x="822960" y="4800600"/>
            <a:ext cx="10515600" cy="1005840"/>
          </a:xfrm>
          <a:prstGeom prst="rect">
            <a:avLst/>
          </a:prstGeom>
          <a:noFill/>
        </p:spPr>
        <p:txBody>
          <a:bodyPr wrap="square" anchor="t">
            <a:spAutoFit/>
          </a:bodyPr>
          <a:lstStyle/>
          <a:p>
            <a:pPr algn="l">
              <a:spcBef>
                <a:spcPts val="0"/>
              </a:spcBef>
              <a:spcAft>
                <a:spcPts val="300"/>
              </a:spcAft>
            </a:pPr>
            <a:r>
              <a:rPr sz="1500" b="0" i="0">
                <a:solidFill>
                  <a:srgbClr val="FAF5EE"/>
                </a:solidFill>
                <a:latin typeface="Calibri"/>
              </a:rPr>
              <a:t>Kết quả leaderboard: </a:t>
            </a:r>
            <a:r>
              <a:rPr sz="1800" b="1" i="0">
                <a:solidFill>
                  <a:srgbClr val="FFFFFF"/>
                </a:solidFill>
                <a:latin typeface="Calibri"/>
              </a:rPr>
              <a:t>88.55</a:t>
            </a:r>
            <a:r>
              <a:rPr sz="1400" b="0" i="0">
                <a:solidFill>
                  <a:srgbClr val="FAF5EE"/>
                </a:solidFill>
                <a:latin typeface="Calibri"/>
              </a:rPr>
              <a:t>   ·   Mô hình: Gemma‑4‑26B‑A4B QAT‑Q4_0 (kiến trúc MoE, ~15GB, ngoại tuyến)</a:t>
            </a:r>
          </a:p>
          <a:p>
            <a:pPr algn="l">
              <a:spcBef>
                <a:spcPts val="0"/>
              </a:spcBef>
              <a:spcAft>
                <a:spcPts val="300"/>
              </a:spcAft>
            </a:pPr>
            <a:r>
              <a:rPr sz="1200" b="0" i="1">
                <a:solidFill>
                  <a:srgbClr val="C9CED6"/>
                </a:solidFill>
                <a:latin typeface="Calibri"/>
              </a:rPr>
              <a:t>Đội: ____________   ·   Trường: ____________   ·   Liên hệ: ____________</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10972800" cy="320040"/>
          </a:xfrm>
          <a:prstGeom prst="rect">
            <a:avLst/>
          </a:prstGeom>
          <a:noFill/>
        </p:spPr>
        <p:txBody>
          <a:bodyPr wrap="square" anchor="t">
            <a:spAutoFit/>
          </a:bodyPr>
          <a:lstStyle/>
          <a:p>
            <a:pPr algn="l">
              <a:spcBef>
                <a:spcPts val="0"/>
              </a:spcBef>
              <a:spcAft>
                <a:spcPts val="300"/>
              </a:spcAft>
            </a:pPr>
            <a:r>
              <a:rPr sz="1100" b="1" i="0">
                <a:solidFill>
                  <a:srgbClr val="F97316"/>
                </a:solidFill>
                <a:latin typeface="Calibri"/>
              </a:rPr>
              <a:t>Tóm tắt</a:t>
            </a:r>
          </a:p>
        </p:txBody>
      </p:sp>
      <p:sp>
        <p:nvSpPr>
          <p:cNvPr id="5" name="TextBox 4"/>
          <p:cNvSpPr txBox="1"/>
          <p:nvPr/>
        </p:nvSpPr>
        <p:spPr>
          <a:xfrm>
            <a:off x="640080" y="713232"/>
            <a:ext cx="11155680" cy="1005840"/>
          </a:xfrm>
          <a:prstGeom prst="rect">
            <a:avLst/>
          </a:prstGeom>
          <a:noFill/>
        </p:spPr>
        <p:txBody>
          <a:bodyPr wrap="square" anchor="t">
            <a:spAutoFit/>
          </a:bodyPr>
          <a:lstStyle/>
          <a:p>
            <a:pPr algn="l">
              <a:spcBef>
                <a:spcPts val="0"/>
              </a:spcBef>
              <a:spcAft>
                <a:spcPts val="300"/>
              </a:spcAft>
            </a:pPr>
            <a:r>
              <a:rPr sz="2200" b="1" i="0">
                <a:solidFill>
                  <a:srgbClr val="1F2937"/>
                </a:solidFill>
                <a:latin typeface="Calibri"/>
              </a:rPr>
              <a:t>Mô hình Gemma‑4 ngoại tuyến (~15GB) đạt 88.55 nhờ ba trụ cột phương pháp.</a:t>
            </a:r>
          </a:p>
        </p:txBody>
      </p:sp>
      <p:sp>
        <p:nvSpPr>
          <p:cNvPr id="6" name="Rectangle 5"/>
          <p:cNvSpPr/>
          <p:nvPr/>
        </p:nvSpPr>
        <p:spPr>
          <a:xfrm>
            <a:off x="640080" y="2057400"/>
            <a:ext cx="3520440" cy="2880360"/>
          </a:xfrm>
          <a:prstGeom prst="rect">
            <a:avLst/>
          </a:prstGeom>
          <a:solidFill>
            <a:srgbClr val="FFFFFF"/>
          </a:solidFill>
          <a:ln w="19050">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057400"/>
            <a:ext cx="3520440" cy="14630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2240280"/>
            <a:ext cx="2971800" cy="2560320"/>
          </a:xfrm>
          <a:prstGeom prst="rect">
            <a:avLst/>
          </a:prstGeom>
          <a:noFill/>
        </p:spPr>
        <p:txBody>
          <a:bodyPr wrap="square" anchor="ctr">
            <a:spAutoFit/>
          </a:bodyPr>
          <a:lstStyle/>
          <a:p>
            <a:pPr algn="l">
              <a:spcBef>
                <a:spcPts val="0"/>
              </a:spcBef>
              <a:spcAft>
                <a:spcPts val="400"/>
              </a:spcAft>
            </a:pPr>
            <a:r>
              <a:rPr sz="1600" b="1" i="0">
                <a:solidFill>
                  <a:srgbClr val="F97316"/>
                </a:solidFill>
                <a:latin typeface="Calibri"/>
              </a:rPr>
              <a:t>Suy luận tự nhất quán</a:t>
            </a:r>
          </a:p>
          <a:p>
            <a:pPr algn="l">
              <a:spcBef>
                <a:spcPts val="0"/>
              </a:spcBef>
              <a:spcAft>
                <a:spcPts val="400"/>
              </a:spcAft>
            </a:pPr>
            <a:r>
              <a:rPr sz="900" b="0" i="0">
                <a:solidFill>
                  <a:srgbClr val="1F2937"/>
                </a:solidFill>
                <a:latin typeface="Calibri"/>
              </a:rPr>
              <a:t/>
            </a:r>
          </a:p>
          <a:p>
            <a:pPr algn="l">
              <a:spcBef>
                <a:spcPts val="0"/>
              </a:spcBef>
              <a:spcAft>
                <a:spcPts val="400"/>
              </a:spcAft>
            </a:pPr>
            <a:r>
              <a:rPr sz="1250" b="0" i="0">
                <a:solidFill>
                  <a:srgbClr val="1F2937"/>
                </a:solidFill>
                <a:latin typeface="Calibri"/>
              </a:rPr>
              <a:t>Cơ chế chain‑of‑thought tự nhất quán nâng độ chính xác từ 77.11 lên 88.55 (đo trên leaderboard). Mỗi cải tiến chỉ được giữ lại sau khi đo lường xác nhận hiệu quả.</a:t>
            </a:r>
          </a:p>
        </p:txBody>
      </p:sp>
      <p:sp>
        <p:nvSpPr>
          <p:cNvPr id="9" name="Rectangle 8"/>
          <p:cNvSpPr/>
          <p:nvPr/>
        </p:nvSpPr>
        <p:spPr>
          <a:xfrm>
            <a:off x="4361688" y="2057400"/>
            <a:ext cx="3520440" cy="2880360"/>
          </a:xfrm>
          <a:prstGeom prst="rect">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2057400"/>
            <a:ext cx="3520440" cy="14630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2240280"/>
            <a:ext cx="2971800" cy="2560320"/>
          </a:xfrm>
          <a:prstGeom prst="rect">
            <a:avLst/>
          </a:prstGeom>
          <a:noFill/>
        </p:spPr>
        <p:txBody>
          <a:bodyPr wrap="square" anchor="ctr">
            <a:spAutoFit/>
          </a:bodyPr>
          <a:lstStyle/>
          <a:p>
            <a:pPr algn="l">
              <a:spcBef>
                <a:spcPts val="0"/>
              </a:spcBef>
              <a:spcAft>
                <a:spcPts val="400"/>
              </a:spcAft>
            </a:pPr>
            <a:r>
              <a:rPr sz="1600" b="1" i="0">
                <a:solidFill>
                  <a:srgbClr val="15803D"/>
                </a:solidFill>
                <a:latin typeface="Calibri"/>
              </a:rPr>
              <a:t>Bảo đảm tính toàn vẹn</a:t>
            </a:r>
          </a:p>
          <a:p>
            <a:pPr algn="l">
              <a:spcBef>
                <a:spcPts val="0"/>
              </a:spcBef>
              <a:spcAft>
                <a:spcPts val="400"/>
              </a:spcAft>
            </a:pPr>
            <a:r>
              <a:rPr sz="900" b="0" i="0">
                <a:solidFill>
                  <a:srgbClr val="1F2937"/>
                </a:solidFill>
                <a:latin typeface="Calibri"/>
              </a:rPr>
              <a:t/>
            </a:r>
          </a:p>
          <a:p>
            <a:pPr algn="l">
              <a:spcBef>
                <a:spcPts val="0"/>
              </a:spcBef>
              <a:spcAft>
                <a:spcPts val="400"/>
              </a:spcAft>
            </a:pPr>
            <a:r>
              <a:rPr sz="1250" b="0" i="0">
                <a:solidFill>
                  <a:srgbClr val="1F2937"/>
                </a:solidFill>
                <a:latin typeface="Calibri"/>
              </a:rPr>
              <a:t>Hợp đồng đầu ra bảo đảm tệp pred.csv luôn hợp lệ; một lỗi cục bộ không làm mất toàn bộ kết quả. Ba lớp phục hồi: thử lại, dự phòng và khôi phục theo checkpoint.</a:t>
            </a:r>
          </a:p>
        </p:txBody>
      </p:sp>
      <p:sp>
        <p:nvSpPr>
          <p:cNvPr id="12" name="Rectangle 11"/>
          <p:cNvSpPr/>
          <p:nvPr/>
        </p:nvSpPr>
        <p:spPr>
          <a:xfrm>
            <a:off x="8083296" y="2057400"/>
            <a:ext cx="3520440" cy="2880360"/>
          </a:xfrm>
          <a:prstGeom prst="rect">
            <a:avLst/>
          </a:prstGeom>
          <a:solidFill>
            <a:srgbClr val="FFFFFF"/>
          </a:solidFill>
          <a:ln w="19050">
            <a:solidFill>
              <a:srgbClr val="1F29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3296" y="2057400"/>
            <a:ext cx="3520440" cy="146304"/>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75904" y="2240280"/>
            <a:ext cx="2971800" cy="2560320"/>
          </a:xfrm>
          <a:prstGeom prst="rect">
            <a:avLst/>
          </a:prstGeom>
          <a:noFill/>
        </p:spPr>
        <p:txBody>
          <a:bodyPr wrap="square" anchor="ctr">
            <a:spAutoFit/>
          </a:bodyPr>
          <a:lstStyle/>
          <a:p>
            <a:pPr algn="l">
              <a:spcBef>
                <a:spcPts val="0"/>
              </a:spcBef>
              <a:spcAft>
                <a:spcPts val="400"/>
              </a:spcAft>
            </a:pPr>
            <a:r>
              <a:rPr sz="1600" b="1" i="0">
                <a:solidFill>
                  <a:srgbClr val="C2550B"/>
                </a:solidFill>
                <a:latin typeface="Calibri"/>
              </a:rPr>
              <a:t>Hiệu năng và khả thi</a:t>
            </a:r>
          </a:p>
          <a:p>
            <a:pPr algn="l">
              <a:spcBef>
                <a:spcPts val="0"/>
              </a:spcBef>
              <a:spcAft>
                <a:spcPts val="400"/>
              </a:spcAft>
            </a:pPr>
            <a:r>
              <a:rPr sz="900" b="0" i="0">
                <a:solidFill>
                  <a:srgbClr val="1F2937"/>
                </a:solidFill>
                <a:latin typeface="Calibri"/>
              </a:rPr>
              <a:t/>
            </a:r>
          </a:p>
          <a:p>
            <a:pPr algn="l">
              <a:spcBef>
                <a:spcPts val="0"/>
              </a:spcBef>
              <a:spcAft>
                <a:spcPts val="400"/>
              </a:spcAft>
            </a:pPr>
            <a:r>
              <a:rPr sz="1250" b="0" i="0">
                <a:solidFill>
                  <a:srgbClr val="1F2937"/>
                </a:solidFill>
                <a:latin typeface="Calibri"/>
              </a:rPr>
              <a:t>Kiến trúc MoE (~4B tham số kích hoạt) hoàn tất 2000 câu trong khoảng 1,5 giờ, bảo đảm điểm thời gian. Kỹ thuật MTP tăng tốc 1,4–2,2 lần mà không suy giảm độ chính xác.</a:t>
            </a:r>
          </a:p>
        </p:txBody>
      </p:sp>
      <p:sp>
        <p:nvSpPr>
          <p:cNvPr id="15" name="TextBox 14"/>
          <p:cNvSpPr txBox="1"/>
          <p:nvPr/>
        </p:nvSpPr>
        <p:spPr>
          <a:xfrm>
            <a:off x="640080" y="5532120"/>
            <a:ext cx="10972800" cy="640080"/>
          </a:xfrm>
          <a:prstGeom prst="rect">
            <a:avLst/>
          </a:prstGeom>
          <a:noFill/>
        </p:spPr>
        <p:txBody>
          <a:bodyPr wrap="square" anchor="t">
            <a:spAutoFit/>
          </a:bodyPr>
          <a:lstStyle/>
          <a:p>
            <a:pPr algn="l">
              <a:spcBef>
                <a:spcPts val="0"/>
              </a:spcBef>
              <a:spcAft>
                <a:spcPts val="300"/>
              </a:spcAft>
            </a:pPr>
            <a:r>
              <a:rPr sz="1200" b="0" i="1">
                <a:solidFill>
                  <a:srgbClr val="6B7280"/>
                </a:solidFill>
                <a:latin typeface="Calibri"/>
              </a:rPr>
              <a:t>Định vị khách quan: 88.55 tiệm cận giới hạn thực tế của một mô hình Gemma ngoại tuyến; phần sai số còn lại chủ yếu thuộc tri thức đặc thù không truy hồi được. Tài liệu trình bày số liệu đo được, không cam kết số liệu chưa kiểm chứng.</a:t>
            </a:r>
          </a:p>
        </p:txBody>
      </p:sp>
      <p:sp>
        <p:nvSpPr>
          <p:cNvPr id="16" name="TextBox 15"/>
          <p:cNvSpPr txBox="1"/>
          <p:nvPr/>
        </p:nvSpPr>
        <p:spPr>
          <a:xfrm>
            <a:off x="11338560" y="6446520"/>
            <a:ext cx="731520" cy="274320"/>
          </a:xfrm>
          <a:prstGeom prst="rect">
            <a:avLst/>
          </a:prstGeom>
          <a:noFill/>
        </p:spPr>
        <p:txBody>
          <a:bodyPr wrap="square" anchor="t">
            <a:spAutoFit/>
          </a:bodyPr>
          <a:lstStyle/>
          <a:p>
            <a:pPr algn="r">
              <a:spcBef>
                <a:spcPts val="0"/>
              </a:spcBef>
              <a:spcAft>
                <a:spcPts val="300"/>
              </a:spcAft>
            </a:pPr>
            <a:r>
              <a:rPr sz="1000" b="0" i="0">
                <a:solidFill>
                  <a:srgbClr val="6B728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10972800" cy="320040"/>
          </a:xfrm>
          <a:prstGeom prst="rect">
            <a:avLst/>
          </a:prstGeom>
          <a:noFill/>
        </p:spPr>
        <p:txBody>
          <a:bodyPr wrap="square" anchor="t">
            <a:spAutoFit/>
          </a:bodyPr>
          <a:lstStyle/>
          <a:p>
            <a:pPr algn="l">
              <a:spcBef>
                <a:spcPts val="0"/>
              </a:spcBef>
              <a:spcAft>
                <a:spcPts val="300"/>
              </a:spcAft>
            </a:pPr>
            <a:r>
              <a:rPr sz="1100" b="1" i="0">
                <a:solidFill>
                  <a:srgbClr val="F97316"/>
                </a:solidFill>
                <a:latin typeface="Calibri"/>
              </a:rPr>
              <a:t>01 · Bài toán</a:t>
            </a:r>
          </a:p>
        </p:txBody>
      </p:sp>
      <p:sp>
        <p:nvSpPr>
          <p:cNvPr id="5" name="TextBox 4"/>
          <p:cNvSpPr txBox="1"/>
          <p:nvPr/>
        </p:nvSpPr>
        <p:spPr>
          <a:xfrm>
            <a:off x="640080" y="713232"/>
            <a:ext cx="11155680" cy="1005840"/>
          </a:xfrm>
          <a:prstGeom prst="rect">
            <a:avLst/>
          </a:prstGeom>
          <a:noFill/>
        </p:spPr>
        <p:txBody>
          <a:bodyPr wrap="square" anchor="t">
            <a:spAutoFit/>
          </a:bodyPr>
          <a:lstStyle/>
          <a:p>
            <a:pPr algn="l">
              <a:spcBef>
                <a:spcPts val="0"/>
              </a:spcBef>
              <a:spcAft>
                <a:spcPts val="300"/>
              </a:spcAft>
            </a:pPr>
            <a:r>
              <a:rPr sz="2200" b="1" i="0">
                <a:solidFill>
                  <a:srgbClr val="1F2937"/>
                </a:solidFill>
                <a:latin typeface="Calibri"/>
              </a:rPr>
              <a:t>Bài toán yêu cầu tổng quát hóa trên 2000 câu hỏi đa lĩnh vực; chấm theo Độ chính xác 80, Thời gian 10, Ý tưởng 10.</a:t>
            </a:r>
          </a:p>
        </p:txBody>
      </p:sp>
      <p:sp>
        <p:nvSpPr>
          <p:cNvPr id="6" name="TextBox 5"/>
          <p:cNvSpPr txBox="1"/>
          <p:nvPr/>
        </p:nvSpPr>
        <p:spPr>
          <a:xfrm>
            <a:off x="640080" y="2057400"/>
            <a:ext cx="6675120" cy="2743200"/>
          </a:xfrm>
          <a:prstGeom prst="rect">
            <a:avLst/>
          </a:prstGeom>
          <a:noFill/>
        </p:spPr>
        <p:txBody>
          <a:bodyPr wrap="square" anchor="t">
            <a:spAutoFit/>
          </a:bodyPr>
          <a:lstStyle/>
          <a:p>
            <a:pPr algn="l">
              <a:spcBef>
                <a:spcPts val="0"/>
              </a:spcBef>
              <a:spcAft>
                <a:spcPts val="300"/>
              </a:spcAft>
            </a:pPr>
            <a:r>
              <a:rPr sz="1400" b="0" i="0">
                <a:solidFill>
                  <a:srgbClr val="1F2937"/>
                </a:solidFill>
                <a:latin typeface="Calibri"/>
              </a:rPr>
              <a:t>Hệ thống được đóng gói trong một container </a:t>
            </a:r>
            <a:r>
              <a:rPr sz="1400" b="1" i="0">
                <a:solidFill>
                  <a:srgbClr val="C2550B"/>
                </a:solidFill>
                <a:latin typeface="Calibri"/>
              </a:rPr>
              <a:t>ngoại tuyến, tự chứa</a:t>
            </a:r>
            <a:r>
              <a:rPr sz="1400" b="0" i="0">
                <a:solidFill>
                  <a:srgbClr val="1F2937"/>
                </a:solidFill>
                <a:latin typeface="Calibri"/>
              </a:rPr>
              <a:t> (không truy cập mạng, không cần khóa API), đọc tệp </a:t>
            </a:r>
            <a:r>
              <a:rPr sz="1400" b="1" i="0">
                <a:solidFill>
                  <a:srgbClr val="C2550B"/>
                </a:solidFill>
                <a:latin typeface="Calibri"/>
              </a:rPr>
              <a:t>/data/*_test.csv</a:t>
            </a:r>
            <a:r>
              <a:rPr sz="1400" b="0" i="0">
                <a:solidFill>
                  <a:srgbClr val="1F2937"/>
                </a:solidFill>
                <a:latin typeface="Calibri"/>
              </a:rPr>
              <a:t> và ghi kết quả ra </a:t>
            </a:r>
            <a:r>
              <a:rPr sz="1400" b="1" i="0">
                <a:solidFill>
                  <a:srgbClr val="C2550B"/>
                </a:solidFill>
                <a:latin typeface="Calibri"/>
              </a:rPr>
              <a:t>/output/pred.csv</a:t>
            </a:r>
            <a:r>
              <a:rPr sz="1400" b="0" i="0">
                <a:solidFill>
                  <a:srgbClr val="1F2937"/>
                </a:solidFill>
                <a:latin typeface="Calibri"/>
              </a:rPr>
              <a:t> với hai cột qid, answer.</a:t>
            </a:r>
          </a:p>
          <a:p>
            <a:pPr algn="l">
              <a:spcBef>
                <a:spcPts val="0"/>
              </a:spcBef>
              <a:spcAft>
                <a:spcPts val="300"/>
              </a:spcAft>
            </a:pPr>
            <a:r>
              <a:rPr sz="800" b="0" i="0">
                <a:solidFill>
                  <a:srgbClr val="1F2937"/>
                </a:solidFill>
                <a:latin typeface="Calibri"/>
              </a:rPr>
              <a:t/>
            </a:r>
          </a:p>
          <a:p>
            <a:pPr algn="l">
              <a:spcBef>
                <a:spcPts val="0"/>
              </a:spcBef>
              <a:spcAft>
                <a:spcPts val="300"/>
              </a:spcAft>
            </a:pPr>
            <a:r>
              <a:rPr sz="1400" b="0" i="0">
                <a:solidFill>
                  <a:srgbClr val="1F2937"/>
                </a:solidFill>
                <a:latin typeface="Calibri"/>
              </a:rPr>
              <a:t>Do tập kiểm thử đa lĩnh vực và đa ngôn ngữ, mọi kỹ thuật gắn cứng với một câu hỏi hay một ngôn ngữ cụ thể đều bị loại bỏ hoặc tổng quát hóa thông qua cấu hình.</a:t>
            </a:r>
          </a:p>
        </p:txBody>
      </p:sp>
      <p:graphicFrame>
        <p:nvGraphicFramePr>
          <p:cNvPr id="7" name="Table 6"/>
          <p:cNvGraphicFramePr>
            <a:graphicFrameLocks noGrp="1"/>
          </p:cNvGraphicFramePr>
          <p:nvPr/>
        </p:nvGraphicFramePr>
        <p:xfrm>
          <a:off x="7589520" y="2148840"/>
          <a:ext cx="4023360" cy="2194560"/>
        </p:xfrm>
        <a:graphic>
          <a:graphicData uri="http://schemas.openxmlformats.org/drawingml/2006/table">
            <a:tbl>
              <a:tblPr firstRow="1" bandRow="1">
                <a:tableStyleId>{5C22544A-7EE6-4342-B048-85BDC9FD1C3A}</a:tableStyleId>
              </a:tblPr>
              <a:tblGrid>
                <a:gridCol w="2834640"/>
                <a:gridCol w="1188720"/>
              </a:tblGrid>
              <a:tr h="548640">
                <a:tc>
                  <a:txBody>
                    <a:bodyPr/>
                    <a:lstStyle/>
                    <a:p>
                      <a:r>
                        <a:rPr sz="1300" b="1" i="0">
                          <a:solidFill>
                            <a:srgbClr val="FFFFFF"/>
                          </a:solidFill>
                          <a:latin typeface="Calibri"/>
                        </a:rPr>
                        <a:t>Tiêu chí Vòng 2</a:t>
                      </a:r>
                    </a:p>
                  </a:txBody>
                  <a:tcPr marL="91440" marR="54864" marT="18288" marB="18288" anchor="ctr">
                    <a:solidFill>
                      <a:srgbClr val="1F2937"/>
                    </a:solidFill>
                  </a:tcPr>
                </a:tc>
                <a:tc>
                  <a:txBody>
                    <a:bodyPr/>
                    <a:lstStyle/>
                    <a:p>
                      <a:r>
                        <a:rPr sz="1300" b="1" i="0">
                          <a:solidFill>
                            <a:srgbClr val="FFFFFF"/>
                          </a:solidFill>
                          <a:latin typeface="Calibri"/>
                        </a:rPr>
                        <a:t>Điểm</a:t>
                      </a:r>
                    </a:p>
                  </a:txBody>
                  <a:tcPr marL="91440" marR="54864" marT="18288" marB="18288" anchor="ctr">
                    <a:solidFill>
                      <a:srgbClr val="1F2937"/>
                    </a:solidFill>
                  </a:tcPr>
                </a:tc>
              </a:tr>
              <a:tr h="548640">
                <a:tc>
                  <a:txBody>
                    <a:bodyPr/>
                    <a:lstStyle/>
                    <a:p>
                      <a:r>
                        <a:rPr sz="1300" b="1" i="0">
                          <a:solidFill>
                            <a:srgbClr val="1F2937"/>
                          </a:solidFill>
                          <a:latin typeface="Calibri"/>
                        </a:rPr>
                        <a:t>Độ chính xác</a:t>
                      </a:r>
                    </a:p>
                  </a:txBody>
                  <a:tcPr marL="91440" marR="54864" marT="18288" marB="18288" anchor="ctr">
                    <a:solidFill>
                      <a:srgbClr val="FFFFFF"/>
                    </a:solidFill>
                  </a:tcPr>
                </a:tc>
                <a:tc>
                  <a:txBody>
                    <a:bodyPr/>
                    <a:lstStyle/>
                    <a:p>
                      <a:r>
                        <a:rPr sz="1300" b="0" i="0">
                          <a:solidFill>
                            <a:srgbClr val="1F2937"/>
                          </a:solidFill>
                          <a:latin typeface="Calibri"/>
                        </a:rPr>
                        <a:t>80</a:t>
                      </a:r>
                    </a:p>
                  </a:txBody>
                  <a:tcPr marL="91440" marR="54864" marT="18288" marB="18288" anchor="ctr">
                    <a:solidFill>
                      <a:srgbClr val="FFFFFF"/>
                    </a:solidFill>
                  </a:tcPr>
                </a:tc>
              </a:tr>
              <a:tr h="548640">
                <a:tc>
                  <a:txBody>
                    <a:bodyPr/>
                    <a:lstStyle/>
                    <a:p>
                      <a:r>
                        <a:rPr sz="1300" b="1" i="0">
                          <a:solidFill>
                            <a:srgbClr val="1F2937"/>
                          </a:solidFill>
                          <a:latin typeface="Calibri"/>
                        </a:rPr>
                        <a:t>Thời gian inference</a:t>
                      </a:r>
                    </a:p>
                  </a:txBody>
                  <a:tcPr marL="91440" marR="54864" marT="18288" marB="18288" anchor="ctr">
                    <a:solidFill>
                      <a:srgbClr val="F3F4F6"/>
                    </a:solidFill>
                  </a:tcPr>
                </a:tc>
                <a:tc>
                  <a:txBody>
                    <a:bodyPr/>
                    <a:lstStyle/>
                    <a:p>
                      <a:r>
                        <a:rPr sz="1300" b="0" i="0">
                          <a:solidFill>
                            <a:srgbClr val="1F2937"/>
                          </a:solidFill>
                          <a:latin typeface="Calibri"/>
                        </a:rPr>
                        <a:t>10</a:t>
                      </a:r>
                    </a:p>
                  </a:txBody>
                  <a:tcPr marL="91440" marR="54864" marT="18288" marB="18288" anchor="ctr">
                    <a:solidFill>
                      <a:srgbClr val="F3F4F6"/>
                    </a:solidFill>
                  </a:tcPr>
                </a:tc>
              </a:tr>
              <a:tr h="548640">
                <a:tc>
                  <a:txBody>
                    <a:bodyPr/>
                    <a:lstStyle/>
                    <a:p>
                      <a:r>
                        <a:rPr sz="1300" b="1" i="0">
                          <a:solidFill>
                            <a:srgbClr val="C2550B"/>
                          </a:solidFill>
                          <a:latin typeface="Calibri"/>
                        </a:rPr>
                        <a:t>Ý tưởng / tối ưu</a:t>
                      </a:r>
                    </a:p>
                  </a:txBody>
                  <a:tcPr marL="91440" marR="54864" marT="18288" marB="18288" anchor="ctr">
                    <a:solidFill>
                      <a:srgbClr val="FFFFFF"/>
                    </a:solidFill>
                  </a:tcPr>
                </a:tc>
                <a:tc>
                  <a:txBody>
                    <a:bodyPr/>
                    <a:lstStyle/>
                    <a:p>
                      <a:r>
                        <a:rPr sz="1300" b="0" i="0">
                          <a:solidFill>
                            <a:srgbClr val="1F2937"/>
                          </a:solidFill>
                          <a:latin typeface="Calibri"/>
                        </a:rPr>
                        <a:t>10</a:t>
                      </a:r>
                    </a:p>
                  </a:txBody>
                  <a:tcPr marL="91440" marR="54864" marT="18288" marB="18288" anchor="ctr">
                    <a:solidFill>
                      <a:srgbClr val="FFFFFF"/>
                    </a:solidFill>
                  </a:tcPr>
                </a:tc>
              </a:tr>
            </a:tbl>
          </a:graphicData>
        </a:graphic>
      </p:graphicFrame>
      <p:sp>
        <p:nvSpPr>
          <p:cNvPr id="8" name="TextBox 7"/>
          <p:cNvSpPr txBox="1"/>
          <p:nvPr/>
        </p:nvSpPr>
        <p:spPr>
          <a:xfrm>
            <a:off x="7589520" y="4709160"/>
            <a:ext cx="4023360" cy="365760"/>
          </a:xfrm>
          <a:prstGeom prst="rect">
            <a:avLst/>
          </a:prstGeom>
          <a:noFill/>
        </p:spPr>
        <p:txBody>
          <a:bodyPr wrap="square" anchor="t">
            <a:spAutoFit/>
          </a:bodyPr>
          <a:lstStyle/>
          <a:p>
            <a:pPr algn="l">
              <a:spcBef>
                <a:spcPts val="0"/>
              </a:spcBef>
              <a:spcAft>
                <a:spcPts val="300"/>
              </a:spcAft>
            </a:pPr>
            <a:r>
              <a:rPr sz="1150" b="0" i="1">
                <a:solidFill>
                  <a:srgbClr val="C2550B"/>
                </a:solidFill>
                <a:latin typeface="Calibri"/>
              </a:rPr>
              <a:t>Tài liệu này tương ứng với tiêu chí Ý tưởng.</a:t>
            </a:r>
          </a:p>
        </p:txBody>
      </p:sp>
      <p:sp>
        <p:nvSpPr>
          <p:cNvPr id="9" name="TextBox 8"/>
          <p:cNvSpPr txBox="1"/>
          <p:nvPr/>
        </p:nvSpPr>
        <p:spPr>
          <a:xfrm>
            <a:off x="11338560" y="6446520"/>
            <a:ext cx="731520" cy="274320"/>
          </a:xfrm>
          <a:prstGeom prst="rect">
            <a:avLst/>
          </a:prstGeom>
          <a:noFill/>
        </p:spPr>
        <p:txBody>
          <a:bodyPr wrap="square" anchor="t">
            <a:spAutoFit/>
          </a:bodyPr>
          <a:lstStyle/>
          <a:p>
            <a:pPr algn="r">
              <a:spcBef>
                <a:spcPts val="0"/>
              </a:spcBef>
              <a:spcAft>
                <a:spcPts val="300"/>
              </a:spcAft>
            </a:pPr>
            <a:r>
              <a:rPr sz="1000" b="0" i="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10972800" cy="320040"/>
          </a:xfrm>
          <a:prstGeom prst="rect">
            <a:avLst/>
          </a:prstGeom>
          <a:noFill/>
        </p:spPr>
        <p:txBody>
          <a:bodyPr wrap="square" anchor="t">
            <a:spAutoFit/>
          </a:bodyPr>
          <a:lstStyle/>
          <a:p>
            <a:pPr algn="l">
              <a:spcBef>
                <a:spcPts val="0"/>
              </a:spcBef>
              <a:spcAft>
                <a:spcPts val="300"/>
              </a:spcAft>
            </a:pPr>
            <a:r>
              <a:rPr sz="1100" b="1" i="0">
                <a:solidFill>
                  <a:srgbClr val="F97316"/>
                </a:solidFill>
                <a:latin typeface="Calibri"/>
              </a:rPr>
              <a:t>02 · Nguyên tắc thiết kế</a:t>
            </a:r>
          </a:p>
        </p:txBody>
      </p:sp>
      <p:sp>
        <p:nvSpPr>
          <p:cNvPr id="5" name="TextBox 4"/>
          <p:cNvSpPr txBox="1"/>
          <p:nvPr/>
        </p:nvSpPr>
        <p:spPr>
          <a:xfrm>
            <a:off x="640080" y="713232"/>
            <a:ext cx="11155680" cy="1005840"/>
          </a:xfrm>
          <a:prstGeom prst="rect">
            <a:avLst/>
          </a:prstGeom>
          <a:noFill/>
        </p:spPr>
        <p:txBody>
          <a:bodyPr wrap="square" anchor="t">
            <a:spAutoFit/>
          </a:bodyPr>
          <a:lstStyle/>
          <a:p>
            <a:pPr algn="l">
              <a:spcBef>
                <a:spcPts val="0"/>
              </a:spcBef>
              <a:spcAft>
                <a:spcPts val="300"/>
              </a:spcAft>
            </a:pPr>
            <a:r>
              <a:rPr sz="2200" b="1" i="0">
                <a:solidFill>
                  <a:srgbClr val="1F2937"/>
                </a:solidFill>
                <a:latin typeface="Calibri"/>
              </a:rPr>
              <a:t>Mô hình đảm nhận suy luận; hệ thống điều phối và đo lường.</a:t>
            </a:r>
          </a:p>
        </p:txBody>
      </p:sp>
      <p:sp>
        <p:nvSpPr>
          <p:cNvPr id="6" name="Rectangle 5"/>
          <p:cNvSpPr/>
          <p:nvPr/>
        </p:nvSpPr>
        <p:spPr>
          <a:xfrm>
            <a:off x="640080" y="2057400"/>
            <a:ext cx="5349240" cy="1783080"/>
          </a:xfrm>
          <a:prstGeom prst="rect">
            <a:avLst/>
          </a:prstGeom>
          <a:solidFill>
            <a:srgbClr val="F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057400"/>
            <a:ext cx="91440" cy="178308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19" y="2240280"/>
            <a:ext cx="4846320" cy="1463040"/>
          </a:xfrm>
          <a:prstGeom prst="rect">
            <a:avLst/>
          </a:prstGeom>
          <a:noFill/>
        </p:spPr>
        <p:txBody>
          <a:bodyPr wrap="square" anchor="ctr">
            <a:spAutoFit/>
          </a:bodyPr>
          <a:lstStyle/>
          <a:p>
            <a:pPr algn="l">
              <a:spcBef>
                <a:spcPts val="0"/>
              </a:spcBef>
              <a:spcAft>
                <a:spcPts val="400"/>
              </a:spcAft>
            </a:pPr>
            <a:r>
              <a:rPr sz="1500" b="1" i="0">
                <a:solidFill>
                  <a:srgbClr val="C2550B"/>
                </a:solidFill>
                <a:latin typeface="Calibri"/>
              </a:rPr>
              <a:t>1. Phân tách vai trò</a:t>
            </a:r>
          </a:p>
          <a:p>
            <a:pPr algn="l">
              <a:spcBef>
                <a:spcPts val="0"/>
              </a:spcBef>
              <a:spcAft>
                <a:spcPts val="400"/>
              </a:spcAft>
            </a:pPr>
            <a:r>
              <a:rPr sz="600" b="0" i="0">
                <a:solidFill>
                  <a:srgbClr val="1F2937"/>
                </a:solidFill>
                <a:latin typeface="Calibri"/>
              </a:rPr>
              <a:t/>
            </a:r>
          </a:p>
          <a:p>
            <a:pPr algn="l">
              <a:spcBef>
                <a:spcPts val="0"/>
              </a:spcBef>
              <a:spcAft>
                <a:spcPts val="400"/>
              </a:spcAft>
            </a:pPr>
            <a:r>
              <a:rPr sz="1250" b="0" i="0">
                <a:solidFill>
                  <a:srgbClr val="1F2937"/>
                </a:solidFill>
                <a:latin typeface="Calibri"/>
              </a:rPr>
              <a:t>Không mã hóa cứng đáp án hay công thức; mô hình thực hiện suy luận, hệ thống đo lường độ tin cậy của kết quả.</a:t>
            </a:r>
          </a:p>
        </p:txBody>
      </p:sp>
      <p:sp>
        <p:nvSpPr>
          <p:cNvPr id="9" name="Rectangle 8"/>
          <p:cNvSpPr/>
          <p:nvPr/>
        </p:nvSpPr>
        <p:spPr>
          <a:xfrm>
            <a:off x="6263640" y="2057400"/>
            <a:ext cx="5349240" cy="1783080"/>
          </a:xfrm>
          <a:prstGeom prst="rect">
            <a:avLst/>
          </a:prstGeom>
          <a:solidFill>
            <a:srgbClr val="F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63640" y="2057400"/>
            <a:ext cx="91440" cy="178308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0" y="2240280"/>
            <a:ext cx="4846320" cy="1463040"/>
          </a:xfrm>
          <a:prstGeom prst="rect">
            <a:avLst/>
          </a:prstGeom>
          <a:noFill/>
        </p:spPr>
        <p:txBody>
          <a:bodyPr wrap="square" anchor="ctr">
            <a:spAutoFit/>
          </a:bodyPr>
          <a:lstStyle/>
          <a:p>
            <a:pPr algn="l">
              <a:spcBef>
                <a:spcPts val="0"/>
              </a:spcBef>
              <a:spcAft>
                <a:spcPts val="400"/>
              </a:spcAft>
            </a:pPr>
            <a:r>
              <a:rPr sz="1500" b="1" i="0">
                <a:solidFill>
                  <a:srgbClr val="C2550B"/>
                </a:solidFill>
                <a:latin typeface="Calibri"/>
              </a:rPr>
              <a:t>2. Chống quá khớp bằng đo lường</a:t>
            </a:r>
          </a:p>
          <a:p>
            <a:pPr algn="l">
              <a:spcBef>
                <a:spcPts val="0"/>
              </a:spcBef>
              <a:spcAft>
                <a:spcPts val="400"/>
              </a:spcAft>
            </a:pPr>
            <a:r>
              <a:rPr sz="600" b="0" i="0">
                <a:solidFill>
                  <a:srgbClr val="1F2937"/>
                </a:solidFill>
                <a:latin typeface="Calibri"/>
              </a:rPr>
              <a:t/>
            </a:r>
          </a:p>
          <a:p>
            <a:pPr algn="l">
              <a:spcBef>
                <a:spcPts val="0"/>
              </a:spcBef>
              <a:spcAft>
                <a:spcPts val="400"/>
              </a:spcAft>
            </a:pPr>
            <a:r>
              <a:rPr sz="1250" b="0" i="0">
                <a:solidFill>
                  <a:srgbClr val="1F2937"/>
                </a:solidFill>
                <a:latin typeface="Calibri"/>
              </a:rPr>
              <a:t>Một kỹ thuật chỉ được triển khai khi chứng minh được khả năng tổng quát hóa bằng kết quả thực nghiệm, không dựa trên giả định.</a:t>
            </a:r>
          </a:p>
        </p:txBody>
      </p:sp>
      <p:sp>
        <p:nvSpPr>
          <p:cNvPr id="12" name="Rectangle 11"/>
          <p:cNvSpPr/>
          <p:nvPr/>
        </p:nvSpPr>
        <p:spPr>
          <a:xfrm>
            <a:off x="640080" y="4069080"/>
            <a:ext cx="5349240" cy="1783080"/>
          </a:xfrm>
          <a:prstGeom prst="rect">
            <a:avLst/>
          </a:prstGeom>
          <a:solidFill>
            <a:srgbClr val="F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069080"/>
            <a:ext cx="91440" cy="178308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19" y="4251960"/>
            <a:ext cx="4846320" cy="1463040"/>
          </a:xfrm>
          <a:prstGeom prst="rect">
            <a:avLst/>
          </a:prstGeom>
          <a:noFill/>
        </p:spPr>
        <p:txBody>
          <a:bodyPr wrap="square" anchor="ctr">
            <a:spAutoFit/>
          </a:bodyPr>
          <a:lstStyle/>
          <a:p>
            <a:pPr algn="l">
              <a:spcBef>
                <a:spcPts val="0"/>
              </a:spcBef>
              <a:spcAft>
                <a:spcPts val="400"/>
              </a:spcAft>
            </a:pPr>
            <a:r>
              <a:rPr sz="1500" b="1" i="0">
                <a:solidFill>
                  <a:srgbClr val="C2550B"/>
                </a:solidFill>
                <a:latin typeface="Calibri"/>
              </a:rPr>
              <a:t>3. Hiệu chỉnh độ bất định</a:t>
            </a:r>
          </a:p>
          <a:p>
            <a:pPr algn="l">
              <a:spcBef>
                <a:spcPts val="0"/>
              </a:spcBef>
              <a:spcAft>
                <a:spcPts val="400"/>
              </a:spcAft>
            </a:pPr>
            <a:r>
              <a:rPr sz="600" b="0" i="0">
                <a:solidFill>
                  <a:srgbClr val="1F2937"/>
                </a:solidFill>
                <a:latin typeface="Calibri"/>
              </a:rPr>
              <a:t/>
            </a:r>
          </a:p>
          <a:p>
            <a:pPr algn="l">
              <a:spcBef>
                <a:spcPts val="0"/>
              </a:spcBef>
              <a:spcAft>
                <a:spcPts val="400"/>
              </a:spcAft>
            </a:pPr>
            <a:r>
              <a:rPr sz="1250" b="0" i="0">
                <a:solidFill>
                  <a:srgbClr val="1F2937"/>
                </a:solidFill>
                <a:latin typeface="Calibri"/>
              </a:rPr>
              <a:t>Độ tin cậy được ước lượng từ mức đồng thuận giữa các mẫu suy luận, cho phép tập trung tài nguyên tính toán vào câu hỏi khó.</a:t>
            </a:r>
          </a:p>
        </p:txBody>
      </p:sp>
      <p:sp>
        <p:nvSpPr>
          <p:cNvPr id="15" name="Rectangle 14"/>
          <p:cNvSpPr/>
          <p:nvPr/>
        </p:nvSpPr>
        <p:spPr>
          <a:xfrm>
            <a:off x="6263640" y="4069080"/>
            <a:ext cx="5349240" cy="1783080"/>
          </a:xfrm>
          <a:prstGeom prst="rect">
            <a:avLst/>
          </a:prstGeom>
          <a:solidFill>
            <a:srgbClr val="F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4069080"/>
            <a:ext cx="91440" cy="178308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4251960"/>
            <a:ext cx="4846320" cy="1463040"/>
          </a:xfrm>
          <a:prstGeom prst="rect">
            <a:avLst/>
          </a:prstGeom>
          <a:noFill/>
        </p:spPr>
        <p:txBody>
          <a:bodyPr wrap="square" anchor="ctr">
            <a:spAutoFit/>
          </a:bodyPr>
          <a:lstStyle/>
          <a:p>
            <a:pPr algn="l">
              <a:spcBef>
                <a:spcPts val="0"/>
              </a:spcBef>
              <a:spcAft>
                <a:spcPts val="400"/>
              </a:spcAft>
            </a:pPr>
            <a:r>
              <a:rPr sz="1500" b="1" i="0">
                <a:solidFill>
                  <a:srgbClr val="C2550B"/>
                </a:solidFill>
                <a:latin typeface="Calibri"/>
              </a:rPr>
              <a:t>4. Ranh giới triển khai</a:t>
            </a:r>
          </a:p>
          <a:p>
            <a:pPr algn="l">
              <a:spcBef>
                <a:spcPts val="0"/>
              </a:spcBef>
              <a:spcAft>
                <a:spcPts val="400"/>
              </a:spcAft>
            </a:pPr>
            <a:r>
              <a:rPr sz="600" b="0" i="0">
                <a:solidFill>
                  <a:srgbClr val="1F2937"/>
                </a:solidFill>
                <a:latin typeface="Calibri"/>
              </a:rPr>
              <a:t/>
            </a:r>
          </a:p>
          <a:p>
            <a:pPr algn="l">
              <a:spcBef>
                <a:spcPts val="0"/>
              </a:spcBef>
              <a:spcAft>
                <a:spcPts val="400"/>
              </a:spcAft>
            </a:pPr>
            <a:r>
              <a:rPr sz="1250" b="0" i="0">
                <a:solidFill>
                  <a:srgbClr val="1F2937"/>
                </a:solidFill>
                <a:latin typeface="Calibri"/>
              </a:rPr>
              <a:t>Container ngoại tuyến và tự chứa; các công cụ truy vết, đánh giá, phân tích chỉ tồn tại trong môi trường phát triển.</a:t>
            </a:r>
          </a:p>
        </p:txBody>
      </p:sp>
      <p:sp>
        <p:nvSpPr>
          <p:cNvPr id="18" name="TextBox 17"/>
          <p:cNvSpPr txBox="1"/>
          <p:nvPr/>
        </p:nvSpPr>
        <p:spPr>
          <a:xfrm>
            <a:off x="11338560" y="6446520"/>
            <a:ext cx="731520" cy="274320"/>
          </a:xfrm>
          <a:prstGeom prst="rect">
            <a:avLst/>
          </a:prstGeom>
          <a:noFill/>
        </p:spPr>
        <p:txBody>
          <a:bodyPr wrap="square" anchor="t">
            <a:spAutoFit/>
          </a:bodyPr>
          <a:lstStyle/>
          <a:p>
            <a:pPr algn="r">
              <a:spcBef>
                <a:spcPts val="0"/>
              </a:spcBef>
              <a:spcAft>
                <a:spcPts val="300"/>
              </a:spcAft>
            </a:pPr>
            <a:r>
              <a:rPr sz="1000" b="0" i="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10972800" cy="320040"/>
          </a:xfrm>
          <a:prstGeom prst="rect">
            <a:avLst/>
          </a:prstGeom>
          <a:noFill/>
        </p:spPr>
        <p:txBody>
          <a:bodyPr wrap="square" anchor="t">
            <a:spAutoFit/>
          </a:bodyPr>
          <a:lstStyle/>
          <a:p>
            <a:pPr algn="l">
              <a:spcBef>
                <a:spcPts val="0"/>
              </a:spcBef>
              <a:spcAft>
                <a:spcPts val="300"/>
              </a:spcAft>
            </a:pPr>
            <a:r>
              <a:rPr sz="1100" b="1" i="0">
                <a:solidFill>
                  <a:srgbClr val="F97316"/>
                </a:solidFill>
                <a:latin typeface="Calibri"/>
              </a:rPr>
              <a:t>03 · Kiến trúc</a:t>
            </a:r>
          </a:p>
        </p:txBody>
      </p:sp>
      <p:sp>
        <p:nvSpPr>
          <p:cNvPr id="5" name="TextBox 4"/>
          <p:cNvSpPr txBox="1"/>
          <p:nvPr/>
        </p:nvSpPr>
        <p:spPr>
          <a:xfrm>
            <a:off x="640080" y="713232"/>
            <a:ext cx="11155680" cy="1005840"/>
          </a:xfrm>
          <a:prstGeom prst="rect">
            <a:avLst/>
          </a:prstGeom>
          <a:noFill/>
        </p:spPr>
        <p:txBody>
          <a:bodyPr wrap="square" anchor="t">
            <a:spAutoFit/>
          </a:bodyPr>
          <a:lstStyle/>
          <a:p>
            <a:pPr algn="l">
              <a:spcBef>
                <a:spcPts val="0"/>
              </a:spcBef>
              <a:spcAft>
                <a:spcPts val="300"/>
              </a:spcAft>
            </a:pPr>
            <a:r>
              <a:rPr sz="2200" b="1" i="0">
                <a:solidFill>
                  <a:srgbClr val="1F2937"/>
                </a:solidFill>
                <a:latin typeface="Calibri"/>
              </a:rPr>
              <a:t>Đường ống cấu hình hóa: bổ sung ngôn ngữ hoặc dạng câu hỏi chỉ yêu cầu thay đổi cấu hình.</a:t>
            </a:r>
          </a:p>
        </p:txBody>
      </p:sp>
      <p:sp>
        <p:nvSpPr>
          <p:cNvPr id="6" name="Rectangle 5"/>
          <p:cNvSpPr/>
          <p:nvPr/>
        </p:nvSpPr>
        <p:spPr>
          <a:xfrm>
            <a:off x="822960" y="2011680"/>
            <a:ext cx="5486400" cy="457200"/>
          </a:xfrm>
          <a:prstGeom prst="rect">
            <a:avLst/>
          </a:prstGeom>
          <a:solidFill>
            <a:srgbClr val="F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066544"/>
            <a:ext cx="5120640" cy="365760"/>
          </a:xfrm>
          <a:prstGeom prst="rect">
            <a:avLst/>
          </a:prstGeom>
          <a:noFill/>
        </p:spPr>
        <p:txBody>
          <a:bodyPr wrap="square" anchor="t">
            <a:spAutoFit/>
          </a:bodyPr>
          <a:lstStyle/>
          <a:p>
            <a:pPr algn="l">
              <a:spcBef>
                <a:spcPts val="0"/>
              </a:spcBef>
              <a:spcAft>
                <a:spcPts val="300"/>
              </a:spcAft>
            </a:pPr>
            <a:r>
              <a:rPr sz="1300" b="0" i="0">
                <a:solidFill>
                  <a:srgbClr val="1F2937"/>
                </a:solidFill>
                <a:latin typeface="Calibri"/>
              </a:rPr>
              <a:t>/data CSV·JSON</a:t>
            </a:r>
          </a:p>
        </p:txBody>
      </p:sp>
      <p:sp>
        <p:nvSpPr>
          <p:cNvPr id="8" name="TextBox 7"/>
          <p:cNvSpPr txBox="1"/>
          <p:nvPr/>
        </p:nvSpPr>
        <p:spPr>
          <a:xfrm>
            <a:off x="3246120" y="2432304"/>
            <a:ext cx="914400" cy="182880"/>
          </a:xfrm>
          <a:prstGeom prst="rect">
            <a:avLst/>
          </a:prstGeom>
          <a:noFill/>
        </p:spPr>
        <p:txBody>
          <a:bodyPr wrap="square" anchor="t">
            <a:spAutoFit/>
          </a:bodyPr>
          <a:lstStyle/>
          <a:p>
            <a:pPr algn="l">
              <a:spcBef>
                <a:spcPts val="0"/>
              </a:spcBef>
              <a:spcAft>
                <a:spcPts val="300"/>
              </a:spcAft>
            </a:pPr>
            <a:r>
              <a:rPr sz="900" b="1" i="0">
                <a:solidFill>
                  <a:srgbClr val="F97316"/>
                </a:solidFill>
                <a:latin typeface="Calibri"/>
              </a:rPr>
              <a:t>▼</a:t>
            </a:r>
          </a:p>
        </p:txBody>
      </p:sp>
      <p:sp>
        <p:nvSpPr>
          <p:cNvPr id="9" name="Rectangle 8"/>
          <p:cNvSpPr/>
          <p:nvPr/>
        </p:nvSpPr>
        <p:spPr>
          <a:xfrm>
            <a:off x="822960" y="2578608"/>
            <a:ext cx="5486400" cy="457200"/>
          </a:xfrm>
          <a:prstGeom prst="rect">
            <a:avLst/>
          </a:prstGeom>
          <a:solidFill>
            <a:srgbClr val="F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2633472"/>
            <a:ext cx="5120640" cy="365760"/>
          </a:xfrm>
          <a:prstGeom prst="rect">
            <a:avLst/>
          </a:prstGeom>
          <a:noFill/>
        </p:spPr>
        <p:txBody>
          <a:bodyPr wrap="square" anchor="t">
            <a:spAutoFit/>
          </a:bodyPr>
          <a:lstStyle/>
          <a:p>
            <a:pPr algn="l">
              <a:spcBef>
                <a:spcPts val="0"/>
              </a:spcBef>
              <a:spcAft>
                <a:spcPts val="300"/>
              </a:spcAft>
            </a:pPr>
            <a:r>
              <a:rPr sz="1300" b="0" i="0">
                <a:solidFill>
                  <a:srgbClr val="1F2937"/>
                </a:solidFill>
                <a:latin typeface="Calibri"/>
              </a:rPr>
              <a:t>loader</a:t>
            </a:r>
          </a:p>
        </p:txBody>
      </p:sp>
      <p:sp>
        <p:nvSpPr>
          <p:cNvPr id="11" name="TextBox 10"/>
          <p:cNvSpPr txBox="1"/>
          <p:nvPr/>
        </p:nvSpPr>
        <p:spPr>
          <a:xfrm>
            <a:off x="3246120" y="2999232"/>
            <a:ext cx="914400" cy="182880"/>
          </a:xfrm>
          <a:prstGeom prst="rect">
            <a:avLst/>
          </a:prstGeom>
          <a:noFill/>
        </p:spPr>
        <p:txBody>
          <a:bodyPr wrap="square" anchor="t">
            <a:spAutoFit/>
          </a:bodyPr>
          <a:lstStyle/>
          <a:p>
            <a:pPr algn="l">
              <a:spcBef>
                <a:spcPts val="0"/>
              </a:spcBef>
              <a:spcAft>
                <a:spcPts val="300"/>
              </a:spcAft>
            </a:pPr>
            <a:r>
              <a:rPr sz="900" b="1" i="0">
                <a:solidFill>
                  <a:srgbClr val="F97316"/>
                </a:solidFill>
                <a:latin typeface="Calibri"/>
              </a:rPr>
              <a:t>▼</a:t>
            </a:r>
          </a:p>
        </p:txBody>
      </p:sp>
      <p:sp>
        <p:nvSpPr>
          <p:cNvPr id="12" name="Rectangle 11"/>
          <p:cNvSpPr/>
          <p:nvPr/>
        </p:nvSpPr>
        <p:spPr>
          <a:xfrm>
            <a:off x="822960" y="3145536"/>
            <a:ext cx="5486400" cy="457200"/>
          </a:xfrm>
          <a:prstGeom prst="rect">
            <a:avLst/>
          </a:prstGeom>
          <a:solidFill>
            <a:srgbClr val="F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200400"/>
            <a:ext cx="5120640" cy="365760"/>
          </a:xfrm>
          <a:prstGeom prst="rect">
            <a:avLst/>
          </a:prstGeom>
          <a:noFill/>
        </p:spPr>
        <p:txBody>
          <a:bodyPr wrap="square" anchor="t">
            <a:spAutoFit/>
          </a:bodyPr>
          <a:lstStyle/>
          <a:p>
            <a:pPr algn="l">
              <a:spcBef>
                <a:spcPts val="0"/>
              </a:spcBef>
              <a:spcAft>
                <a:spcPts val="300"/>
              </a:spcAft>
            </a:pPr>
            <a:r>
              <a:rPr sz="1300" b="0" i="0">
                <a:solidFill>
                  <a:srgbClr val="1F2937"/>
                </a:solidFill>
                <a:latin typeface="Calibri"/>
              </a:rPr>
              <a:t>router / classifier</a:t>
            </a:r>
          </a:p>
        </p:txBody>
      </p:sp>
      <p:sp>
        <p:nvSpPr>
          <p:cNvPr id="14" name="TextBox 13"/>
          <p:cNvSpPr txBox="1"/>
          <p:nvPr/>
        </p:nvSpPr>
        <p:spPr>
          <a:xfrm>
            <a:off x="3246120" y="3566160"/>
            <a:ext cx="914400" cy="182880"/>
          </a:xfrm>
          <a:prstGeom prst="rect">
            <a:avLst/>
          </a:prstGeom>
          <a:noFill/>
        </p:spPr>
        <p:txBody>
          <a:bodyPr wrap="square" anchor="t">
            <a:spAutoFit/>
          </a:bodyPr>
          <a:lstStyle/>
          <a:p>
            <a:pPr algn="l">
              <a:spcBef>
                <a:spcPts val="0"/>
              </a:spcBef>
              <a:spcAft>
                <a:spcPts val="300"/>
              </a:spcAft>
            </a:pPr>
            <a:r>
              <a:rPr sz="900" b="1" i="0">
                <a:solidFill>
                  <a:srgbClr val="F97316"/>
                </a:solidFill>
                <a:latin typeface="Calibri"/>
              </a:rPr>
              <a:t>▼</a:t>
            </a:r>
          </a:p>
        </p:txBody>
      </p:sp>
      <p:sp>
        <p:nvSpPr>
          <p:cNvPr id="15" name="Rectangle 14"/>
          <p:cNvSpPr/>
          <p:nvPr/>
        </p:nvSpPr>
        <p:spPr>
          <a:xfrm>
            <a:off x="822960" y="3712464"/>
            <a:ext cx="5486400" cy="4572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3767328"/>
            <a:ext cx="5120640" cy="365760"/>
          </a:xfrm>
          <a:prstGeom prst="rect">
            <a:avLst/>
          </a:prstGeom>
          <a:noFill/>
        </p:spPr>
        <p:txBody>
          <a:bodyPr wrap="square" anchor="t">
            <a:spAutoFit/>
          </a:bodyPr>
          <a:lstStyle/>
          <a:p>
            <a:pPr algn="l">
              <a:spcBef>
                <a:spcPts val="0"/>
              </a:spcBef>
              <a:spcAft>
                <a:spcPts val="300"/>
              </a:spcAft>
            </a:pPr>
            <a:r>
              <a:rPr sz="1300" b="1" i="0">
                <a:solidFill>
                  <a:srgbClr val="FFFFFF"/>
                </a:solidFill>
                <a:latin typeface="Calibri"/>
              </a:rPr>
              <a:t>solver — self‑consistency CoT</a:t>
            </a:r>
          </a:p>
        </p:txBody>
      </p:sp>
      <p:sp>
        <p:nvSpPr>
          <p:cNvPr id="17" name="TextBox 16"/>
          <p:cNvSpPr txBox="1"/>
          <p:nvPr/>
        </p:nvSpPr>
        <p:spPr>
          <a:xfrm>
            <a:off x="3246120" y="4133088"/>
            <a:ext cx="914400" cy="182880"/>
          </a:xfrm>
          <a:prstGeom prst="rect">
            <a:avLst/>
          </a:prstGeom>
          <a:noFill/>
        </p:spPr>
        <p:txBody>
          <a:bodyPr wrap="square" anchor="t">
            <a:spAutoFit/>
          </a:bodyPr>
          <a:lstStyle/>
          <a:p>
            <a:pPr algn="l">
              <a:spcBef>
                <a:spcPts val="0"/>
              </a:spcBef>
              <a:spcAft>
                <a:spcPts val="300"/>
              </a:spcAft>
            </a:pPr>
            <a:r>
              <a:rPr sz="900" b="1" i="0">
                <a:solidFill>
                  <a:srgbClr val="F97316"/>
                </a:solidFill>
                <a:latin typeface="Calibri"/>
              </a:rPr>
              <a:t>▼</a:t>
            </a:r>
          </a:p>
        </p:txBody>
      </p:sp>
      <p:sp>
        <p:nvSpPr>
          <p:cNvPr id="18" name="Rectangle 17"/>
          <p:cNvSpPr/>
          <p:nvPr/>
        </p:nvSpPr>
        <p:spPr>
          <a:xfrm>
            <a:off x="822960" y="4279392"/>
            <a:ext cx="5486400" cy="457200"/>
          </a:xfrm>
          <a:prstGeom prst="rect">
            <a:avLst/>
          </a:prstGeom>
          <a:solidFill>
            <a:srgbClr val="F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4334255"/>
            <a:ext cx="5120640" cy="365760"/>
          </a:xfrm>
          <a:prstGeom prst="rect">
            <a:avLst/>
          </a:prstGeom>
          <a:noFill/>
        </p:spPr>
        <p:txBody>
          <a:bodyPr wrap="square" anchor="t">
            <a:spAutoFit/>
          </a:bodyPr>
          <a:lstStyle/>
          <a:p>
            <a:pPr algn="l">
              <a:spcBef>
                <a:spcPts val="0"/>
              </a:spcBef>
              <a:spcAft>
                <a:spcPts val="300"/>
              </a:spcAft>
            </a:pPr>
            <a:r>
              <a:rPr sz="1300" b="0" i="0">
                <a:solidFill>
                  <a:srgbClr val="1F2937"/>
                </a:solidFill>
                <a:latin typeface="Calibri"/>
              </a:rPr>
              <a:t>answer normalizer</a:t>
            </a:r>
          </a:p>
        </p:txBody>
      </p:sp>
      <p:sp>
        <p:nvSpPr>
          <p:cNvPr id="20" name="TextBox 19"/>
          <p:cNvSpPr txBox="1"/>
          <p:nvPr/>
        </p:nvSpPr>
        <p:spPr>
          <a:xfrm>
            <a:off x="3246120" y="4700016"/>
            <a:ext cx="914400" cy="182880"/>
          </a:xfrm>
          <a:prstGeom prst="rect">
            <a:avLst/>
          </a:prstGeom>
          <a:noFill/>
        </p:spPr>
        <p:txBody>
          <a:bodyPr wrap="square" anchor="t">
            <a:spAutoFit/>
          </a:bodyPr>
          <a:lstStyle/>
          <a:p>
            <a:pPr algn="l">
              <a:spcBef>
                <a:spcPts val="0"/>
              </a:spcBef>
              <a:spcAft>
                <a:spcPts val="300"/>
              </a:spcAft>
            </a:pPr>
            <a:r>
              <a:rPr sz="900" b="1" i="0">
                <a:solidFill>
                  <a:srgbClr val="F97316"/>
                </a:solidFill>
                <a:latin typeface="Calibri"/>
              </a:rPr>
              <a:t>▼</a:t>
            </a:r>
          </a:p>
        </p:txBody>
      </p:sp>
      <p:sp>
        <p:nvSpPr>
          <p:cNvPr id="21" name="Rectangle 20"/>
          <p:cNvSpPr/>
          <p:nvPr/>
        </p:nvSpPr>
        <p:spPr>
          <a:xfrm>
            <a:off x="822960" y="4846320"/>
            <a:ext cx="5486400" cy="457200"/>
          </a:xfrm>
          <a:prstGeom prst="rect">
            <a:avLst/>
          </a:prstGeom>
          <a:solidFill>
            <a:srgbClr val="FA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 y="4901184"/>
            <a:ext cx="5120640" cy="365760"/>
          </a:xfrm>
          <a:prstGeom prst="rect">
            <a:avLst/>
          </a:prstGeom>
          <a:noFill/>
        </p:spPr>
        <p:txBody>
          <a:bodyPr wrap="square" anchor="t">
            <a:spAutoFit/>
          </a:bodyPr>
          <a:lstStyle/>
          <a:p>
            <a:pPr algn="l">
              <a:spcBef>
                <a:spcPts val="0"/>
              </a:spcBef>
              <a:spcAft>
                <a:spcPts val="300"/>
              </a:spcAft>
            </a:pPr>
            <a:r>
              <a:rPr sz="1300" b="0" i="0">
                <a:solidFill>
                  <a:srgbClr val="1F2937"/>
                </a:solidFill>
                <a:latin typeface="Calibri"/>
              </a:rPr>
              <a:t>constrained + contract repair</a:t>
            </a:r>
          </a:p>
        </p:txBody>
      </p:sp>
      <p:sp>
        <p:nvSpPr>
          <p:cNvPr id="23" name="TextBox 22"/>
          <p:cNvSpPr txBox="1"/>
          <p:nvPr/>
        </p:nvSpPr>
        <p:spPr>
          <a:xfrm>
            <a:off x="3246120" y="5266944"/>
            <a:ext cx="914400" cy="182880"/>
          </a:xfrm>
          <a:prstGeom prst="rect">
            <a:avLst/>
          </a:prstGeom>
          <a:noFill/>
        </p:spPr>
        <p:txBody>
          <a:bodyPr wrap="square" anchor="t">
            <a:spAutoFit/>
          </a:bodyPr>
          <a:lstStyle/>
          <a:p>
            <a:pPr algn="l">
              <a:spcBef>
                <a:spcPts val="0"/>
              </a:spcBef>
              <a:spcAft>
                <a:spcPts val="300"/>
              </a:spcAft>
            </a:pPr>
            <a:r>
              <a:rPr sz="900" b="1" i="0">
                <a:solidFill>
                  <a:srgbClr val="F97316"/>
                </a:solidFill>
                <a:latin typeface="Calibri"/>
              </a:rPr>
              <a:t>▼</a:t>
            </a:r>
          </a:p>
        </p:txBody>
      </p:sp>
      <p:sp>
        <p:nvSpPr>
          <p:cNvPr id="24" name="Rectangle 23"/>
          <p:cNvSpPr/>
          <p:nvPr/>
        </p:nvSpPr>
        <p:spPr>
          <a:xfrm>
            <a:off x="822960" y="5413248"/>
            <a:ext cx="5486400" cy="4572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1560" y="5468112"/>
            <a:ext cx="5120640" cy="365760"/>
          </a:xfrm>
          <a:prstGeom prst="rect">
            <a:avLst/>
          </a:prstGeom>
          <a:noFill/>
        </p:spPr>
        <p:txBody>
          <a:bodyPr wrap="square" anchor="t">
            <a:spAutoFit/>
          </a:bodyPr>
          <a:lstStyle/>
          <a:p>
            <a:pPr algn="l">
              <a:spcBef>
                <a:spcPts val="0"/>
              </a:spcBef>
              <a:spcAft>
                <a:spcPts val="300"/>
              </a:spcAft>
            </a:pPr>
            <a:r>
              <a:rPr sz="1300" b="1" i="0">
                <a:solidFill>
                  <a:srgbClr val="FFFFFF"/>
                </a:solidFill>
                <a:latin typeface="Calibri"/>
              </a:rPr>
              <a:t>/output/pred.csv</a:t>
            </a:r>
          </a:p>
        </p:txBody>
      </p:sp>
      <p:sp>
        <p:nvSpPr>
          <p:cNvPr id="26" name="Rectangle 25"/>
          <p:cNvSpPr/>
          <p:nvPr/>
        </p:nvSpPr>
        <p:spPr>
          <a:xfrm>
            <a:off x="6858000" y="2011680"/>
            <a:ext cx="4754880" cy="3611880"/>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858000" y="2011680"/>
            <a:ext cx="4754880" cy="109728"/>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14032" y="2240280"/>
            <a:ext cx="4297680" cy="3291840"/>
          </a:xfrm>
          <a:prstGeom prst="rect">
            <a:avLst/>
          </a:prstGeom>
          <a:noFill/>
        </p:spPr>
        <p:txBody>
          <a:bodyPr wrap="square" anchor="t">
            <a:spAutoFit/>
          </a:bodyPr>
          <a:lstStyle/>
          <a:p>
            <a:pPr algn="l">
              <a:spcBef>
                <a:spcPts val="0"/>
              </a:spcBef>
              <a:spcAft>
                <a:spcPts val="300"/>
              </a:spcAft>
            </a:pPr>
            <a:r>
              <a:rPr sz="1400" b="1" i="0">
                <a:solidFill>
                  <a:srgbClr val="C2550B"/>
                </a:solidFill>
                <a:latin typeface="Calibri"/>
              </a:rPr>
              <a:t>Đặc điểm thiết kế</a:t>
            </a:r>
          </a:p>
          <a:p>
            <a:pPr algn="l">
              <a:spcBef>
                <a:spcPts val="0"/>
              </a:spcBef>
              <a:spcAft>
                <a:spcPts val="300"/>
              </a:spcAft>
            </a:pPr>
            <a:r>
              <a:rPr sz="1200" b="0" i="0">
                <a:solidFill>
                  <a:srgbClr val="1F2937"/>
                </a:solidFill>
                <a:latin typeface="Calibri"/>
              </a:rPr>
              <a:t>Tầng giao tiếp mô hình được trừu tượng hóa qua một giao diện complete() thống nhất, cho phép thay thế Gemma hoặc Qwen mà không sửa logic suy luận.</a:t>
            </a:r>
          </a:p>
          <a:p>
            <a:pPr algn="l">
              <a:spcBef>
                <a:spcPts val="0"/>
              </a:spcBef>
              <a:spcAft>
                <a:spcPts val="300"/>
              </a:spcAft>
            </a:pPr>
            <a:r>
              <a:rPr sz="1200" b="0" i="0">
                <a:solidFill>
                  <a:srgbClr val="1F2937"/>
                </a:solidFill>
                <a:latin typeface="Calibri"/>
              </a:rPr>
              <a:t>Cổng kiểm soát chính sách và các registry ngăn mọi thành phần chỉ phục vụ phát triển lọt vào container thi đấu.</a:t>
            </a:r>
          </a:p>
          <a:p>
            <a:pPr algn="l">
              <a:spcBef>
                <a:spcPts val="0"/>
              </a:spcBef>
              <a:spcAft>
                <a:spcPts val="300"/>
              </a:spcAft>
            </a:pPr>
            <a:r>
              <a:rPr sz="1200" b="0" i="0">
                <a:solidFill>
                  <a:srgbClr val="1F2937"/>
                </a:solidFill>
                <a:latin typeface="Calibri"/>
              </a:rPr>
              <a:t>Các thành phần truy vết và checkpoint chỉ hoạt động ở môi trường phát triển, giữ kích thước ảnh nộp tối thiểu.</a:t>
            </a:r>
          </a:p>
        </p:txBody>
      </p:sp>
      <p:sp>
        <p:nvSpPr>
          <p:cNvPr id="29" name="TextBox 28"/>
          <p:cNvSpPr txBox="1"/>
          <p:nvPr/>
        </p:nvSpPr>
        <p:spPr>
          <a:xfrm>
            <a:off x="11338560" y="6446520"/>
            <a:ext cx="731520" cy="274320"/>
          </a:xfrm>
          <a:prstGeom prst="rect">
            <a:avLst/>
          </a:prstGeom>
          <a:noFill/>
        </p:spPr>
        <p:txBody>
          <a:bodyPr wrap="square" anchor="t">
            <a:spAutoFit/>
          </a:bodyPr>
          <a:lstStyle/>
          <a:p>
            <a:pPr algn="r">
              <a:spcBef>
                <a:spcPts val="0"/>
              </a:spcBef>
              <a:spcAft>
                <a:spcPts val="300"/>
              </a:spcAft>
            </a:pPr>
            <a:r>
              <a:rPr sz="1000" b="0" i="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10972800" cy="320040"/>
          </a:xfrm>
          <a:prstGeom prst="rect">
            <a:avLst/>
          </a:prstGeom>
          <a:noFill/>
        </p:spPr>
        <p:txBody>
          <a:bodyPr wrap="square" anchor="t">
            <a:spAutoFit/>
          </a:bodyPr>
          <a:lstStyle/>
          <a:p>
            <a:pPr algn="l">
              <a:spcBef>
                <a:spcPts val="0"/>
              </a:spcBef>
              <a:spcAft>
                <a:spcPts val="300"/>
              </a:spcAft>
            </a:pPr>
            <a:r>
              <a:rPr sz="1100" b="1" i="0">
                <a:solidFill>
                  <a:srgbClr val="F97316"/>
                </a:solidFill>
                <a:latin typeface="Calibri"/>
              </a:rPr>
              <a:t>04 · Kết quả</a:t>
            </a:r>
          </a:p>
        </p:txBody>
      </p:sp>
      <p:sp>
        <p:nvSpPr>
          <p:cNvPr id="5" name="TextBox 4"/>
          <p:cNvSpPr txBox="1"/>
          <p:nvPr/>
        </p:nvSpPr>
        <p:spPr>
          <a:xfrm>
            <a:off x="640080" y="713232"/>
            <a:ext cx="11155680" cy="1005840"/>
          </a:xfrm>
          <a:prstGeom prst="rect">
            <a:avLst/>
          </a:prstGeom>
          <a:noFill/>
        </p:spPr>
        <p:txBody>
          <a:bodyPr wrap="square" anchor="t">
            <a:spAutoFit/>
          </a:bodyPr>
          <a:lstStyle/>
          <a:p>
            <a:pPr algn="l">
              <a:spcBef>
                <a:spcPts val="0"/>
              </a:spcBef>
              <a:spcAft>
                <a:spcPts val="300"/>
              </a:spcAft>
            </a:pPr>
            <a:r>
              <a:rPr sz="2200" b="1" i="0">
                <a:solidFill>
                  <a:srgbClr val="1F2937"/>
                </a:solidFill>
                <a:latin typeface="Calibri"/>
              </a:rPr>
              <a:t>Việc cho phép mô hình suy luận nâng độ chính xác từ 77.11 lên 88.55, đo trực tiếp trên leaderboard.</a:t>
            </a:r>
          </a:p>
        </p:txBody>
      </p:sp>
      <p:sp>
        <p:nvSpPr>
          <p:cNvPr id="6" name="Rectangle 5"/>
          <p:cNvSpPr/>
          <p:nvPr/>
        </p:nvSpPr>
        <p:spPr>
          <a:xfrm>
            <a:off x="1280160" y="2901055"/>
            <a:ext cx="1737360" cy="2585344"/>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443855"/>
            <a:ext cx="2194560" cy="365760"/>
          </a:xfrm>
          <a:prstGeom prst="rect">
            <a:avLst/>
          </a:prstGeom>
          <a:noFill/>
        </p:spPr>
        <p:txBody>
          <a:bodyPr wrap="square" anchor="t">
            <a:spAutoFit/>
          </a:bodyPr>
          <a:lstStyle/>
          <a:p>
            <a:pPr algn="ctr">
              <a:spcBef>
                <a:spcPts val="0"/>
              </a:spcBef>
              <a:spcAft>
                <a:spcPts val="300"/>
              </a:spcAft>
            </a:pPr>
            <a:r>
              <a:rPr sz="2300" b="1" i="0">
                <a:solidFill>
                  <a:srgbClr val="6B7280"/>
                </a:solidFill>
                <a:latin typeface="Calibri"/>
              </a:rPr>
              <a:t>77.11</a:t>
            </a:r>
          </a:p>
        </p:txBody>
      </p:sp>
      <p:sp>
        <p:nvSpPr>
          <p:cNvPr id="8" name="TextBox 7"/>
          <p:cNvSpPr txBox="1"/>
          <p:nvPr/>
        </p:nvSpPr>
        <p:spPr>
          <a:xfrm>
            <a:off x="1051560" y="5577840"/>
            <a:ext cx="2194560" cy="640080"/>
          </a:xfrm>
          <a:prstGeom prst="rect">
            <a:avLst/>
          </a:prstGeom>
          <a:noFill/>
        </p:spPr>
        <p:txBody>
          <a:bodyPr wrap="square" anchor="t">
            <a:spAutoFit/>
          </a:bodyPr>
          <a:lstStyle/>
          <a:p>
            <a:pPr algn="ctr">
              <a:spcBef>
                <a:spcPts val="0"/>
              </a:spcBef>
              <a:spcAft>
                <a:spcPts val="300"/>
              </a:spcAft>
            </a:pPr>
            <a:r>
              <a:rPr sz="1200" b="0" i="0">
                <a:solidFill>
                  <a:srgbClr val="1F2937"/>
                </a:solidFill>
                <a:latin typeface="Calibri"/>
              </a:rPr>
              <a:t>Letter‑only
(baseline)</a:t>
            </a:r>
          </a:p>
        </p:txBody>
      </p:sp>
      <p:sp>
        <p:nvSpPr>
          <p:cNvPr id="9" name="Rectangle 8"/>
          <p:cNvSpPr/>
          <p:nvPr/>
        </p:nvSpPr>
        <p:spPr>
          <a:xfrm>
            <a:off x="3931920" y="2560746"/>
            <a:ext cx="1737360" cy="2925653"/>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2103546"/>
            <a:ext cx="2194560" cy="365760"/>
          </a:xfrm>
          <a:prstGeom prst="rect">
            <a:avLst/>
          </a:prstGeom>
          <a:noFill/>
        </p:spPr>
        <p:txBody>
          <a:bodyPr wrap="square" anchor="t">
            <a:spAutoFit/>
          </a:bodyPr>
          <a:lstStyle/>
          <a:p>
            <a:pPr algn="ctr">
              <a:spcBef>
                <a:spcPts val="0"/>
              </a:spcBef>
              <a:spcAft>
                <a:spcPts val="300"/>
              </a:spcAft>
            </a:pPr>
            <a:r>
              <a:rPr sz="2300" b="1" i="0">
                <a:solidFill>
                  <a:srgbClr val="F97316"/>
                </a:solidFill>
                <a:latin typeface="Calibri"/>
              </a:rPr>
              <a:t>87.26</a:t>
            </a:r>
          </a:p>
        </p:txBody>
      </p:sp>
      <p:sp>
        <p:nvSpPr>
          <p:cNvPr id="11" name="TextBox 10"/>
          <p:cNvSpPr txBox="1"/>
          <p:nvPr/>
        </p:nvSpPr>
        <p:spPr>
          <a:xfrm>
            <a:off x="3703320" y="5577840"/>
            <a:ext cx="2194560" cy="640080"/>
          </a:xfrm>
          <a:prstGeom prst="rect">
            <a:avLst/>
          </a:prstGeom>
          <a:noFill/>
        </p:spPr>
        <p:txBody>
          <a:bodyPr wrap="square" anchor="t">
            <a:spAutoFit/>
          </a:bodyPr>
          <a:lstStyle/>
          <a:p>
            <a:pPr algn="ctr">
              <a:spcBef>
                <a:spcPts val="0"/>
              </a:spcBef>
              <a:spcAft>
                <a:spcPts val="300"/>
              </a:spcAft>
            </a:pPr>
            <a:r>
              <a:rPr sz="1200" b="0" i="0">
                <a:solidFill>
                  <a:srgbClr val="1F2937"/>
                </a:solidFill>
                <a:latin typeface="Calibri"/>
              </a:rPr>
              <a:t>Self‑consistency
CoT</a:t>
            </a:r>
          </a:p>
        </p:txBody>
      </p:sp>
      <p:sp>
        <p:nvSpPr>
          <p:cNvPr id="12" name="Rectangle 11"/>
          <p:cNvSpPr/>
          <p:nvPr/>
        </p:nvSpPr>
        <p:spPr>
          <a:xfrm>
            <a:off x="6583679" y="2517495"/>
            <a:ext cx="1737360" cy="2968904"/>
          </a:xfrm>
          <a:prstGeom prst="rect">
            <a:avLst/>
          </a:prstGeom>
          <a:solidFill>
            <a:srgbClr val="158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79" y="2060295"/>
            <a:ext cx="2194560" cy="365760"/>
          </a:xfrm>
          <a:prstGeom prst="rect">
            <a:avLst/>
          </a:prstGeom>
          <a:noFill/>
        </p:spPr>
        <p:txBody>
          <a:bodyPr wrap="square" anchor="t">
            <a:spAutoFit/>
          </a:bodyPr>
          <a:lstStyle/>
          <a:p>
            <a:pPr algn="ctr">
              <a:spcBef>
                <a:spcPts val="0"/>
              </a:spcBef>
              <a:spcAft>
                <a:spcPts val="300"/>
              </a:spcAft>
            </a:pPr>
            <a:r>
              <a:rPr sz="2300" b="1" i="0">
                <a:solidFill>
                  <a:srgbClr val="15803D"/>
                </a:solidFill>
                <a:latin typeface="Calibri"/>
              </a:rPr>
              <a:t>88.55</a:t>
            </a:r>
          </a:p>
        </p:txBody>
      </p:sp>
      <p:sp>
        <p:nvSpPr>
          <p:cNvPr id="14" name="TextBox 13"/>
          <p:cNvSpPr txBox="1"/>
          <p:nvPr/>
        </p:nvSpPr>
        <p:spPr>
          <a:xfrm>
            <a:off x="6355079" y="5577840"/>
            <a:ext cx="2194560" cy="640080"/>
          </a:xfrm>
          <a:prstGeom prst="rect">
            <a:avLst/>
          </a:prstGeom>
          <a:noFill/>
        </p:spPr>
        <p:txBody>
          <a:bodyPr wrap="square" anchor="t">
            <a:spAutoFit/>
          </a:bodyPr>
          <a:lstStyle/>
          <a:p>
            <a:pPr algn="ctr">
              <a:spcBef>
                <a:spcPts val="0"/>
              </a:spcBef>
              <a:spcAft>
                <a:spcPts val="300"/>
              </a:spcAft>
            </a:pPr>
            <a:r>
              <a:rPr sz="1200" b="0" i="0">
                <a:solidFill>
                  <a:srgbClr val="1F2937"/>
                </a:solidFill>
                <a:latin typeface="Calibri"/>
              </a:rPr>
              <a:t>+ An‑toàn
từ chối</a:t>
            </a:r>
          </a:p>
        </p:txBody>
      </p:sp>
      <p:sp>
        <p:nvSpPr>
          <p:cNvPr id="15" name="TextBox 14"/>
          <p:cNvSpPr txBox="1"/>
          <p:nvPr/>
        </p:nvSpPr>
        <p:spPr>
          <a:xfrm>
            <a:off x="9418320" y="2194560"/>
            <a:ext cx="2606040" cy="2743200"/>
          </a:xfrm>
          <a:prstGeom prst="rect">
            <a:avLst/>
          </a:prstGeom>
          <a:noFill/>
        </p:spPr>
        <p:txBody>
          <a:bodyPr wrap="square" anchor="t">
            <a:spAutoFit/>
          </a:bodyPr>
          <a:lstStyle/>
          <a:p>
            <a:pPr algn="l">
              <a:spcBef>
                <a:spcPts val="0"/>
              </a:spcBef>
              <a:spcAft>
                <a:spcPts val="300"/>
              </a:spcAft>
            </a:pPr>
            <a:r>
              <a:rPr sz="1800" b="1" i="0">
                <a:solidFill>
                  <a:srgbClr val="F97316"/>
                </a:solidFill>
                <a:latin typeface="Calibri"/>
              </a:rPr>
              <a:t>+10,15 điểm</a:t>
            </a:r>
          </a:p>
          <a:p>
            <a:pPr algn="l">
              <a:spcBef>
                <a:spcPts val="0"/>
              </a:spcBef>
              <a:spcAft>
                <a:spcPts val="300"/>
              </a:spcAft>
            </a:pPr>
            <a:r>
              <a:rPr sz="1200" b="0" i="0">
                <a:solidFill>
                  <a:srgbClr val="6B7280"/>
                </a:solidFill>
                <a:latin typeface="Calibri"/>
              </a:rPr>
              <a:t>nhờ cơ chế suy luận</a:t>
            </a:r>
          </a:p>
          <a:p>
            <a:pPr algn="l">
              <a:spcBef>
                <a:spcPts val="0"/>
              </a:spcBef>
              <a:spcAft>
                <a:spcPts val="300"/>
              </a:spcAft>
            </a:pPr>
            <a:r>
              <a:rPr sz="1000" b="0" i="0">
                <a:solidFill>
                  <a:srgbClr val="1F2937"/>
                </a:solidFill>
                <a:latin typeface="Calibri"/>
              </a:rPr>
              <a:t/>
            </a:r>
          </a:p>
          <a:p>
            <a:pPr algn="l">
              <a:spcBef>
                <a:spcPts val="0"/>
              </a:spcBef>
              <a:spcAft>
                <a:spcPts val="300"/>
              </a:spcAft>
            </a:pPr>
            <a:r>
              <a:rPr sz="1800" b="1" i="0">
                <a:solidFill>
                  <a:srgbClr val="15803D"/>
                </a:solidFill>
                <a:latin typeface="Calibri"/>
              </a:rPr>
              <a:t>+1,29 điểm</a:t>
            </a:r>
          </a:p>
          <a:p>
            <a:pPr algn="l">
              <a:spcBef>
                <a:spcPts val="0"/>
              </a:spcBef>
              <a:spcAft>
                <a:spcPts val="300"/>
              </a:spcAft>
            </a:pPr>
            <a:r>
              <a:rPr sz="1200" b="0" i="0">
                <a:solidFill>
                  <a:srgbClr val="6B7280"/>
                </a:solidFill>
                <a:latin typeface="Calibri"/>
              </a:rPr>
              <a:t>nhờ an‑toàn‑từ‑chối</a:t>
            </a:r>
          </a:p>
        </p:txBody>
      </p:sp>
      <p:sp>
        <p:nvSpPr>
          <p:cNvPr id="16" name="TextBox 15"/>
          <p:cNvSpPr txBox="1"/>
          <p:nvPr/>
        </p:nvSpPr>
        <p:spPr>
          <a:xfrm>
            <a:off x="822960" y="6126480"/>
            <a:ext cx="10789920" cy="365760"/>
          </a:xfrm>
          <a:prstGeom prst="rect">
            <a:avLst/>
          </a:prstGeom>
          <a:noFill/>
        </p:spPr>
        <p:txBody>
          <a:bodyPr wrap="square" anchor="t">
            <a:spAutoFit/>
          </a:bodyPr>
          <a:lstStyle/>
          <a:p>
            <a:pPr algn="l">
              <a:spcBef>
                <a:spcPts val="0"/>
              </a:spcBef>
              <a:spcAft>
                <a:spcPts val="300"/>
              </a:spcAft>
            </a:pPr>
            <a:r>
              <a:rPr sz="1150" b="0" i="1">
                <a:solidFill>
                  <a:srgbClr val="6B7280"/>
                </a:solidFill>
                <a:latin typeface="Calibri"/>
              </a:rPr>
              <a:t>Giới hạn tham chiếu (giải thủ công, chỉ dùng định mốc, không nộp): 91.79. Phần sai số còn lại thuộc tri thức đặc thù và một số đáp án chuẩn bị lỗi.</a:t>
            </a:r>
          </a:p>
        </p:txBody>
      </p:sp>
      <p:sp>
        <p:nvSpPr>
          <p:cNvPr id="17" name="TextBox 16"/>
          <p:cNvSpPr txBox="1"/>
          <p:nvPr/>
        </p:nvSpPr>
        <p:spPr>
          <a:xfrm>
            <a:off x="11338560" y="6446520"/>
            <a:ext cx="731520" cy="274320"/>
          </a:xfrm>
          <a:prstGeom prst="rect">
            <a:avLst/>
          </a:prstGeom>
          <a:noFill/>
        </p:spPr>
        <p:txBody>
          <a:bodyPr wrap="square" anchor="t">
            <a:spAutoFit/>
          </a:bodyPr>
          <a:lstStyle/>
          <a:p>
            <a:pPr algn="r">
              <a:spcBef>
                <a:spcPts val="0"/>
              </a:spcBef>
              <a:spcAft>
                <a:spcPts val="300"/>
              </a:spcAft>
            </a:pPr>
            <a:r>
              <a:rPr sz="1000" b="0" i="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10972800" cy="320040"/>
          </a:xfrm>
          <a:prstGeom prst="rect">
            <a:avLst/>
          </a:prstGeom>
          <a:noFill/>
        </p:spPr>
        <p:txBody>
          <a:bodyPr wrap="square" anchor="t">
            <a:spAutoFit/>
          </a:bodyPr>
          <a:lstStyle/>
          <a:p>
            <a:pPr algn="l">
              <a:spcBef>
                <a:spcPts val="0"/>
              </a:spcBef>
              <a:spcAft>
                <a:spcPts val="300"/>
              </a:spcAft>
            </a:pPr>
            <a:r>
              <a:rPr sz="1100" b="1" i="0">
                <a:solidFill>
                  <a:srgbClr val="F97316"/>
                </a:solidFill>
                <a:latin typeface="Calibri"/>
              </a:rPr>
              <a:t>05 · Phương pháp</a:t>
            </a:r>
          </a:p>
        </p:txBody>
      </p:sp>
      <p:sp>
        <p:nvSpPr>
          <p:cNvPr id="5" name="TextBox 4"/>
          <p:cNvSpPr txBox="1"/>
          <p:nvPr/>
        </p:nvSpPr>
        <p:spPr>
          <a:xfrm>
            <a:off x="640080" y="713232"/>
            <a:ext cx="11155680" cy="1005840"/>
          </a:xfrm>
          <a:prstGeom prst="rect">
            <a:avLst/>
          </a:prstGeom>
          <a:noFill/>
        </p:spPr>
        <p:txBody>
          <a:bodyPr wrap="square" anchor="t">
            <a:spAutoFit/>
          </a:bodyPr>
          <a:lstStyle/>
          <a:p>
            <a:pPr algn="l">
              <a:spcBef>
                <a:spcPts val="0"/>
              </a:spcBef>
              <a:spcAft>
                <a:spcPts val="300"/>
              </a:spcAft>
            </a:pPr>
            <a:r>
              <a:rPr sz="2200" b="1" i="0">
                <a:solidFill>
                  <a:srgbClr val="1F2937"/>
                </a:solidFill>
                <a:latin typeface="Calibri"/>
              </a:rPr>
              <a:t>Sáu kỹ thuật được áp dụng; mỗi kỹ thuật được giữ lại sau khi đo lường xác nhận hiệu quả.</a:t>
            </a:r>
          </a:p>
        </p:txBody>
      </p:sp>
      <p:sp>
        <p:nvSpPr>
          <p:cNvPr id="6" name="Rectangle 5"/>
          <p:cNvSpPr/>
          <p:nvPr/>
        </p:nvSpPr>
        <p:spPr>
          <a:xfrm>
            <a:off x="640080" y="2148840"/>
            <a:ext cx="3520440" cy="1645920"/>
          </a:xfrm>
          <a:prstGeom prst="rect">
            <a:avLst/>
          </a:prstGeom>
          <a:solidFill>
            <a:srgbClr val="FFFFFF"/>
          </a:solidFill>
          <a:ln w="12700">
            <a:solidFill>
              <a:srgbClr val="F3F4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2148840"/>
            <a:ext cx="3520440" cy="9144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2240280"/>
            <a:ext cx="3035808" cy="1463040"/>
          </a:xfrm>
          <a:prstGeom prst="rect">
            <a:avLst/>
          </a:prstGeom>
          <a:noFill/>
        </p:spPr>
        <p:txBody>
          <a:bodyPr wrap="square" anchor="ctr">
            <a:spAutoFit/>
          </a:bodyPr>
          <a:lstStyle/>
          <a:p>
            <a:pPr algn="l">
              <a:spcBef>
                <a:spcPts val="0"/>
              </a:spcBef>
              <a:spcAft>
                <a:spcPts val="400"/>
              </a:spcAft>
            </a:pPr>
            <a:r>
              <a:rPr sz="1400" b="1" i="0">
                <a:solidFill>
                  <a:srgbClr val="C2550B"/>
                </a:solidFill>
                <a:latin typeface="Calibri"/>
              </a:rPr>
              <a:t>Chain‑of‑thought</a:t>
            </a:r>
          </a:p>
          <a:p>
            <a:pPr algn="l">
              <a:spcBef>
                <a:spcPts val="0"/>
              </a:spcBef>
              <a:spcAft>
                <a:spcPts val="400"/>
              </a:spcAft>
            </a:pPr>
            <a:r>
              <a:rPr sz="600" b="0" i="0">
                <a:solidFill>
                  <a:srgbClr val="1F2937"/>
                </a:solidFill>
                <a:latin typeface="Calibri"/>
              </a:rPr>
              <a:t/>
            </a:r>
          </a:p>
          <a:p>
            <a:pPr algn="l">
              <a:spcBef>
                <a:spcPts val="0"/>
              </a:spcBef>
              <a:spcAft>
                <a:spcPts val="400"/>
              </a:spcAft>
            </a:pPr>
            <a:r>
              <a:rPr sz="1150" b="0" i="0">
                <a:solidFill>
                  <a:srgbClr val="1F2937"/>
                </a:solidFill>
                <a:latin typeface="Calibri"/>
              </a:rPr>
              <a:t>Tăng 10,15 điểm. Các token lập luận chính là quá trình tính toán dẫn tới đáp án.</a:t>
            </a:r>
          </a:p>
        </p:txBody>
      </p:sp>
      <p:sp>
        <p:nvSpPr>
          <p:cNvPr id="9" name="Rectangle 8"/>
          <p:cNvSpPr/>
          <p:nvPr/>
        </p:nvSpPr>
        <p:spPr>
          <a:xfrm>
            <a:off x="4361688" y="2148840"/>
            <a:ext cx="3520440" cy="1645920"/>
          </a:xfrm>
          <a:prstGeom prst="rect">
            <a:avLst/>
          </a:prstGeom>
          <a:solidFill>
            <a:srgbClr val="FFFFFF"/>
          </a:solidFill>
          <a:ln w="12700">
            <a:solidFill>
              <a:srgbClr val="F3F4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61688" y="2148840"/>
            <a:ext cx="3520440" cy="9144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240280"/>
            <a:ext cx="3035808" cy="1463040"/>
          </a:xfrm>
          <a:prstGeom prst="rect">
            <a:avLst/>
          </a:prstGeom>
          <a:noFill/>
        </p:spPr>
        <p:txBody>
          <a:bodyPr wrap="square" anchor="ctr">
            <a:spAutoFit/>
          </a:bodyPr>
          <a:lstStyle/>
          <a:p>
            <a:pPr algn="l">
              <a:spcBef>
                <a:spcPts val="0"/>
              </a:spcBef>
              <a:spcAft>
                <a:spcPts val="400"/>
              </a:spcAft>
            </a:pPr>
            <a:r>
              <a:rPr sz="1400" b="1" i="0">
                <a:solidFill>
                  <a:srgbClr val="C2550B"/>
                </a:solidFill>
                <a:latin typeface="Calibri"/>
              </a:rPr>
              <a:t>Self‑consistency</a:t>
            </a:r>
          </a:p>
          <a:p>
            <a:pPr algn="l">
              <a:spcBef>
                <a:spcPts val="0"/>
              </a:spcBef>
              <a:spcAft>
                <a:spcPts val="400"/>
              </a:spcAft>
            </a:pPr>
            <a:r>
              <a:rPr sz="600" b="0" i="0">
                <a:solidFill>
                  <a:srgbClr val="1F2937"/>
                </a:solidFill>
                <a:latin typeface="Calibri"/>
              </a:rPr>
              <a:t/>
            </a:r>
          </a:p>
          <a:p>
            <a:pPr algn="l">
              <a:spcBef>
                <a:spcPts val="0"/>
              </a:spcBef>
              <a:spcAft>
                <a:spcPts val="400"/>
              </a:spcAft>
            </a:pPr>
            <a:r>
              <a:rPr sz="1150" b="0" i="0">
                <a:solidFill>
                  <a:srgbClr val="1F2937"/>
                </a:solidFill>
                <a:latin typeface="Calibri"/>
              </a:rPr>
              <a:t>Lấy mẫu nhiều lần và bỏ phiếu đa số; độ tin cậy được tính từ tỉ lệ đồng thuận.</a:t>
            </a:r>
          </a:p>
        </p:txBody>
      </p:sp>
      <p:sp>
        <p:nvSpPr>
          <p:cNvPr id="12" name="Rectangle 11"/>
          <p:cNvSpPr/>
          <p:nvPr/>
        </p:nvSpPr>
        <p:spPr>
          <a:xfrm>
            <a:off x="8083296" y="2148840"/>
            <a:ext cx="3520440" cy="1645920"/>
          </a:xfrm>
          <a:prstGeom prst="rect">
            <a:avLst/>
          </a:prstGeom>
          <a:solidFill>
            <a:srgbClr val="FFFFFF"/>
          </a:solidFill>
          <a:ln w="12700">
            <a:solidFill>
              <a:srgbClr val="F3F4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83296" y="2148840"/>
            <a:ext cx="3520440" cy="9144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9327" y="2240280"/>
            <a:ext cx="3035808" cy="1463040"/>
          </a:xfrm>
          <a:prstGeom prst="rect">
            <a:avLst/>
          </a:prstGeom>
          <a:noFill/>
        </p:spPr>
        <p:txBody>
          <a:bodyPr wrap="square" anchor="ctr">
            <a:spAutoFit/>
          </a:bodyPr>
          <a:lstStyle/>
          <a:p>
            <a:pPr algn="l">
              <a:spcBef>
                <a:spcPts val="0"/>
              </a:spcBef>
              <a:spcAft>
                <a:spcPts val="400"/>
              </a:spcAft>
            </a:pPr>
            <a:r>
              <a:rPr sz="1400" b="1" i="0">
                <a:solidFill>
                  <a:srgbClr val="C2550B"/>
                </a:solidFill>
                <a:latin typeface="Calibri"/>
              </a:rPr>
              <a:t>An‑toàn‑từ‑chối</a:t>
            </a:r>
          </a:p>
          <a:p>
            <a:pPr algn="l">
              <a:spcBef>
                <a:spcPts val="0"/>
              </a:spcBef>
              <a:spcAft>
                <a:spcPts val="400"/>
              </a:spcAft>
            </a:pPr>
            <a:r>
              <a:rPr sz="600" b="0" i="0">
                <a:solidFill>
                  <a:srgbClr val="1F2937"/>
                </a:solidFill>
                <a:latin typeface="Calibri"/>
              </a:rPr>
              <a:t/>
            </a:r>
          </a:p>
          <a:p>
            <a:pPr algn="l">
              <a:spcBef>
                <a:spcPts val="0"/>
              </a:spcBef>
              <a:spcAft>
                <a:spcPts val="400"/>
              </a:spcAft>
            </a:pPr>
            <a:r>
              <a:rPr sz="1150" b="0" i="0">
                <a:solidFill>
                  <a:srgbClr val="1F2937"/>
                </a:solidFill>
                <a:latin typeface="Calibri"/>
              </a:rPr>
              <a:t>Tăng 1,29 điểm. Phán đoán theo ngữ nghĩa thay vì từ khóa nên tổng quát hóa được.</a:t>
            </a:r>
          </a:p>
        </p:txBody>
      </p:sp>
      <p:sp>
        <p:nvSpPr>
          <p:cNvPr id="15" name="Rectangle 14"/>
          <p:cNvSpPr/>
          <p:nvPr/>
        </p:nvSpPr>
        <p:spPr>
          <a:xfrm>
            <a:off x="640080" y="4023360"/>
            <a:ext cx="3520440" cy="1645920"/>
          </a:xfrm>
          <a:prstGeom prst="rect">
            <a:avLst/>
          </a:prstGeom>
          <a:solidFill>
            <a:srgbClr val="FFFFFF"/>
          </a:solidFill>
          <a:ln w="12700">
            <a:solidFill>
              <a:srgbClr val="F3F4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4023360"/>
            <a:ext cx="3520440" cy="9144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114800"/>
            <a:ext cx="3035808" cy="1463040"/>
          </a:xfrm>
          <a:prstGeom prst="rect">
            <a:avLst/>
          </a:prstGeom>
          <a:noFill/>
        </p:spPr>
        <p:txBody>
          <a:bodyPr wrap="square" anchor="ctr">
            <a:spAutoFit/>
          </a:bodyPr>
          <a:lstStyle/>
          <a:p>
            <a:pPr algn="l">
              <a:spcBef>
                <a:spcPts val="0"/>
              </a:spcBef>
              <a:spcAft>
                <a:spcPts val="400"/>
              </a:spcAft>
            </a:pPr>
            <a:r>
              <a:rPr sz="1400" b="1" i="0">
                <a:solidFill>
                  <a:srgbClr val="C2550B"/>
                </a:solidFill>
                <a:latin typeface="Calibri"/>
              </a:rPr>
              <a:t>TIR — thực thi Python</a:t>
            </a:r>
          </a:p>
          <a:p>
            <a:pPr algn="l">
              <a:spcBef>
                <a:spcPts val="0"/>
              </a:spcBef>
              <a:spcAft>
                <a:spcPts val="400"/>
              </a:spcAft>
            </a:pPr>
            <a:r>
              <a:rPr sz="600" b="0" i="0">
                <a:solidFill>
                  <a:srgbClr val="1F2937"/>
                </a:solidFill>
                <a:latin typeface="Calibri"/>
              </a:rPr>
              <a:t/>
            </a:r>
          </a:p>
          <a:p>
            <a:pPr algn="l">
              <a:spcBef>
                <a:spcPts val="0"/>
              </a:spcBef>
              <a:spcAft>
                <a:spcPts val="400"/>
              </a:spcAft>
            </a:pPr>
            <a:r>
              <a:rPr sz="1150" b="0" i="0">
                <a:solidFill>
                  <a:srgbClr val="1F2937"/>
                </a:solidFill>
                <a:latin typeface="Calibri"/>
              </a:rPr>
              <a:t>Cho nhóm câu định lượng (~25–30%): chạy mã trong môi trường cô lập, bỏ phiếu trên bước thiết lập bài toán.</a:t>
            </a:r>
          </a:p>
        </p:txBody>
      </p:sp>
      <p:sp>
        <p:nvSpPr>
          <p:cNvPr id="18" name="Rectangle 17"/>
          <p:cNvSpPr/>
          <p:nvPr/>
        </p:nvSpPr>
        <p:spPr>
          <a:xfrm>
            <a:off x="4361688" y="4023360"/>
            <a:ext cx="3520440" cy="1645920"/>
          </a:xfrm>
          <a:prstGeom prst="rect">
            <a:avLst/>
          </a:prstGeom>
          <a:solidFill>
            <a:srgbClr val="FFFFFF"/>
          </a:solidFill>
          <a:ln w="12700">
            <a:solidFill>
              <a:srgbClr val="F3F4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61688" y="4023360"/>
            <a:ext cx="3520440" cy="9144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17720" y="4114800"/>
            <a:ext cx="3035808" cy="1463040"/>
          </a:xfrm>
          <a:prstGeom prst="rect">
            <a:avLst/>
          </a:prstGeom>
          <a:noFill/>
        </p:spPr>
        <p:txBody>
          <a:bodyPr wrap="square" anchor="ctr">
            <a:spAutoFit/>
          </a:bodyPr>
          <a:lstStyle/>
          <a:p>
            <a:pPr algn="l">
              <a:spcBef>
                <a:spcPts val="0"/>
              </a:spcBef>
              <a:spcAft>
                <a:spcPts val="400"/>
              </a:spcAft>
            </a:pPr>
            <a:r>
              <a:rPr sz="1400" b="1" i="0">
                <a:solidFill>
                  <a:srgbClr val="C2550B"/>
                </a:solidFill>
                <a:latin typeface="Calibri"/>
              </a:rPr>
              <a:t>Constrained decoding</a:t>
            </a:r>
          </a:p>
          <a:p>
            <a:pPr algn="l">
              <a:spcBef>
                <a:spcPts val="0"/>
              </a:spcBef>
              <a:spcAft>
                <a:spcPts val="400"/>
              </a:spcAft>
            </a:pPr>
            <a:r>
              <a:rPr sz="600" b="0" i="0">
                <a:solidFill>
                  <a:srgbClr val="1F2937"/>
                </a:solidFill>
                <a:latin typeface="Calibri"/>
              </a:rPr>
              <a:t/>
            </a:r>
          </a:p>
          <a:p>
            <a:pPr algn="l">
              <a:spcBef>
                <a:spcPts val="0"/>
              </a:spcBef>
              <a:spcAft>
                <a:spcPts val="400"/>
              </a:spcAft>
            </a:pPr>
            <a:r>
              <a:rPr sz="1150" b="0" i="0">
                <a:solidFill>
                  <a:srgbClr val="1F2937"/>
                </a:solidFill>
                <a:latin typeface="Calibri"/>
              </a:rPr>
              <a:t>Văn phạm GBNF ràng buộc đầu ra về một chữ cái hợp lệ ở bước hiệu chỉnh, loại bỏ phỏng đoán.</a:t>
            </a:r>
          </a:p>
        </p:txBody>
      </p:sp>
      <p:sp>
        <p:nvSpPr>
          <p:cNvPr id="21" name="Rectangle 20"/>
          <p:cNvSpPr/>
          <p:nvPr/>
        </p:nvSpPr>
        <p:spPr>
          <a:xfrm>
            <a:off x="8083296" y="4023360"/>
            <a:ext cx="3520440" cy="1645920"/>
          </a:xfrm>
          <a:prstGeom prst="rect">
            <a:avLst/>
          </a:prstGeom>
          <a:solidFill>
            <a:srgbClr val="FFFFFF"/>
          </a:solidFill>
          <a:ln w="12700">
            <a:solidFill>
              <a:srgbClr val="F3F4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4023360"/>
            <a:ext cx="3520440" cy="9144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4114800"/>
            <a:ext cx="3035808" cy="1463040"/>
          </a:xfrm>
          <a:prstGeom prst="rect">
            <a:avLst/>
          </a:prstGeom>
          <a:noFill/>
        </p:spPr>
        <p:txBody>
          <a:bodyPr wrap="square" anchor="ctr">
            <a:spAutoFit/>
          </a:bodyPr>
          <a:lstStyle/>
          <a:p>
            <a:pPr algn="l">
              <a:spcBef>
                <a:spcPts val="0"/>
              </a:spcBef>
              <a:spcAft>
                <a:spcPts val="400"/>
              </a:spcAft>
            </a:pPr>
            <a:r>
              <a:rPr sz="1400" b="1" i="0">
                <a:solidFill>
                  <a:srgbClr val="C2550B"/>
                </a:solidFill>
                <a:latin typeface="Calibri"/>
              </a:rPr>
              <a:t>Khử thiên lệch vị trí</a:t>
            </a:r>
          </a:p>
          <a:p>
            <a:pPr algn="l">
              <a:spcBef>
                <a:spcPts val="0"/>
              </a:spcBef>
              <a:spcAft>
                <a:spcPts val="400"/>
              </a:spcAft>
            </a:pPr>
            <a:r>
              <a:rPr sz="600" b="0" i="0">
                <a:solidFill>
                  <a:srgbClr val="1F2937"/>
                </a:solidFill>
                <a:latin typeface="Calibri"/>
              </a:rPr>
              <a:t/>
            </a:r>
          </a:p>
          <a:p>
            <a:pPr algn="l">
              <a:spcBef>
                <a:spcPts val="0"/>
              </a:spcBef>
              <a:spcAft>
                <a:spcPts val="400"/>
              </a:spcAft>
            </a:pPr>
            <a:r>
              <a:rPr sz="1150" b="0" i="0">
                <a:solidFill>
                  <a:srgbClr val="1F2937"/>
                </a:solidFill>
                <a:latin typeface="Calibri"/>
              </a:rPr>
              <a:t>Hoán vị tuần hoàn thứ tự lựa chọn; 29% câu hỏi có tới mười phương án.</a:t>
            </a:r>
          </a:p>
        </p:txBody>
      </p:sp>
      <p:sp>
        <p:nvSpPr>
          <p:cNvPr id="24" name="TextBox 23"/>
          <p:cNvSpPr txBox="1"/>
          <p:nvPr/>
        </p:nvSpPr>
        <p:spPr>
          <a:xfrm>
            <a:off x="11338560" y="6446520"/>
            <a:ext cx="731520" cy="274320"/>
          </a:xfrm>
          <a:prstGeom prst="rect">
            <a:avLst/>
          </a:prstGeom>
          <a:noFill/>
        </p:spPr>
        <p:txBody>
          <a:bodyPr wrap="square" anchor="t">
            <a:spAutoFit/>
          </a:bodyPr>
          <a:lstStyle/>
          <a:p>
            <a:pPr algn="r">
              <a:spcBef>
                <a:spcPts val="0"/>
              </a:spcBef>
              <a:spcAft>
                <a:spcPts val="300"/>
              </a:spcAft>
            </a:pPr>
            <a:r>
              <a:rPr sz="1000" b="0" i="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10972800" cy="320040"/>
          </a:xfrm>
          <a:prstGeom prst="rect">
            <a:avLst/>
          </a:prstGeom>
          <a:noFill/>
        </p:spPr>
        <p:txBody>
          <a:bodyPr wrap="square" anchor="t">
            <a:spAutoFit/>
          </a:bodyPr>
          <a:lstStyle/>
          <a:p>
            <a:pPr algn="l">
              <a:spcBef>
                <a:spcPts val="0"/>
              </a:spcBef>
              <a:spcAft>
                <a:spcPts val="300"/>
              </a:spcAft>
            </a:pPr>
            <a:r>
              <a:rPr sz="1100" b="1" i="0">
                <a:solidFill>
                  <a:srgbClr val="F97316"/>
                </a:solidFill>
                <a:latin typeface="Calibri"/>
              </a:rPr>
              <a:t>06 · Tính bền vững</a:t>
            </a:r>
          </a:p>
        </p:txBody>
      </p:sp>
      <p:sp>
        <p:nvSpPr>
          <p:cNvPr id="5" name="TextBox 4"/>
          <p:cNvSpPr txBox="1"/>
          <p:nvPr/>
        </p:nvSpPr>
        <p:spPr>
          <a:xfrm>
            <a:off x="640080" y="713232"/>
            <a:ext cx="11155680" cy="1005840"/>
          </a:xfrm>
          <a:prstGeom prst="rect">
            <a:avLst/>
          </a:prstGeom>
          <a:noFill/>
        </p:spPr>
        <p:txBody>
          <a:bodyPr wrap="square" anchor="t">
            <a:spAutoFit/>
          </a:bodyPr>
          <a:lstStyle/>
          <a:p>
            <a:pPr algn="l">
              <a:spcBef>
                <a:spcPts val="0"/>
              </a:spcBef>
              <a:spcAft>
                <a:spcPts val="300"/>
              </a:spcAft>
            </a:pPr>
            <a:r>
              <a:rPr sz="2200" b="1" i="0">
                <a:solidFill>
                  <a:srgbClr val="1F2937"/>
                </a:solidFill>
                <a:latin typeface="Calibri"/>
              </a:rPr>
              <a:t>Cơ chế bảo đảm tính toàn vẹn của pred.csv: một lỗi cục bộ không làm mất toàn bộ kết quả.</a:t>
            </a:r>
          </a:p>
        </p:txBody>
      </p:sp>
      <p:sp>
        <p:nvSpPr>
          <p:cNvPr id="6" name="Rectangle 5"/>
          <p:cNvSpPr/>
          <p:nvPr/>
        </p:nvSpPr>
        <p:spPr>
          <a:xfrm>
            <a:off x="640080" y="2103120"/>
            <a:ext cx="5349240" cy="1554480"/>
          </a:xfrm>
          <a:prstGeom prst="rect">
            <a:avLst/>
          </a:prstGeom>
          <a:solidFill>
            <a:srgbClr val="FAF5EE"/>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194560"/>
            <a:ext cx="4800600" cy="1371600"/>
          </a:xfrm>
          <a:prstGeom prst="rect">
            <a:avLst/>
          </a:prstGeom>
          <a:noFill/>
        </p:spPr>
        <p:txBody>
          <a:bodyPr wrap="square" anchor="ctr">
            <a:spAutoFit/>
          </a:bodyPr>
          <a:lstStyle/>
          <a:p>
            <a:pPr algn="l">
              <a:spcBef>
                <a:spcPts val="0"/>
              </a:spcBef>
              <a:spcAft>
                <a:spcPts val="400"/>
              </a:spcAft>
            </a:pPr>
            <a:r>
              <a:rPr sz="1500" b="1" i="0">
                <a:solidFill>
                  <a:srgbClr val="15803D"/>
                </a:solidFill>
                <a:latin typeface="Calibri"/>
              </a:rPr>
              <a:t>Mọi câu đều có đáp án</a:t>
            </a:r>
          </a:p>
          <a:p>
            <a:pPr algn="l">
              <a:spcBef>
                <a:spcPts val="0"/>
              </a:spcBef>
              <a:spcAft>
                <a:spcPts val="400"/>
              </a:spcAft>
            </a:pPr>
            <a:r>
              <a:rPr sz="600" b="0" i="0">
                <a:solidFill>
                  <a:srgbClr val="1F2937"/>
                </a:solidFill>
                <a:latin typeface="Calibri"/>
              </a:rPr>
              <a:t/>
            </a:r>
          </a:p>
          <a:p>
            <a:pPr algn="l">
              <a:spcBef>
                <a:spcPts val="0"/>
              </a:spcBef>
              <a:spcAft>
                <a:spcPts val="400"/>
              </a:spcAft>
            </a:pPr>
            <a:r>
              <a:rPr sz="1250" b="0" i="0">
                <a:solidFill>
                  <a:srgbClr val="1F2937"/>
                </a:solidFill>
                <a:latin typeface="Calibri"/>
              </a:rPr>
              <a:t>Ngoại lệ phát sinh khi giải được bắt ở cấp từng câu và thay bằng đáp án dự phòng tất định, nên một câu lỗi không làm dừng toàn bộ tiến trình.</a:t>
            </a:r>
          </a:p>
        </p:txBody>
      </p:sp>
      <p:sp>
        <p:nvSpPr>
          <p:cNvPr id="8" name="Rectangle 7"/>
          <p:cNvSpPr/>
          <p:nvPr/>
        </p:nvSpPr>
        <p:spPr>
          <a:xfrm>
            <a:off x="6263640" y="2103120"/>
            <a:ext cx="5349240" cy="1554480"/>
          </a:xfrm>
          <a:prstGeom prst="rect">
            <a:avLst/>
          </a:prstGeom>
          <a:solidFill>
            <a:srgbClr val="FAF5EE"/>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56248" y="2194560"/>
            <a:ext cx="4800600" cy="1371600"/>
          </a:xfrm>
          <a:prstGeom prst="rect">
            <a:avLst/>
          </a:prstGeom>
          <a:noFill/>
        </p:spPr>
        <p:txBody>
          <a:bodyPr wrap="square" anchor="ctr">
            <a:spAutoFit/>
          </a:bodyPr>
          <a:lstStyle/>
          <a:p>
            <a:pPr algn="l">
              <a:spcBef>
                <a:spcPts val="0"/>
              </a:spcBef>
              <a:spcAft>
                <a:spcPts val="400"/>
              </a:spcAft>
            </a:pPr>
            <a:r>
              <a:rPr sz="1500" b="1" i="0">
                <a:solidFill>
                  <a:srgbClr val="15803D"/>
                </a:solidFill>
                <a:latin typeface="Calibri"/>
              </a:rPr>
              <a:t>Ghi kết quả trước khâu kiểm tra</a:t>
            </a:r>
          </a:p>
          <a:p>
            <a:pPr algn="l">
              <a:spcBef>
                <a:spcPts val="0"/>
              </a:spcBef>
              <a:spcAft>
                <a:spcPts val="400"/>
              </a:spcAft>
            </a:pPr>
            <a:r>
              <a:rPr sz="600" b="0" i="0">
                <a:solidFill>
                  <a:srgbClr val="1F2937"/>
                </a:solidFill>
                <a:latin typeface="Calibri"/>
              </a:rPr>
              <a:t/>
            </a:r>
          </a:p>
          <a:p>
            <a:pPr algn="l">
              <a:spcBef>
                <a:spcPts val="0"/>
              </a:spcBef>
              <a:spcAft>
                <a:spcPts val="400"/>
              </a:spcAft>
            </a:pPr>
            <a:r>
              <a:rPr sz="1250" b="0" i="0">
                <a:solidFill>
                  <a:srgbClr val="1F2937"/>
                </a:solidFill>
                <a:latin typeface="Calibri"/>
              </a:rPr>
              <a:t>Bước hiệu chỉnh hợp đồng bảo đảm pred.csv phủ đúng toàn bộ qid với chữ cái hợp lệ; tệp được ghi trước, khâu kiểm tra chỉ phát cảnh báo.</a:t>
            </a:r>
          </a:p>
        </p:txBody>
      </p:sp>
      <p:sp>
        <p:nvSpPr>
          <p:cNvPr id="10" name="TextBox 9"/>
          <p:cNvSpPr txBox="1"/>
          <p:nvPr/>
        </p:nvSpPr>
        <p:spPr>
          <a:xfrm>
            <a:off x="640080" y="4114800"/>
            <a:ext cx="10972800" cy="365760"/>
          </a:xfrm>
          <a:prstGeom prst="rect">
            <a:avLst/>
          </a:prstGeom>
          <a:noFill/>
        </p:spPr>
        <p:txBody>
          <a:bodyPr wrap="square" anchor="t">
            <a:spAutoFit/>
          </a:bodyPr>
          <a:lstStyle/>
          <a:p>
            <a:pPr algn="l">
              <a:spcBef>
                <a:spcPts val="0"/>
              </a:spcBef>
              <a:spcAft>
                <a:spcPts val="300"/>
              </a:spcAft>
            </a:pPr>
            <a:r>
              <a:rPr sz="1400" b="1" i="0">
                <a:solidFill>
                  <a:srgbClr val="1F2937"/>
                </a:solidFill>
                <a:latin typeface="Calibri"/>
              </a:rPr>
              <a:t>Khả năng tự khôi phục khi gặp sự cố gồm ba lớp:</a:t>
            </a:r>
          </a:p>
        </p:txBody>
      </p:sp>
      <p:sp>
        <p:nvSpPr>
          <p:cNvPr id="11" name="TextBox 10"/>
          <p:cNvSpPr txBox="1"/>
          <p:nvPr/>
        </p:nvSpPr>
        <p:spPr>
          <a:xfrm>
            <a:off x="822960" y="4526280"/>
            <a:ext cx="10972800" cy="1371600"/>
          </a:xfrm>
          <a:prstGeom prst="rect">
            <a:avLst/>
          </a:prstGeom>
          <a:noFill/>
        </p:spPr>
        <p:txBody>
          <a:bodyPr wrap="square" anchor="t">
            <a:spAutoFit/>
          </a:bodyPr>
          <a:lstStyle/>
          <a:p>
            <a:pPr algn="l">
              <a:spcBef>
                <a:spcPts val="0"/>
              </a:spcBef>
              <a:spcAft>
                <a:spcPts val="300"/>
              </a:spcAft>
            </a:pPr>
            <a:r>
              <a:rPr sz="1300" b="1" i="0">
                <a:solidFill>
                  <a:srgbClr val="C2550B"/>
                </a:solidFill>
                <a:latin typeface="Calibri"/>
              </a:rPr>
              <a:t>1.  Thử lại từng câu</a:t>
            </a:r>
            <a:r>
              <a:rPr sz="1250" b="0" i="0">
                <a:solidFill>
                  <a:srgbClr val="1F2937"/>
                </a:solidFill>
                <a:latin typeface="Calibri"/>
              </a:rPr>
              <a:t>: các lỗi tạm thời (hết thời gian, mất kết nối) được thử lại với khoảng chờ tăng dần.</a:t>
            </a:r>
          </a:p>
          <a:p>
            <a:pPr algn="l">
              <a:spcBef>
                <a:spcPts val="0"/>
              </a:spcBef>
              <a:spcAft>
                <a:spcPts val="300"/>
              </a:spcAft>
            </a:pPr>
            <a:r>
              <a:rPr sz="1300" b="1" i="0">
                <a:solidFill>
                  <a:srgbClr val="C2550B"/>
                </a:solidFill>
                <a:latin typeface="Calibri"/>
              </a:rPr>
              <a:t>2.  Dự phòng từng câu</a:t>
            </a:r>
            <a:r>
              <a:rPr sz="1250" b="0" i="0">
                <a:solidFill>
                  <a:srgbClr val="1F2937"/>
                </a:solidFill>
                <a:latin typeface="Calibri"/>
              </a:rPr>
              <a:t>: mọi lỗi khác được thay bằng đáp án heuristic tất định, không gây dừng tiến trình.</a:t>
            </a:r>
          </a:p>
          <a:p>
            <a:pPr algn="l">
              <a:spcBef>
                <a:spcPts val="0"/>
              </a:spcBef>
              <a:spcAft>
                <a:spcPts val="300"/>
              </a:spcAft>
            </a:pPr>
            <a:r>
              <a:rPr sz="1300" b="1" i="0">
                <a:solidFill>
                  <a:srgbClr val="C2550B"/>
                </a:solidFill>
                <a:latin typeface="Calibri"/>
              </a:rPr>
              <a:t>3.  Checkpoint và khôi phục</a:t>
            </a:r>
            <a:r>
              <a:rPr sz="1250" b="0" i="0">
                <a:solidFill>
                  <a:srgbClr val="1F2937"/>
                </a:solidFill>
                <a:latin typeface="Calibri"/>
              </a:rPr>
              <a:t>: khi container khởi động lại, tiến trình tiếp tục từ câu cuối cùng, không tính toán lại.</a:t>
            </a:r>
          </a:p>
        </p:txBody>
      </p:sp>
      <p:sp>
        <p:nvSpPr>
          <p:cNvPr id="12" name="TextBox 11"/>
          <p:cNvSpPr txBox="1"/>
          <p:nvPr/>
        </p:nvSpPr>
        <p:spPr>
          <a:xfrm>
            <a:off x="640080" y="6035040"/>
            <a:ext cx="10972800" cy="365760"/>
          </a:xfrm>
          <a:prstGeom prst="rect">
            <a:avLst/>
          </a:prstGeom>
          <a:noFill/>
        </p:spPr>
        <p:txBody>
          <a:bodyPr wrap="square" anchor="t">
            <a:spAutoFit/>
          </a:bodyPr>
          <a:lstStyle/>
          <a:p>
            <a:pPr algn="l">
              <a:spcBef>
                <a:spcPts val="0"/>
              </a:spcBef>
              <a:spcAft>
                <a:spcPts val="300"/>
              </a:spcAft>
            </a:pPr>
            <a:r>
              <a:rPr sz="1150" b="0" i="1">
                <a:solidFill>
                  <a:srgbClr val="6B7280"/>
                </a:solidFill>
                <a:latin typeface="Calibri"/>
              </a:rPr>
              <a:t>Đã kiểm thử đúng entrypoint Docker trên GPU thực tế (pred.csv hợp lệ, hợp đồng 40/40); 211 ca kiểm thử đơn vị đạt.</a:t>
            </a:r>
          </a:p>
        </p:txBody>
      </p:sp>
      <p:sp>
        <p:nvSpPr>
          <p:cNvPr id="13" name="TextBox 12"/>
          <p:cNvSpPr txBox="1"/>
          <p:nvPr/>
        </p:nvSpPr>
        <p:spPr>
          <a:xfrm>
            <a:off x="11338560" y="6446520"/>
            <a:ext cx="731520" cy="274320"/>
          </a:xfrm>
          <a:prstGeom prst="rect">
            <a:avLst/>
          </a:prstGeom>
          <a:noFill/>
        </p:spPr>
        <p:txBody>
          <a:bodyPr wrap="square" anchor="t">
            <a:spAutoFit/>
          </a:bodyPr>
          <a:lstStyle/>
          <a:p>
            <a:pPr algn="r">
              <a:spcBef>
                <a:spcPts val="0"/>
              </a:spcBef>
              <a:spcAft>
                <a:spcPts val="300"/>
              </a:spcAft>
            </a:pPr>
            <a:r>
              <a:rPr sz="1000" b="0" i="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10972800" cy="320040"/>
          </a:xfrm>
          <a:prstGeom prst="rect">
            <a:avLst/>
          </a:prstGeom>
          <a:noFill/>
        </p:spPr>
        <p:txBody>
          <a:bodyPr wrap="square" anchor="t">
            <a:spAutoFit/>
          </a:bodyPr>
          <a:lstStyle/>
          <a:p>
            <a:pPr algn="l">
              <a:spcBef>
                <a:spcPts val="0"/>
              </a:spcBef>
              <a:spcAft>
                <a:spcPts val="300"/>
              </a:spcAft>
            </a:pPr>
            <a:r>
              <a:rPr sz="1100" b="1" i="0">
                <a:solidFill>
                  <a:srgbClr val="F97316"/>
                </a:solidFill>
                <a:latin typeface="Calibri"/>
              </a:rPr>
              <a:t>07 · Chống quá khớp</a:t>
            </a:r>
          </a:p>
        </p:txBody>
      </p:sp>
      <p:sp>
        <p:nvSpPr>
          <p:cNvPr id="5" name="TextBox 4"/>
          <p:cNvSpPr txBox="1"/>
          <p:nvPr/>
        </p:nvSpPr>
        <p:spPr>
          <a:xfrm>
            <a:off x="640080" y="713232"/>
            <a:ext cx="11155680" cy="1005840"/>
          </a:xfrm>
          <a:prstGeom prst="rect">
            <a:avLst/>
          </a:prstGeom>
          <a:noFill/>
        </p:spPr>
        <p:txBody>
          <a:bodyPr wrap="square" anchor="t">
            <a:spAutoFit/>
          </a:bodyPr>
          <a:lstStyle/>
          <a:p>
            <a:pPr algn="l">
              <a:spcBef>
                <a:spcPts val="0"/>
              </a:spcBef>
              <a:spcAft>
                <a:spcPts val="300"/>
              </a:spcAft>
            </a:pPr>
            <a:r>
              <a:rPr sz="2200" b="1" i="0">
                <a:solidFill>
                  <a:srgbClr val="1F2937"/>
                </a:solidFill>
                <a:latin typeface="Calibri"/>
              </a:rPr>
              <a:t>Phần lớn kỹ thuật khảo sát bị loại bỏ dựa trên kết quả đo lường thực nghiệm.</a:t>
            </a:r>
          </a:p>
        </p:txBody>
      </p:sp>
      <p:graphicFrame>
        <p:nvGraphicFramePr>
          <p:cNvPr id="6" name="Table 5"/>
          <p:cNvGraphicFramePr>
            <a:graphicFrameLocks noGrp="1"/>
          </p:cNvGraphicFramePr>
          <p:nvPr/>
        </p:nvGraphicFramePr>
        <p:xfrm>
          <a:off x="640080" y="1965960"/>
          <a:ext cx="10972800" cy="4114800"/>
        </p:xfrm>
        <a:graphic>
          <a:graphicData uri="http://schemas.openxmlformats.org/drawingml/2006/table">
            <a:tbl>
              <a:tblPr firstRow="1" bandRow="1">
                <a:tableStyleId>{5C22544A-7EE6-4342-B048-85BDC9FD1C3A}</a:tableStyleId>
              </a:tblPr>
              <a:tblGrid>
                <a:gridCol w="3108960"/>
                <a:gridCol w="1828800"/>
                <a:gridCol w="6035040"/>
              </a:tblGrid>
              <a:tr h="685800">
                <a:tc>
                  <a:txBody>
                    <a:bodyPr/>
                    <a:lstStyle/>
                    <a:p>
                      <a:r>
                        <a:rPr sz="1300" b="1" i="0">
                          <a:solidFill>
                            <a:srgbClr val="FFFFFF"/>
                          </a:solidFill>
                          <a:latin typeface="Calibri"/>
                        </a:rPr>
                        <a:t>Kỹ thuật đã khảo sát</a:t>
                      </a:r>
                    </a:p>
                  </a:txBody>
                  <a:tcPr marL="91440" marR="54864" marT="18288" marB="18288" anchor="ctr">
                    <a:solidFill>
                      <a:srgbClr val="1F2937"/>
                    </a:solidFill>
                  </a:tcPr>
                </a:tc>
                <a:tc>
                  <a:txBody>
                    <a:bodyPr/>
                    <a:lstStyle/>
                    <a:p>
                      <a:r>
                        <a:rPr sz="1300" b="1" i="0">
                          <a:solidFill>
                            <a:srgbClr val="FFFFFF"/>
                          </a:solidFill>
                          <a:latin typeface="Calibri"/>
                        </a:rPr>
                        <a:t>Kết quả đo</a:t>
                      </a:r>
                    </a:p>
                  </a:txBody>
                  <a:tcPr marL="91440" marR="54864" marT="18288" marB="18288" anchor="ctr">
                    <a:solidFill>
                      <a:srgbClr val="1F2937"/>
                    </a:solidFill>
                  </a:tcPr>
                </a:tc>
                <a:tc>
                  <a:txBody>
                    <a:bodyPr/>
                    <a:lstStyle/>
                    <a:p>
                      <a:r>
                        <a:rPr sz="1300" b="1" i="0">
                          <a:solidFill>
                            <a:srgbClr val="FFFFFF"/>
                          </a:solidFill>
                          <a:latin typeface="Calibri"/>
                        </a:rPr>
                        <a:t>Lý do loại bỏ</a:t>
                      </a:r>
                    </a:p>
                  </a:txBody>
                  <a:tcPr marL="91440" marR="54864" marT="18288" marB="18288" anchor="ctr">
                    <a:solidFill>
                      <a:srgbClr val="1F2937"/>
                    </a:solidFill>
                  </a:tcPr>
                </a:tc>
              </a:tr>
              <a:tr h="685800">
                <a:tc>
                  <a:txBody>
                    <a:bodyPr/>
                    <a:lstStyle/>
                    <a:p>
                      <a:r>
                        <a:rPr sz="1200" b="0" i="0">
                          <a:solidFill>
                            <a:srgbClr val="1F2937"/>
                          </a:solidFill>
                          <a:latin typeface="Calibri"/>
                        </a:rPr>
                        <a:t>RAG luật / hành chính</a:t>
                      </a:r>
                    </a:p>
                  </a:txBody>
                  <a:tcPr marL="91440" marR="54864" marT="18288" marB="18288" anchor="ctr">
                    <a:solidFill>
                      <a:srgbClr val="FFFFFF"/>
                    </a:solidFill>
                  </a:tcPr>
                </a:tc>
                <a:tc>
                  <a:txBody>
                    <a:bodyPr/>
                    <a:lstStyle/>
                    <a:p>
                      <a:r>
                        <a:rPr sz="1200" b="1" i="0">
                          <a:solidFill>
                            <a:srgbClr val="B91C1C"/>
                          </a:solidFill>
                          <a:latin typeface="Calibri"/>
                        </a:rPr>
                        <a:t>âm</a:t>
                      </a:r>
                    </a:p>
                  </a:txBody>
                  <a:tcPr marL="91440" marR="54864" marT="18288" marB="18288" anchor="ctr">
                    <a:solidFill>
                      <a:srgbClr val="FFFFFF"/>
                    </a:solidFill>
                  </a:tcPr>
                </a:tc>
                <a:tc>
                  <a:txBody>
                    <a:bodyPr/>
                    <a:lstStyle/>
                    <a:p>
                      <a:r>
                        <a:rPr sz="1200" b="0" i="0">
                          <a:solidFill>
                            <a:srgbClr val="1F2937"/>
                          </a:solidFill>
                          <a:latin typeface="Calibri"/>
                        </a:rPr>
                        <a:t>civics −5 điểm, định lượng −7,5 điểm; trắc nghiệm đóng không có ngữ liệu để truy hồi.</a:t>
                      </a:r>
                    </a:p>
                  </a:txBody>
                  <a:tcPr marL="91440" marR="54864" marT="18288" marB="18288" anchor="ctr">
                    <a:solidFill>
                      <a:srgbClr val="FFFFFF"/>
                    </a:solidFill>
                  </a:tcPr>
                </a:tc>
              </a:tr>
              <a:tr h="685800">
                <a:tc>
                  <a:txBody>
                    <a:bodyPr/>
                    <a:lstStyle/>
                    <a:p>
                      <a:r>
                        <a:rPr sz="1200" b="0" i="0">
                          <a:solidFill>
                            <a:srgbClr val="1F2937"/>
                          </a:solidFill>
                          <a:latin typeface="Calibri"/>
                        </a:rPr>
                        <a:t>Bỏ phiếu đa dạng (k=5)</a:t>
                      </a:r>
                    </a:p>
                  </a:txBody>
                  <a:tcPr marL="91440" marR="54864" marT="18288" marB="18288" anchor="ctr">
                    <a:solidFill>
                      <a:srgbClr val="F3F4F6"/>
                    </a:solidFill>
                  </a:tcPr>
                </a:tc>
                <a:tc>
                  <a:txBody>
                    <a:bodyPr/>
                    <a:lstStyle/>
                    <a:p>
                      <a:r>
                        <a:rPr sz="1200" b="1" i="0">
                          <a:solidFill>
                            <a:srgbClr val="6B7280"/>
                          </a:solidFill>
                          <a:latin typeface="Calibri"/>
                        </a:rPr>
                        <a:t>không đổi</a:t>
                      </a:r>
                    </a:p>
                  </a:txBody>
                  <a:tcPr marL="91440" marR="54864" marT="18288" marB="18288" anchor="ctr">
                    <a:solidFill>
                      <a:srgbClr val="F3F4F6"/>
                    </a:solidFill>
                  </a:tcPr>
                </a:tc>
                <a:tc>
                  <a:txBody>
                    <a:bodyPr/>
                    <a:lstStyle/>
                    <a:p>
                      <a:r>
                        <a:rPr sz="1200" b="0" i="0">
                          <a:solidFill>
                            <a:srgbClr val="1F2937"/>
                          </a:solidFill>
                          <a:latin typeface="Calibri"/>
                        </a:rPr>
                        <a:t>Sai số của mô hình mang tính hệ thống; các mẫu cùng đồng thuận một đáp án sai.</a:t>
                      </a:r>
                    </a:p>
                  </a:txBody>
                  <a:tcPr marL="91440" marR="54864" marT="18288" marB="18288" anchor="ctr">
                    <a:solidFill>
                      <a:srgbClr val="F3F4F6"/>
                    </a:solidFill>
                  </a:tcPr>
                </a:tc>
              </a:tr>
              <a:tr h="685800">
                <a:tc>
                  <a:txBody>
                    <a:bodyPr/>
                    <a:lstStyle/>
                    <a:p>
                      <a:r>
                        <a:rPr sz="1200" b="0" i="0">
                          <a:solidFill>
                            <a:srgbClr val="1F2937"/>
                          </a:solidFill>
                          <a:latin typeface="Calibri"/>
                        </a:rPr>
                        <a:t>Lượng tử hóa cao hơn (Q6/Q8)</a:t>
                      </a:r>
                    </a:p>
                  </a:txBody>
                  <a:tcPr marL="91440" marR="54864" marT="18288" marB="18288" anchor="ctr">
                    <a:solidFill>
                      <a:srgbClr val="FFFFFF"/>
                    </a:solidFill>
                  </a:tcPr>
                </a:tc>
                <a:tc>
                  <a:txBody>
                    <a:bodyPr/>
                    <a:lstStyle/>
                    <a:p>
                      <a:r>
                        <a:rPr sz="1200" b="1" i="0">
                          <a:solidFill>
                            <a:srgbClr val="6B7280"/>
                          </a:solidFill>
                          <a:latin typeface="Calibri"/>
                        </a:rPr>
                        <a:t>không đổi / kém</a:t>
                      </a:r>
                    </a:p>
                  </a:txBody>
                  <a:tcPr marL="91440" marR="54864" marT="18288" marB="18288" anchor="ctr">
                    <a:solidFill>
                      <a:srgbClr val="FFFFFF"/>
                    </a:solidFill>
                  </a:tcPr>
                </a:tc>
                <a:tc>
                  <a:txBody>
                    <a:bodyPr/>
                    <a:lstStyle/>
                    <a:p>
                      <a:r>
                        <a:rPr sz="1200" b="0" i="0">
                          <a:solidFill>
                            <a:srgbClr val="1F2937"/>
                          </a:solidFill>
                          <a:latin typeface="Calibri"/>
                        </a:rPr>
                        <a:t>Q4 là QAT (tối ưu sẵn cho 4‑bit); Q6/Q8 không cải thiện mà tốn gấp đôi thời gian và bộ nhớ.</a:t>
                      </a:r>
                    </a:p>
                  </a:txBody>
                  <a:tcPr marL="91440" marR="54864" marT="18288" marB="18288" anchor="ctr">
                    <a:solidFill>
                      <a:srgbClr val="FFFFFF"/>
                    </a:solidFill>
                  </a:tcPr>
                </a:tc>
              </a:tr>
              <a:tr h="685800">
                <a:tc>
                  <a:txBody>
                    <a:bodyPr/>
                    <a:lstStyle/>
                    <a:p>
                      <a:r>
                        <a:rPr sz="1200" b="0" i="0">
                          <a:solidFill>
                            <a:srgbClr val="1F2937"/>
                          </a:solidFill>
                          <a:latin typeface="Calibri"/>
                        </a:rPr>
                        <a:t>Mô hình dense 31B</a:t>
                      </a:r>
                    </a:p>
                  </a:txBody>
                  <a:tcPr marL="91440" marR="54864" marT="18288" marB="18288" anchor="ctr">
                    <a:solidFill>
                      <a:srgbClr val="F3F4F6"/>
                    </a:solidFill>
                  </a:tcPr>
                </a:tc>
                <a:tc>
                  <a:txBody>
                    <a:bodyPr/>
                    <a:lstStyle/>
                    <a:p>
                      <a:r>
                        <a:rPr sz="1200" b="1" i="0">
                          <a:solidFill>
                            <a:srgbClr val="B91C1C"/>
                          </a:solidFill>
                          <a:latin typeface="Calibri"/>
                        </a:rPr>
                        <a:t>loại: thời gian</a:t>
                      </a:r>
                    </a:p>
                  </a:txBody>
                  <a:tcPr marL="91440" marR="54864" marT="18288" marB="18288" anchor="ctr">
                    <a:solidFill>
                      <a:srgbClr val="F3F4F6"/>
                    </a:solidFill>
                  </a:tcPr>
                </a:tc>
                <a:tc>
                  <a:txBody>
                    <a:bodyPr/>
                    <a:lstStyle/>
                    <a:p>
                      <a:r>
                        <a:rPr sz="1200" b="0" i="0">
                          <a:solidFill>
                            <a:srgbClr val="1F2937"/>
                          </a:solidFill>
                          <a:latin typeface="Calibri"/>
                        </a:rPr>
                        <a:t>≈90 giây/câu, tương đương ~50 giờ cho 2000 câu; chỉ cao hơn ~0,7 điểm.</a:t>
                      </a:r>
                    </a:p>
                  </a:txBody>
                  <a:tcPr marL="91440" marR="54864" marT="18288" marB="18288" anchor="ctr">
                    <a:solidFill>
                      <a:srgbClr val="F3F4F6"/>
                    </a:solidFill>
                  </a:tcPr>
                </a:tc>
              </a:tr>
              <a:tr h="685800">
                <a:tc>
                  <a:txBody>
                    <a:bodyPr/>
                    <a:lstStyle/>
                    <a:p>
                      <a:r>
                        <a:rPr sz="1200" b="0" i="0">
                          <a:solidFill>
                            <a:srgbClr val="1F2937"/>
                          </a:solidFill>
                          <a:latin typeface="Calibri"/>
                        </a:rPr>
                        <a:t>Mô hình thẩm định Qwen3.5‑9B</a:t>
                      </a:r>
                    </a:p>
                  </a:txBody>
                  <a:tcPr marL="91440" marR="54864" marT="18288" marB="18288" anchor="ctr">
                    <a:solidFill>
                      <a:srgbClr val="FFFFFF"/>
                    </a:solidFill>
                  </a:tcPr>
                </a:tc>
                <a:tc>
                  <a:txBody>
                    <a:bodyPr/>
                    <a:lstStyle/>
                    <a:p>
                      <a:r>
                        <a:rPr sz="1200" b="1" i="0">
                          <a:solidFill>
                            <a:srgbClr val="6B7280"/>
                          </a:solidFill>
                          <a:latin typeface="Calibri"/>
                        </a:rPr>
                        <a:t>chưa chấp nhận</a:t>
                      </a:r>
                    </a:p>
                  </a:txBody>
                  <a:tcPr marL="91440" marR="54864" marT="18288" marB="18288" anchor="ctr">
                    <a:solidFill>
                      <a:srgbClr val="FFFFFF"/>
                    </a:solidFill>
                  </a:tcPr>
                </a:tc>
                <a:tc>
                  <a:txBody>
                    <a:bodyPr/>
                    <a:lstStyle/>
                    <a:p>
                      <a:r>
                        <a:rPr sz="1200" b="0" i="0">
                          <a:solidFill>
                            <a:srgbClr val="1F2937"/>
                          </a:solidFill>
                          <a:latin typeface="Calibri"/>
                        </a:rPr>
                        <a:t>Bản độc lập kém hơn; thẩm định chéo không ổn định và có nguy cơ đảo đáp án đang đúng.</a:t>
                      </a:r>
                    </a:p>
                  </a:txBody>
                  <a:tcPr marL="91440" marR="54864" marT="18288" marB="18288" anchor="ctr">
                    <a:solidFill>
                      <a:srgbClr val="FFFFFF"/>
                    </a:solidFill>
                  </a:tcPr>
                </a:tc>
              </a:tr>
            </a:tbl>
          </a:graphicData>
        </a:graphic>
      </p:graphicFrame>
      <p:sp>
        <p:nvSpPr>
          <p:cNvPr id="7" name="TextBox 6"/>
          <p:cNvSpPr txBox="1"/>
          <p:nvPr/>
        </p:nvSpPr>
        <p:spPr>
          <a:xfrm>
            <a:off x="640080" y="6263640"/>
            <a:ext cx="10972800" cy="365760"/>
          </a:xfrm>
          <a:prstGeom prst="rect">
            <a:avLst/>
          </a:prstGeom>
          <a:noFill/>
        </p:spPr>
        <p:txBody>
          <a:bodyPr wrap="square" anchor="t">
            <a:spAutoFit/>
          </a:bodyPr>
          <a:lstStyle/>
          <a:p>
            <a:pPr algn="l">
              <a:spcBef>
                <a:spcPts val="0"/>
              </a:spcBef>
              <a:spcAft>
                <a:spcPts val="300"/>
              </a:spcAft>
            </a:pPr>
            <a:r>
              <a:rPr sz="1200" b="0" i="1">
                <a:solidFill>
                  <a:srgbClr val="C2550B"/>
                </a:solidFill>
                <a:latin typeface="Calibri"/>
              </a:rPr>
              <a:t>Kết quả phủ định có giá trị ngang kết quả khẳng định: chúng ngăn việc triển khai các kỹ thuật bất lợi cho tập kiểm thử riêng.</a:t>
            </a:r>
          </a:p>
        </p:txBody>
      </p:sp>
      <p:sp>
        <p:nvSpPr>
          <p:cNvPr id="8" name="TextBox 7"/>
          <p:cNvSpPr txBox="1"/>
          <p:nvPr/>
        </p:nvSpPr>
        <p:spPr>
          <a:xfrm>
            <a:off x="11338560" y="6446520"/>
            <a:ext cx="731520" cy="274320"/>
          </a:xfrm>
          <a:prstGeom prst="rect">
            <a:avLst/>
          </a:prstGeom>
          <a:noFill/>
        </p:spPr>
        <p:txBody>
          <a:bodyPr wrap="square" anchor="t">
            <a:spAutoFit/>
          </a:bodyPr>
          <a:lstStyle/>
          <a:p>
            <a:pPr algn="r">
              <a:spcBef>
                <a:spcPts val="0"/>
              </a:spcBef>
              <a:spcAft>
                <a:spcPts val="300"/>
              </a:spcAft>
            </a:pPr>
            <a:r>
              <a:rPr sz="1000" b="0" i="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10972800" cy="320040"/>
          </a:xfrm>
          <a:prstGeom prst="rect">
            <a:avLst/>
          </a:prstGeom>
          <a:noFill/>
        </p:spPr>
        <p:txBody>
          <a:bodyPr wrap="square" anchor="t">
            <a:spAutoFit/>
          </a:bodyPr>
          <a:lstStyle/>
          <a:p>
            <a:pPr algn="l">
              <a:spcBef>
                <a:spcPts val="0"/>
              </a:spcBef>
              <a:spcAft>
                <a:spcPts val="300"/>
              </a:spcAft>
            </a:pPr>
            <a:r>
              <a:rPr sz="1100" b="1" i="0">
                <a:solidFill>
                  <a:srgbClr val="F97316"/>
                </a:solidFill>
                <a:latin typeface="Calibri"/>
              </a:rPr>
              <a:t>08 · Điểm thời gian</a:t>
            </a:r>
          </a:p>
        </p:txBody>
      </p:sp>
      <p:sp>
        <p:nvSpPr>
          <p:cNvPr id="5" name="TextBox 4"/>
          <p:cNvSpPr txBox="1"/>
          <p:nvPr/>
        </p:nvSpPr>
        <p:spPr>
          <a:xfrm>
            <a:off x="640080" y="713232"/>
            <a:ext cx="11155680" cy="1005840"/>
          </a:xfrm>
          <a:prstGeom prst="rect">
            <a:avLst/>
          </a:prstGeom>
          <a:noFill/>
        </p:spPr>
        <p:txBody>
          <a:bodyPr wrap="square" anchor="t">
            <a:spAutoFit/>
          </a:bodyPr>
          <a:lstStyle/>
          <a:p>
            <a:pPr algn="l">
              <a:spcBef>
                <a:spcPts val="0"/>
              </a:spcBef>
              <a:spcAft>
                <a:spcPts val="300"/>
              </a:spcAft>
            </a:pPr>
            <a:r>
              <a:rPr sz="2200" b="1" i="0">
                <a:solidFill>
                  <a:srgbClr val="1F2937"/>
                </a:solidFill>
                <a:latin typeface="Calibri"/>
              </a:rPr>
              <a:t>Điểm thời gian được bảo đảm ở độ sâu suy luận tối đa do tham số token gần như không ảnh hưởng thời gian.</a:t>
            </a:r>
          </a:p>
        </p:txBody>
      </p:sp>
      <p:graphicFrame>
        <p:nvGraphicFramePr>
          <p:cNvPr id="6" name="Table 5"/>
          <p:cNvGraphicFramePr>
            <a:graphicFrameLocks noGrp="1"/>
          </p:cNvGraphicFramePr>
          <p:nvPr/>
        </p:nvGraphicFramePr>
        <p:xfrm>
          <a:off x="640080" y="2194560"/>
          <a:ext cx="5852160" cy="2011680"/>
        </p:xfrm>
        <a:graphic>
          <a:graphicData uri="http://schemas.openxmlformats.org/drawingml/2006/table">
            <a:tbl>
              <a:tblPr firstRow="1" bandRow="1">
                <a:tableStyleId>{5C22544A-7EE6-4342-B048-85BDC9FD1C3A}</a:tableStyleId>
              </a:tblPr>
              <a:tblGrid>
                <a:gridCol w="3566160"/>
                <a:gridCol w="2286000"/>
              </a:tblGrid>
              <a:tr h="502920">
                <a:tc>
                  <a:txBody>
                    <a:bodyPr/>
                    <a:lstStyle/>
                    <a:p>
                      <a:r>
                        <a:rPr sz="1200" b="1" i="0">
                          <a:solidFill>
                            <a:srgbClr val="FFFFFF"/>
                          </a:solidFill>
                          <a:latin typeface="Calibri"/>
                        </a:rPr>
                        <a:t>reasoning_max_tokens</a:t>
                      </a:r>
                    </a:p>
                  </a:txBody>
                  <a:tcPr marL="91440" marR="54864" marT="18288" marB="18288" anchor="ctr">
                    <a:solidFill>
                      <a:srgbClr val="1F2937"/>
                    </a:solidFill>
                  </a:tcPr>
                </a:tc>
                <a:tc>
                  <a:txBody>
                    <a:bodyPr/>
                    <a:lstStyle/>
                    <a:p>
                      <a:r>
                        <a:rPr sz="1200" b="1" i="0">
                          <a:solidFill>
                            <a:srgbClr val="FFFFFF"/>
                          </a:solidFill>
                          <a:latin typeface="Calibri"/>
                        </a:rPr>
                        <a:t>Thời gian (463 câu)</a:t>
                      </a:r>
                    </a:p>
                  </a:txBody>
                  <a:tcPr marL="91440" marR="54864" marT="18288" marB="18288" anchor="ctr">
                    <a:solidFill>
                      <a:srgbClr val="1F2937"/>
                    </a:solidFill>
                  </a:tcPr>
                </a:tc>
              </a:tr>
              <a:tr h="502920">
                <a:tc>
                  <a:txBody>
                    <a:bodyPr/>
                    <a:lstStyle/>
                    <a:p>
                      <a:r>
                        <a:rPr sz="1300" b="1" i="0">
                          <a:solidFill>
                            <a:srgbClr val="1F2937"/>
                          </a:solidFill>
                          <a:latin typeface="Calibri"/>
                        </a:rPr>
                        <a:t>768</a:t>
                      </a:r>
                    </a:p>
                  </a:txBody>
                  <a:tcPr marL="91440" marR="54864" marT="18288" marB="18288" anchor="ctr">
                    <a:solidFill>
                      <a:srgbClr val="FFFFFF"/>
                    </a:solidFill>
                  </a:tcPr>
                </a:tc>
                <a:tc>
                  <a:txBody>
                    <a:bodyPr/>
                    <a:lstStyle/>
                    <a:p>
                      <a:r>
                        <a:rPr sz="1300" b="0" i="0">
                          <a:solidFill>
                            <a:srgbClr val="1F2937"/>
                          </a:solidFill>
                          <a:latin typeface="Calibri"/>
                        </a:rPr>
                        <a:t>21,2 phút</a:t>
                      </a:r>
                    </a:p>
                  </a:txBody>
                  <a:tcPr marL="91440" marR="54864" marT="18288" marB="18288" anchor="ctr">
                    <a:solidFill>
                      <a:srgbClr val="FFFFFF"/>
                    </a:solidFill>
                  </a:tcPr>
                </a:tc>
              </a:tr>
              <a:tr h="502920">
                <a:tc>
                  <a:txBody>
                    <a:bodyPr/>
                    <a:lstStyle/>
                    <a:p>
                      <a:r>
                        <a:rPr sz="1300" b="1" i="0">
                          <a:solidFill>
                            <a:srgbClr val="1F2937"/>
                          </a:solidFill>
                          <a:latin typeface="Calibri"/>
                        </a:rPr>
                        <a:t>1280</a:t>
                      </a:r>
                    </a:p>
                  </a:txBody>
                  <a:tcPr marL="91440" marR="54864" marT="18288" marB="18288" anchor="ctr">
                    <a:solidFill>
                      <a:srgbClr val="F3F4F6"/>
                    </a:solidFill>
                  </a:tcPr>
                </a:tc>
                <a:tc>
                  <a:txBody>
                    <a:bodyPr/>
                    <a:lstStyle/>
                    <a:p>
                      <a:r>
                        <a:rPr sz="1300" b="0" i="0">
                          <a:solidFill>
                            <a:srgbClr val="1F2937"/>
                          </a:solidFill>
                          <a:latin typeface="Calibri"/>
                        </a:rPr>
                        <a:t>22,1 phút</a:t>
                      </a:r>
                    </a:p>
                  </a:txBody>
                  <a:tcPr marL="91440" marR="54864" marT="18288" marB="18288" anchor="ctr">
                    <a:solidFill>
                      <a:srgbClr val="F3F4F6"/>
                    </a:solidFill>
                  </a:tcPr>
                </a:tc>
              </a:tr>
              <a:tr h="502920">
                <a:tc>
                  <a:txBody>
                    <a:bodyPr/>
                    <a:lstStyle/>
                    <a:p>
                      <a:r>
                        <a:rPr sz="1300" b="1" i="0">
                          <a:solidFill>
                            <a:srgbClr val="C2550B"/>
                          </a:solidFill>
                          <a:latin typeface="Calibri"/>
                        </a:rPr>
                        <a:t>2048  (triển khai)</a:t>
                      </a:r>
                    </a:p>
                  </a:txBody>
                  <a:tcPr marL="91440" marR="54864" marT="18288" marB="18288" anchor="ctr">
                    <a:solidFill>
                      <a:srgbClr val="FFFFFF"/>
                    </a:solidFill>
                  </a:tcPr>
                </a:tc>
                <a:tc>
                  <a:txBody>
                    <a:bodyPr/>
                    <a:lstStyle/>
                    <a:p>
                      <a:r>
                        <a:rPr sz="1300" b="0" i="0">
                          <a:solidFill>
                            <a:srgbClr val="1F2937"/>
                          </a:solidFill>
                          <a:latin typeface="Calibri"/>
                        </a:rPr>
                        <a:t>22,6 phút</a:t>
                      </a:r>
                    </a:p>
                  </a:txBody>
                  <a:tcPr marL="91440" marR="54864" marT="18288" marB="18288" anchor="ctr">
                    <a:solidFill>
                      <a:srgbClr val="FFFFFF"/>
                    </a:solidFill>
                  </a:tcPr>
                </a:tc>
              </a:tr>
            </a:tbl>
          </a:graphicData>
        </a:graphic>
      </p:graphicFrame>
      <p:sp>
        <p:nvSpPr>
          <p:cNvPr id="7" name="TextBox 6"/>
          <p:cNvSpPr txBox="1"/>
          <p:nvPr/>
        </p:nvSpPr>
        <p:spPr>
          <a:xfrm>
            <a:off x="640080" y="4526280"/>
            <a:ext cx="6035040" cy="1371600"/>
          </a:xfrm>
          <a:prstGeom prst="rect">
            <a:avLst/>
          </a:prstGeom>
          <a:noFill/>
        </p:spPr>
        <p:txBody>
          <a:bodyPr wrap="square" anchor="t">
            <a:spAutoFit/>
          </a:bodyPr>
          <a:lstStyle/>
          <a:p>
            <a:pPr algn="l">
              <a:spcBef>
                <a:spcPts val="0"/>
              </a:spcBef>
              <a:spcAft>
                <a:spcPts val="300"/>
              </a:spcAft>
            </a:pPr>
            <a:r>
              <a:rPr sz="1300" b="0" i="0">
                <a:solidFill>
                  <a:srgbClr val="1F2937"/>
                </a:solidFill>
                <a:latin typeface="Calibri"/>
              </a:rPr>
              <a:t>Mức 2048 chỉ chậm hơn mức 768 khoảng 6,7% do mô hình MoE thường dừng sớm. Tập 2000 câu hoàn tất trong khoảng 1,5–1,6 giờ ở mọi mức.</a:t>
            </a:r>
          </a:p>
        </p:txBody>
      </p:sp>
      <p:sp>
        <p:nvSpPr>
          <p:cNvPr id="8" name="Rectangle 7"/>
          <p:cNvSpPr/>
          <p:nvPr/>
        </p:nvSpPr>
        <p:spPr>
          <a:xfrm>
            <a:off x="6858000" y="2194560"/>
            <a:ext cx="4754880" cy="3566160"/>
          </a:xfrm>
          <a:prstGeom prst="rect">
            <a:avLst/>
          </a:prstGeom>
          <a:solidFill>
            <a:srgbClr val="FAF5EE"/>
          </a:solidFill>
          <a:ln w="15875">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14032" y="2395728"/>
            <a:ext cx="4297680" cy="3291840"/>
          </a:xfrm>
          <a:prstGeom prst="rect">
            <a:avLst/>
          </a:prstGeom>
          <a:noFill/>
        </p:spPr>
        <p:txBody>
          <a:bodyPr wrap="square" anchor="t">
            <a:spAutoFit/>
          </a:bodyPr>
          <a:lstStyle/>
          <a:p>
            <a:pPr algn="l">
              <a:spcBef>
                <a:spcPts val="0"/>
              </a:spcBef>
              <a:spcAft>
                <a:spcPts val="300"/>
              </a:spcAft>
            </a:pPr>
            <a:r>
              <a:rPr sz="1500" b="1" i="0">
                <a:solidFill>
                  <a:srgbClr val="C2550B"/>
                </a:solidFill>
                <a:latin typeface="Calibri"/>
              </a:rPr>
              <a:t>MTP — Multi‑Token Prediction</a:t>
            </a:r>
          </a:p>
          <a:p>
            <a:pPr algn="l">
              <a:spcBef>
                <a:spcPts val="0"/>
              </a:spcBef>
              <a:spcAft>
                <a:spcPts val="300"/>
              </a:spcAft>
            </a:pPr>
            <a:r>
              <a:rPr sz="1250" b="0" i="0">
                <a:solidFill>
                  <a:srgbClr val="1F2937"/>
                </a:solidFill>
                <a:latin typeface="Calibri"/>
              </a:rPr>
              <a:t>Mô hình phác thảo nhiều token và mô hình gốc kiểm chứng, nên đầu ra không thay đổi.</a:t>
            </a:r>
          </a:p>
          <a:p>
            <a:pPr algn="l">
              <a:spcBef>
                <a:spcPts val="0"/>
              </a:spcBef>
              <a:spcAft>
                <a:spcPts val="300"/>
              </a:spcAft>
            </a:pPr>
            <a:r>
              <a:rPr sz="1300" b="1" i="0">
                <a:solidFill>
                  <a:srgbClr val="15803D"/>
                </a:solidFill>
                <a:latin typeface="Calibri"/>
              </a:rPr>
              <a:t>Không suy giảm độ chính xác.</a:t>
            </a:r>
          </a:p>
          <a:p>
            <a:pPr algn="l">
              <a:spcBef>
                <a:spcPts val="0"/>
              </a:spcBef>
              <a:spcAft>
                <a:spcPts val="300"/>
              </a:spcAft>
            </a:pPr>
            <a:r>
              <a:rPr sz="1300" b="1" i="0">
                <a:solidFill>
                  <a:srgbClr val="15803D"/>
                </a:solidFill>
                <a:latin typeface="Calibri"/>
              </a:rPr>
              <a:t>Tăng tốc 1,4–2,2 lần.</a:t>
            </a:r>
          </a:p>
          <a:p>
            <a:pPr algn="l">
              <a:spcBef>
                <a:spcPts val="0"/>
              </a:spcBef>
              <a:spcAft>
                <a:spcPts val="300"/>
              </a:spcAft>
            </a:pPr>
            <a:r>
              <a:rPr sz="1200" b="0" i="1">
                <a:solidFill>
                  <a:srgbClr val="6B7280"/>
                </a:solidFill>
                <a:latin typeface="Calibri"/>
              </a:rPr>
              <a:t>Trực giao với lượng tử hóa nên triển khai đồng thời; tích hợp qua provider local_server.</a:t>
            </a:r>
          </a:p>
        </p:txBody>
      </p:sp>
      <p:sp>
        <p:nvSpPr>
          <p:cNvPr id="10" name="TextBox 9"/>
          <p:cNvSpPr txBox="1"/>
          <p:nvPr/>
        </p:nvSpPr>
        <p:spPr>
          <a:xfrm>
            <a:off x="11338560" y="6446520"/>
            <a:ext cx="731520" cy="274320"/>
          </a:xfrm>
          <a:prstGeom prst="rect">
            <a:avLst/>
          </a:prstGeom>
          <a:noFill/>
        </p:spPr>
        <p:txBody>
          <a:bodyPr wrap="square" anchor="t">
            <a:spAutoFit/>
          </a:bodyPr>
          <a:lstStyle/>
          <a:p>
            <a:pPr algn="r">
              <a:spcBef>
                <a:spcPts val="0"/>
              </a:spcBef>
              <a:spcAft>
                <a:spcPts val="300"/>
              </a:spcAft>
            </a:pPr>
            <a:r>
              <a:rPr sz="1000" b="0" i="0">
                <a:solidFill>
                  <a:srgbClr val="6B72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10972800" cy="320040"/>
          </a:xfrm>
          <a:prstGeom prst="rect">
            <a:avLst/>
          </a:prstGeom>
          <a:noFill/>
        </p:spPr>
        <p:txBody>
          <a:bodyPr wrap="square" anchor="t">
            <a:spAutoFit/>
          </a:bodyPr>
          <a:lstStyle/>
          <a:p>
            <a:pPr algn="l">
              <a:spcBef>
                <a:spcPts val="0"/>
              </a:spcBef>
              <a:spcAft>
                <a:spcPts val="300"/>
              </a:spcAft>
            </a:pPr>
            <a:r>
              <a:rPr sz="1100" b="1" i="0">
                <a:solidFill>
                  <a:srgbClr val="F97316"/>
                </a:solidFill>
                <a:latin typeface="Calibri"/>
              </a:rPr>
              <a:t>09 · Định vị kết quả</a:t>
            </a:r>
          </a:p>
        </p:txBody>
      </p:sp>
      <p:sp>
        <p:nvSpPr>
          <p:cNvPr id="5" name="TextBox 4"/>
          <p:cNvSpPr txBox="1"/>
          <p:nvPr/>
        </p:nvSpPr>
        <p:spPr>
          <a:xfrm>
            <a:off x="640080" y="713232"/>
            <a:ext cx="11155680" cy="1005840"/>
          </a:xfrm>
          <a:prstGeom prst="rect">
            <a:avLst/>
          </a:prstGeom>
          <a:noFill/>
        </p:spPr>
        <p:txBody>
          <a:bodyPr wrap="square" anchor="t">
            <a:spAutoFit/>
          </a:bodyPr>
          <a:lstStyle/>
          <a:p>
            <a:pPr algn="l">
              <a:spcBef>
                <a:spcPts val="0"/>
              </a:spcBef>
              <a:spcAft>
                <a:spcPts val="300"/>
              </a:spcAft>
            </a:pPr>
            <a:r>
              <a:rPr sz="2200" b="1" i="0">
                <a:solidFill>
                  <a:srgbClr val="1F2937"/>
                </a:solidFill>
                <a:latin typeface="Calibri"/>
              </a:rPr>
              <a:t>88.55 tiệm cận giới hạn thực tế của mô hình Gemma ngoại tuyến; phần khắc phục được thuộc về suy luận định lượng.</a:t>
            </a:r>
          </a:p>
        </p:txBody>
      </p:sp>
      <p:sp>
        <p:nvSpPr>
          <p:cNvPr id="6" name="Rectangle 5"/>
          <p:cNvSpPr/>
          <p:nvPr/>
        </p:nvSpPr>
        <p:spPr>
          <a:xfrm>
            <a:off x="822960" y="2240280"/>
            <a:ext cx="3291840" cy="155448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40280"/>
            <a:ext cx="3291840" cy="1554480"/>
          </a:xfrm>
          <a:prstGeom prst="rect">
            <a:avLst/>
          </a:prstGeom>
          <a:noFill/>
        </p:spPr>
        <p:txBody>
          <a:bodyPr wrap="square" anchor="ctr">
            <a:spAutoFit/>
          </a:bodyPr>
          <a:lstStyle/>
          <a:p>
            <a:pPr algn="ctr">
              <a:spcBef>
                <a:spcPts val="0"/>
              </a:spcBef>
              <a:spcAft>
                <a:spcPts val="400"/>
              </a:spcAft>
            </a:pPr>
            <a:r>
              <a:rPr sz="2700" b="1" i="0">
                <a:solidFill>
                  <a:srgbClr val="6B7280"/>
                </a:solidFill>
                <a:latin typeface="Calibri"/>
              </a:rPr>
              <a:t>27/31</a:t>
            </a:r>
          </a:p>
          <a:p>
            <a:pPr algn="ctr">
              <a:spcBef>
                <a:spcPts val="0"/>
              </a:spcBef>
              <a:spcAft>
                <a:spcPts val="400"/>
              </a:spcAft>
            </a:pPr>
            <a:r>
              <a:rPr sz="1150" b="0" i="0">
                <a:solidFill>
                  <a:srgbClr val="1F2937"/>
                </a:solidFill>
                <a:latin typeface="Calibri"/>
              </a:rPr>
              <a:t>mô hình tham chiếu đúng
(Gemma sai thực sự)</a:t>
            </a:r>
          </a:p>
        </p:txBody>
      </p:sp>
      <p:sp>
        <p:nvSpPr>
          <p:cNvPr id="8" name="Rectangle 7"/>
          <p:cNvSpPr/>
          <p:nvPr/>
        </p:nvSpPr>
        <p:spPr>
          <a:xfrm>
            <a:off x="4480560" y="2240280"/>
            <a:ext cx="3291840" cy="1554480"/>
          </a:xfrm>
          <a:prstGeom prst="rect">
            <a:avLst/>
          </a:prstGeom>
          <a:solidFill>
            <a:srgbClr val="FFFFFF"/>
          </a:solidFill>
          <a:ln w="19050">
            <a:solidFill>
              <a:srgbClr val="158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2240280"/>
            <a:ext cx="3291840" cy="1554480"/>
          </a:xfrm>
          <a:prstGeom prst="rect">
            <a:avLst/>
          </a:prstGeom>
          <a:noFill/>
        </p:spPr>
        <p:txBody>
          <a:bodyPr wrap="square" anchor="ctr">
            <a:spAutoFit/>
          </a:bodyPr>
          <a:lstStyle/>
          <a:p>
            <a:pPr algn="ctr">
              <a:spcBef>
                <a:spcPts val="0"/>
              </a:spcBef>
              <a:spcAft>
                <a:spcPts val="400"/>
              </a:spcAft>
            </a:pPr>
            <a:r>
              <a:rPr sz="2700" b="1" i="0">
                <a:solidFill>
                  <a:srgbClr val="15803D"/>
                </a:solidFill>
                <a:latin typeface="Calibri"/>
              </a:rPr>
              <a:t>16/463</a:t>
            </a:r>
          </a:p>
          <a:p>
            <a:pPr algn="ctr">
              <a:spcBef>
                <a:spcPts val="0"/>
              </a:spcBef>
              <a:spcAft>
                <a:spcPts val="400"/>
              </a:spcAft>
            </a:pPr>
            <a:r>
              <a:rPr sz="1150" b="0" i="0">
                <a:solidFill>
                  <a:srgbClr val="1F2937"/>
                </a:solidFill>
                <a:latin typeface="Calibri"/>
              </a:rPr>
              <a:t>xác nhận khắc phục được
(định lượng + suy luận)</a:t>
            </a:r>
          </a:p>
        </p:txBody>
      </p:sp>
      <p:sp>
        <p:nvSpPr>
          <p:cNvPr id="10" name="Rectangle 9"/>
          <p:cNvSpPr/>
          <p:nvPr/>
        </p:nvSpPr>
        <p:spPr>
          <a:xfrm>
            <a:off x="8138160" y="2240280"/>
            <a:ext cx="3291840" cy="1554480"/>
          </a:xfrm>
          <a:prstGeom prst="rect">
            <a:avLst/>
          </a:prstGeom>
          <a:solidFill>
            <a:srgbClr val="FFFFFF"/>
          </a:solidFill>
          <a:ln w="19050">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0" y="2240280"/>
            <a:ext cx="3291840" cy="1554480"/>
          </a:xfrm>
          <a:prstGeom prst="rect">
            <a:avLst/>
          </a:prstGeom>
          <a:noFill/>
        </p:spPr>
        <p:txBody>
          <a:bodyPr wrap="square" anchor="ctr">
            <a:spAutoFit/>
          </a:bodyPr>
          <a:lstStyle/>
          <a:p>
            <a:pPr algn="ctr">
              <a:spcBef>
                <a:spcPts val="0"/>
              </a:spcBef>
              <a:spcAft>
                <a:spcPts val="400"/>
              </a:spcAft>
            </a:pPr>
            <a:r>
              <a:rPr sz="2700" b="1" i="0">
                <a:solidFill>
                  <a:srgbClr val="B91C1C"/>
                </a:solidFill>
                <a:latin typeface="Calibri"/>
              </a:rPr>
              <a:t>13</a:t>
            </a:r>
          </a:p>
          <a:p>
            <a:pPr algn="ctr">
              <a:spcBef>
                <a:spcPts val="0"/>
              </a:spcBef>
              <a:spcAft>
                <a:spcPts val="400"/>
              </a:spcAft>
            </a:pPr>
            <a:r>
              <a:rPr sz="1150" b="0" i="0">
                <a:solidFill>
                  <a:srgbClr val="1F2937"/>
                </a:solidFill>
                <a:latin typeface="Calibri"/>
              </a:rPr>
              <a:t>thiếu hụt tri thức
không khắc phục được</a:t>
            </a:r>
          </a:p>
        </p:txBody>
      </p:sp>
      <p:sp>
        <p:nvSpPr>
          <p:cNvPr id="12" name="TextBox 11"/>
          <p:cNvSpPr txBox="1"/>
          <p:nvPr/>
        </p:nvSpPr>
        <p:spPr>
          <a:xfrm>
            <a:off x="640080" y="4160520"/>
            <a:ext cx="10972800" cy="1737360"/>
          </a:xfrm>
          <a:prstGeom prst="rect">
            <a:avLst/>
          </a:prstGeom>
          <a:noFill/>
        </p:spPr>
        <p:txBody>
          <a:bodyPr wrap="square" anchor="t">
            <a:spAutoFit/>
          </a:bodyPr>
          <a:lstStyle/>
          <a:p>
            <a:pPr algn="l">
              <a:spcBef>
                <a:spcPts val="0"/>
              </a:spcBef>
              <a:spcAft>
                <a:spcPts val="300"/>
              </a:spcAft>
            </a:pPr>
            <a:r>
              <a:rPr sz="1400" b="1" i="0">
                <a:solidFill>
                  <a:srgbClr val="C2550B"/>
                </a:solidFill>
                <a:latin typeface="Calibri"/>
              </a:rPr>
              <a:t>Phần khắc phục được là các bài toán định lượng xác định</a:t>
            </a:r>
            <a:r>
              <a:rPr sz="1300" b="0" i="0">
                <a:solidFill>
                  <a:srgbClr val="1F2937"/>
                </a:solidFill>
                <a:latin typeface="Calibri"/>
              </a:rPr>
              <a:t> (Henderson–Hasselbalch, tốc độ động cơ, trị riêng, kinh tế – địa lý),</a:t>
            </a:r>
          </a:p>
          <a:p>
            <a:pPr algn="l">
              <a:spcBef>
                <a:spcPts val="0"/>
              </a:spcBef>
              <a:spcAft>
                <a:spcPts val="300"/>
              </a:spcAft>
            </a:pPr>
            <a:r>
              <a:rPr sz="1300" b="0" i="0">
                <a:solidFill>
                  <a:srgbClr val="1F2937"/>
                </a:solidFill>
                <a:latin typeface="Calibri"/>
              </a:rPr>
              <a:t>đúng phạm vi mà kỹ thuật TIR và CoT (đã xây dựng) hướng tới, không phải phần một mô hình thẩm định Qwen có thể bổ sung.</a:t>
            </a:r>
          </a:p>
          <a:p>
            <a:pPr algn="l">
              <a:spcBef>
                <a:spcPts val="0"/>
              </a:spcBef>
              <a:spcAft>
                <a:spcPts val="300"/>
              </a:spcAft>
            </a:pPr>
            <a:r>
              <a:rPr sz="1300" b="0" i="0">
                <a:solidFill>
                  <a:srgbClr val="6B7280"/>
                </a:solidFill>
                <a:latin typeface="Calibri"/>
              </a:rPr>
              <a:t>13 câu còn lại thuộc tri thức hành chính 2025 và dữ kiện địa phương, không mô hình hợp lệ nào khắc phục được với chi phí thấp.</a:t>
            </a:r>
          </a:p>
          <a:p>
            <a:pPr algn="l">
              <a:spcBef>
                <a:spcPts val="0"/>
              </a:spcBef>
              <a:spcAft>
                <a:spcPts val="300"/>
              </a:spcAft>
            </a:pPr>
            <a:r>
              <a:rPr sz="1300" b="0" i="1">
                <a:solidFill>
                  <a:srgbClr val="15803D"/>
                </a:solidFill>
                <a:latin typeface="Calibri"/>
              </a:rPr>
              <a:t>Tài liệu trình bày số liệu đo được, không cam kết số liệu chưa kiểm chứng.</a:t>
            </a:r>
          </a:p>
        </p:txBody>
      </p:sp>
      <p:sp>
        <p:nvSpPr>
          <p:cNvPr id="13" name="TextBox 12"/>
          <p:cNvSpPr txBox="1"/>
          <p:nvPr/>
        </p:nvSpPr>
        <p:spPr>
          <a:xfrm>
            <a:off x="11338560" y="6446520"/>
            <a:ext cx="731520" cy="274320"/>
          </a:xfrm>
          <a:prstGeom prst="rect">
            <a:avLst/>
          </a:prstGeom>
          <a:noFill/>
        </p:spPr>
        <p:txBody>
          <a:bodyPr wrap="square" anchor="t">
            <a:spAutoFit/>
          </a:bodyPr>
          <a:lstStyle/>
          <a:p>
            <a:pPr algn="r">
              <a:spcBef>
                <a:spcPts val="0"/>
              </a:spcBef>
              <a:spcAft>
                <a:spcPts val="300"/>
              </a:spcAft>
            </a:pPr>
            <a:r>
              <a:rPr sz="1000" b="0" i="0">
                <a:solidFill>
                  <a:srgbClr val="6B72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20624"/>
            <a:ext cx="10972800" cy="320040"/>
          </a:xfrm>
          <a:prstGeom prst="rect">
            <a:avLst/>
          </a:prstGeom>
          <a:noFill/>
        </p:spPr>
        <p:txBody>
          <a:bodyPr wrap="square" anchor="t">
            <a:spAutoFit/>
          </a:bodyPr>
          <a:lstStyle/>
          <a:p>
            <a:pPr algn="l">
              <a:spcBef>
                <a:spcPts val="0"/>
              </a:spcBef>
              <a:spcAft>
                <a:spcPts val="300"/>
              </a:spcAft>
            </a:pPr>
            <a:r>
              <a:rPr sz="1100" b="1" i="0">
                <a:solidFill>
                  <a:srgbClr val="F97316"/>
                </a:solidFill>
                <a:latin typeface="Calibri"/>
              </a:rPr>
              <a:t>10 · Bài nộp</a:t>
            </a:r>
          </a:p>
        </p:txBody>
      </p:sp>
      <p:sp>
        <p:nvSpPr>
          <p:cNvPr id="5" name="TextBox 4"/>
          <p:cNvSpPr txBox="1"/>
          <p:nvPr/>
        </p:nvSpPr>
        <p:spPr>
          <a:xfrm>
            <a:off x="640080" y="713232"/>
            <a:ext cx="11155680" cy="1005840"/>
          </a:xfrm>
          <a:prstGeom prst="rect">
            <a:avLst/>
          </a:prstGeom>
          <a:noFill/>
        </p:spPr>
        <p:txBody>
          <a:bodyPr wrap="square" anchor="t">
            <a:spAutoFit/>
          </a:bodyPr>
          <a:lstStyle/>
          <a:p>
            <a:pPr algn="l">
              <a:spcBef>
                <a:spcPts val="0"/>
              </a:spcBef>
              <a:spcAft>
                <a:spcPts val="300"/>
              </a:spcAft>
            </a:pPr>
            <a:r>
              <a:rPr sz="2200" b="1" i="0">
                <a:solidFill>
                  <a:srgbClr val="1F2937"/>
                </a:solidFill>
                <a:latin typeface="Calibri"/>
              </a:rPr>
              <a:t>Tái lập kết quả trong container bằng hai câu lệnh.</a:t>
            </a:r>
          </a:p>
        </p:txBody>
      </p:sp>
      <p:sp>
        <p:nvSpPr>
          <p:cNvPr id="6" name="Rectangle 5"/>
          <p:cNvSpPr/>
          <p:nvPr/>
        </p:nvSpPr>
        <p:spPr>
          <a:xfrm>
            <a:off x="640080" y="2148840"/>
            <a:ext cx="10972800" cy="1783080"/>
          </a:xfrm>
          <a:prstGeom prst="rect">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331720"/>
            <a:ext cx="10607040" cy="1600200"/>
          </a:xfrm>
          <a:prstGeom prst="rect">
            <a:avLst/>
          </a:prstGeom>
          <a:noFill/>
        </p:spPr>
        <p:txBody>
          <a:bodyPr wrap="square" anchor="t">
            <a:spAutoFit/>
          </a:bodyPr>
          <a:lstStyle/>
          <a:p>
            <a:pPr algn="l">
              <a:spcBef>
                <a:spcPts val="0"/>
              </a:spcBef>
              <a:spcAft>
                <a:spcPts val="300"/>
              </a:spcAft>
            </a:pPr>
            <a:r>
              <a:rPr sz="1250" b="0" i="0">
                <a:solidFill>
                  <a:srgbClr val="9CA3AF"/>
                </a:solidFill>
                <a:latin typeface="Calibri"/>
              </a:rPr>
              <a:t># 1. Tải ảnh tự chứa (mô hình đã đóng gói sẵn bên trong)</a:t>
            </a:r>
          </a:p>
          <a:p>
            <a:pPr algn="l">
              <a:spcBef>
                <a:spcPts val="0"/>
              </a:spcBef>
              <a:spcAft>
                <a:spcPts val="300"/>
              </a:spcAft>
            </a:pPr>
            <a:r>
              <a:rPr sz="1350" b="0" i="0">
                <a:solidFill>
                  <a:srgbClr val="86EFAC"/>
                </a:solidFill>
                <a:latin typeface="Calibri"/>
              </a:rPr>
              <a:t>docker pull hacamy12345/neko-core:gemma26b-q4</a:t>
            </a:r>
          </a:p>
          <a:p>
            <a:pPr algn="l">
              <a:spcBef>
                <a:spcPts val="0"/>
              </a:spcBef>
              <a:spcAft>
                <a:spcPts val="300"/>
              </a:spcAft>
            </a:pPr>
            <a:r>
              <a:rPr sz="1250" b="0" i="0">
                <a:solidFill>
                  <a:srgbClr val="9CA3AF"/>
                </a:solidFill>
                <a:latin typeface="Calibri"/>
              </a:rPr>
              <a:t># 2. Chạy trên thư mục chứa public_test.csv hoặc private_test.csv</a:t>
            </a:r>
          </a:p>
          <a:p>
            <a:pPr algn="l">
              <a:spcBef>
                <a:spcPts val="0"/>
              </a:spcBef>
              <a:spcAft>
                <a:spcPts val="300"/>
              </a:spcAft>
            </a:pPr>
            <a:r>
              <a:rPr sz="1350" b="0" i="0">
                <a:solidFill>
                  <a:srgbClr val="86EFAC"/>
                </a:solidFill>
                <a:latin typeface="Calibri"/>
              </a:rPr>
              <a:t>docker run --rm --gpus all -v ./data:/data -v ./out:/output \</a:t>
            </a:r>
          </a:p>
          <a:p>
            <a:pPr algn="l">
              <a:spcBef>
                <a:spcPts val="0"/>
              </a:spcBef>
              <a:spcAft>
                <a:spcPts val="300"/>
              </a:spcAft>
            </a:pPr>
            <a:r>
              <a:rPr sz="1350" b="0" i="0">
                <a:solidFill>
                  <a:srgbClr val="86EFAC"/>
                </a:solidFill>
                <a:latin typeface="Calibri"/>
              </a:rPr>
              <a:t>    hacamy12345/neko-core:gemma26b-q4       (kết quả: ./out/pred.csv)</a:t>
            </a:r>
          </a:p>
        </p:txBody>
      </p:sp>
      <p:sp>
        <p:nvSpPr>
          <p:cNvPr id="8" name="TextBox 7"/>
          <p:cNvSpPr txBox="1"/>
          <p:nvPr/>
        </p:nvSpPr>
        <p:spPr>
          <a:xfrm>
            <a:off x="640080" y="4206240"/>
            <a:ext cx="10972800" cy="1737360"/>
          </a:xfrm>
          <a:prstGeom prst="rect">
            <a:avLst/>
          </a:prstGeom>
          <a:noFill/>
        </p:spPr>
        <p:txBody>
          <a:bodyPr wrap="square" anchor="t">
            <a:spAutoFit/>
          </a:bodyPr>
          <a:lstStyle/>
          <a:p>
            <a:pPr algn="l">
              <a:spcBef>
                <a:spcPts val="0"/>
              </a:spcBef>
              <a:spcAft>
                <a:spcPts val="300"/>
              </a:spcAft>
            </a:pPr>
            <a:r>
              <a:rPr sz="1350" b="0" i="0">
                <a:solidFill>
                  <a:srgbClr val="1F2937"/>
                </a:solidFill>
                <a:latin typeface="Calibri"/>
              </a:rPr>
              <a:t>Mô hình triển khai: Gemma‑4‑26B‑A4B QAT‑Q4_0 (kiến trúc MoE, ~15GB), chạy được trên mọi GPU, không rủi ro tràn bộ nhớ.</a:t>
            </a:r>
          </a:p>
          <a:p>
            <a:pPr algn="l">
              <a:spcBef>
                <a:spcPts val="0"/>
              </a:spcBef>
              <a:spcAft>
                <a:spcPts val="300"/>
              </a:spcAft>
            </a:pPr>
            <a:r>
              <a:rPr sz="1300" b="0" i="0">
                <a:solidFill>
                  <a:srgbClr val="1F2937"/>
                </a:solidFill>
                <a:latin typeface="Calibri"/>
              </a:rPr>
              <a:t>Quy trình suy luận: chain‑of‑thought tự nhất quán (k=1, 2048 token), an‑toàn‑từ‑chối, hiệu chỉnh ràng buộc và hiệu chỉnh hợp đồng, kèm TIR có điều kiện.</a:t>
            </a:r>
          </a:p>
          <a:p>
            <a:pPr algn="l">
              <a:spcBef>
                <a:spcPts val="0"/>
              </a:spcBef>
              <a:spcAft>
                <a:spcPts val="300"/>
              </a:spcAft>
            </a:pPr>
            <a:r>
              <a:rPr sz="1200" b="0" i="1">
                <a:solidFill>
                  <a:srgbClr val="C2550B"/>
                </a:solidFill>
                <a:latin typeface="Calibri"/>
              </a:rPr>
              <a:t>Mã nguồn và hướng dẫn tái lập: README.md. Tài liệu đầy đủ: docs/method-writeup-vi.md. 211 ca kiểm thử đạt.</a:t>
            </a:r>
          </a:p>
        </p:txBody>
      </p:sp>
      <p:sp>
        <p:nvSpPr>
          <p:cNvPr id="9" name="TextBox 8"/>
          <p:cNvSpPr txBox="1"/>
          <p:nvPr/>
        </p:nvSpPr>
        <p:spPr>
          <a:xfrm>
            <a:off x="11338560" y="6446520"/>
            <a:ext cx="731520" cy="274320"/>
          </a:xfrm>
          <a:prstGeom prst="rect">
            <a:avLst/>
          </a:prstGeom>
          <a:noFill/>
        </p:spPr>
        <p:txBody>
          <a:bodyPr wrap="square" anchor="t">
            <a:spAutoFit/>
          </a:bodyPr>
          <a:lstStyle/>
          <a:p>
            <a:pPr algn="r">
              <a:spcBef>
                <a:spcPts val="0"/>
              </a:spcBef>
              <a:spcAft>
                <a:spcPts val="300"/>
              </a:spcAft>
            </a:pPr>
            <a:r>
              <a:rPr sz="1000" b="0" i="0">
                <a:solidFill>
                  <a:srgbClr val="6B72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29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88920"/>
            <a:ext cx="12191695" cy="54864"/>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10515600" cy="1005840"/>
          </a:xfrm>
          <a:prstGeom prst="rect">
            <a:avLst/>
          </a:prstGeom>
          <a:noFill/>
        </p:spPr>
        <p:txBody>
          <a:bodyPr wrap="square" anchor="t">
            <a:spAutoFit/>
          </a:bodyPr>
          <a:lstStyle/>
          <a:p>
            <a:pPr algn="l">
              <a:spcBef>
                <a:spcPts val="0"/>
              </a:spcBef>
              <a:spcAft>
                <a:spcPts val="300"/>
              </a:spcAft>
            </a:pPr>
            <a:r>
              <a:rPr sz="2500" b="1" i="0">
                <a:solidFill>
                  <a:srgbClr val="FFFFFF"/>
                </a:solidFill>
                <a:latin typeface="Calibri"/>
              </a:rPr>
              <a:t>Phương pháp luận: mô hình suy luận, hệ thống đo lường, quyết định dựa trên số liệu thực nghiệm.</a:t>
            </a:r>
          </a:p>
        </p:txBody>
      </p:sp>
      <p:sp>
        <p:nvSpPr>
          <p:cNvPr id="5" name="TextBox 4"/>
          <p:cNvSpPr txBox="1"/>
          <p:nvPr/>
        </p:nvSpPr>
        <p:spPr>
          <a:xfrm>
            <a:off x="822960" y="3154680"/>
            <a:ext cx="10515600" cy="1463040"/>
          </a:xfrm>
          <a:prstGeom prst="rect">
            <a:avLst/>
          </a:prstGeom>
          <a:noFill/>
        </p:spPr>
        <p:txBody>
          <a:bodyPr wrap="square" anchor="t">
            <a:spAutoFit/>
          </a:bodyPr>
          <a:lstStyle/>
          <a:p>
            <a:pPr algn="l">
              <a:spcBef>
                <a:spcPts val="0"/>
              </a:spcBef>
              <a:spcAft>
                <a:spcPts val="300"/>
              </a:spcAft>
            </a:pPr>
            <a:r>
              <a:rPr sz="1600" b="0" i="0">
                <a:solidFill>
                  <a:srgbClr val="FAF5EE"/>
                </a:solidFill>
                <a:latin typeface="Calibri"/>
              </a:rPr>
              <a:t>Kết quả 88.55 trên leaderboard, cơ chế bảo đảm tính toàn vẹn của pred.csv, điểm thời gian được bảo vệ bằng kiến trúc MoE và MTP,</a:t>
            </a:r>
          </a:p>
          <a:p>
            <a:pPr algn="l">
              <a:spcBef>
                <a:spcPts val="0"/>
              </a:spcBef>
              <a:spcAft>
                <a:spcPts val="300"/>
              </a:spcAft>
            </a:pPr>
            <a:r>
              <a:rPr sz="1600" b="0" i="0">
                <a:solidFill>
                  <a:srgbClr val="FAF5EE"/>
                </a:solidFill>
                <a:latin typeface="Calibri"/>
              </a:rPr>
              <a:t>cùng kỷ luật chống quá khớp dựa trên đo lường cho tập 2000 câu hỏi riêng.</a:t>
            </a:r>
          </a:p>
        </p:txBody>
      </p:sp>
      <p:sp>
        <p:nvSpPr>
          <p:cNvPr id="6" name="TextBox 5"/>
          <p:cNvSpPr txBox="1"/>
          <p:nvPr/>
        </p:nvSpPr>
        <p:spPr>
          <a:xfrm>
            <a:off x="822960" y="5852160"/>
            <a:ext cx="10515600" cy="457200"/>
          </a:xfrm>
          <a:prstGeom prst="rect">
            <a:avLst/>
          </a:prstGeom>
          <a:noFill/>
        </p:spPr>
        <p:txBody>
          <a:bodyPr wrap="square" anchor="t">
            <a:spAutoFit/>
          </a:bodyPr>
          <a:lstStyle/>
          <a:p>
            <a:pPr algn="l">
              <a:spcBef>
                <a:spcPts val="0"/>
              </a:spcBef>
              <a:spcAft>
                <a:spcPts val="300"/>
              </a:spcAft>
            </a:pPr>
            <a:r>
              <a:rPr sz="1300" b="0" i="1">
                <a:solidFill>
                  <a:srgbClr val="6B7280"/>
                </a:solidFill>
                <a:latin typeface="Calibri"/>
              </a:rPr>
              <a:t>Neko Core — HackAIthon 2026 · Bảng C (Innovator)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